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61" r:id="rId4"/>
    <p:sldId id="263" r:id="rId5"/>
    <p:sldId id="268" r:id="rId6"/>
    <p:sldId id="267" r:id="rId7"/>
    <p:sldId id="262" r:id="rId8"/>
    <p:sldId id="264" r:id="rId9"/>
    <p:sldId id="266" r:id="rId10"/>
    <p:sldId id="258" r:id="rId11"/>
    <p:sldId id="259" r:id="rId12"/>
    <p:sldId id="260" r:id="rId13"/>
    <p:sldId id="265" r:id="rId1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64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7" d="100"/>
          <a:sy n="57" d="100"/>
        </p:scale>
        <p:origin x="31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2249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tension: every homework tool today fails in one of two directions, too generous or too blind. Too generous: Photomath and Gauth print the whole solution. Fast, and useless for learning. Schools ban them for exactly that reason. Too blind: chat tutors like Khanmigo never see the page. Student has to retype their work, and the retyping loses the thing that matters, the scratchwork where the mistake actually lives. Too late: answer-only grading tells you "wrong" and stops. No signal about which step broke. Pivot: three things a student actually needs. See the work. Find the first mistake. Get nudged, not solved. We read handwriting directly. Stylus on ruled paper, live, no photo upload, no retyping. We check each line against the line above it. So the flag lands on the exact step where reasoning changed, not on the final answer. Hints escalate in three levels. Where to look, then what kind of mistake, then the concept. The answer never appears at any level. Land the close: nothing a student can open today watches the page as they write and tells them the mistake is on line 3 and it is a sign error. If asked about competitors: MathPad and Math-Tutor AI do step checking with deterministic verification, we do not claim otherwise. Our edge is live stroke input rather than a finished photo, plus hand-drawn chemistry, which nothing shipped does live.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8D69A-1129-CDFC-CCF2-26D38E5B38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CE55DD-D4B2-D097-C93C-024ED7AC41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45310-F8B3-9839-98D7-5272BD70D0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8ED3FE-0782-3CA8-7555-F576A327995C}"/>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903333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E"/>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3C556413-4884-1984-76E7-F26A5D6811EC}"/>
              </a:ext>
            </a:extLst>
          </p:cNvPr>
          <p:cNvGrpSpPr/>
          <p:nvPr/>
        </p:nvGrpSpPr>
        <p:grpSpPr>
          <a:xfrm>
            <a:off x="8645240" y="4201537"/>
            <a:ext cx="9286525" cy="6177113"/>
            <a:chOff x="7972775" y="2990850"/>
            <a:chExt cx="9286525" cy="6177113"/>
          </a:xfrm>
        </p:grpSpPr>
        <p:sp>
          <p:nvSpPr>
            <p:cNvPr id="6" name="Shape 4"/>
            <p:cNvSpPr/>
            <p:nvPr/>
          </p:nvSpPr>
          <p:spPr>
            <a:xfrm>
              <a:off x="9867900" y="2990850"/>
              <a:ext cx="7391400" cy="4591050"/>
            </a:xfrm>
            <a:prstGeom prst="roundRect">
              <a:avLst>
                <a:gd name="adj" fmla="val 830"/>
              </a:avLst>
            </a:prstGeom>
            <a:solidFill>
              <a:srgbClr val="FFFFFF"/>
            </a:solidFill>
            <a:ln w="9525">
              <a:solidFill>
                <a:srgbClr val="D8D2C2"/>
              </a:solidFill>
              <a:prstDash val="solid"/>
            </a:ln>
            <a:effectLst>
              <a:outerShdw blurRad="304800" dist="114300" dir="5400000" algn="bl" rotWithShape="0">
                <a:srgbClr val="1E2430">
                  <a:alpha val="14000"/>
                </a:srgbClr>
              </a:outerShdw>
            </a:effectLst>
          </p:spPr>
          <p:txBody>
            <a:bodyPr/>
            <a:lstStyle/>
            <a:p>
              <a:endParaRPr lang="en-US"/>
            </a:p>
          </p:txBody>
        </p:sp>
        <p:grpSp>
          <p:nvGrpSpPr>
            <p:cNvPr id="17" name="Group 16">
              <a:extLst>
                <a:ext uri="{FF2B5EF4-FFF2-40B4-BE49-F238E27FC236}">
                  <a16:creationId xmlns:a16="http://schemas.microsoft.com/office/drawing/2014/main" id="{AFCB5BB5-9BAB-1146-7DE1-E486D6F92248}"/>
                </a:ext>
              </a:extLst>
            </p:cNvPr>
            <p:cNvGrpSpPr/>
            <p:nvPr/>
          </p:nvGrpSpPr>
          <p:grpSpPr>
            <a:xfrm>
              <a:off x="7972775" y="3810000"/>
              <a:ext cx="9240329" cy="5357963"/>
              <a:chOff x="7972775" y="3810000"/>
              <a:chExt cx="9240329" cy="5357963"/>
            </a:xfrm>
          </p:grpSpPr>
          <p:sp>
            <p:nvSpPr>
              <p:cNvPr id="8" name="Shape 6"/>
              <p:cNvSpPr/>
              <p:nvPr/>
            </p:nvSpPr>
            <p:spPr>
              <a:xfrm>
                <a:off x="10296525" y="4429125"/>
                <a:ext cx="6515100" cy="9525"/>
              </a:xfrm>
              <a:prstGeom prst="rect">
                <a:avLst/>
              </a:prstGeom>
              <a:solidFill>
                <a:srgbClr val="D8D2C2"/>
              </a:solidFill>
              <a:ln/>
            </p:spPr>
            <p:txBody>
              <a:bodyPr/>
              <a:lstStyle/>
              <a:p>
                <a:endParaRPr lang="en-US"/>
              </a:p>
            </p:txBody>
          </p:sp>
          <p:sp>
            <p:nvSpPr>
              <p:cNvPr id="9" name="Text 7"/>
              <p:cNvSpPr/>
              <p:nvPr/>
            </p:nvSpPr>
            <p:spPr>
              <a:xfrm>
                <a:off x="10296525" y="3810000"/>
                <a:ext cx="6916579" cy="47238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850" dirty="0">
                    <a:solidFill>
                      <a:srgbClr val="1E2430"/>
                    </a:solidFill>
                    <a:latin typeface="Courier New" pitchFamily="34" charset="0"/>
                    <a:ea typeface="Courier New" pitchFamily="34" charset="-122"/>
                    <a:cs typeface="Courier New" pitchFamily="34" charset="-120"/>
                  </a:rPr>
                  <a:t>2x + 3 = 11</a:t>
                </a:r>
                <a:endParaRPr lang="en-US" sz="2850" dirty="0"/>
              </a:p>
            </p:txBody>
          </p:sp>
          <p:sp>
            <p:nvSpPr>
              <p:cNvPr id="10" name="Shape 8"/>
              <p:cNvSpPr/>
              <p:nvPr/>
            </p:nvSpPr>
            <p:spPr>
              <a:xfrm>
                <a:off x="10296525" y="5276850"/>
                <a:ext cx="6515100" cy="9525"/>
              </a:xfrm>
              <a:prstGeom prst="rect">
                <a:avLst/>
              </a:prstGeom>
              <a:solidFill>
                <a:srgbClr val="D8D2C2"/>
              </a:solidFill>
              <a:ln/>
            </p:spPr>
            <p:txBody>
              <a:bodyPr/>
              <a:lstStyle/>
              <a:p>
                <a:endParaRPr lang="en-US"/>
              </a:p>
            </p:txBody>
          </p:sp>
          <p:sp>
            <p:nvSpPr>
              <p:cNvPr id="12" name="Shape 10"/>
              <p:cNvSpPr/>
              <p:nvPr/>
            </p:nvSpPr>
            <p:spPr>
              <a:xfrm>
                <a:off x="10106025" y="5495925"/>
                <a:ext cx="6915150" cy="781050"/>
              </a:xfrm>
              <a:prstGeom prst="roundRect">
                <a:avLst>
                  <a:gd name="adj" fmla="val 4878"/>
                </a:avLst>
              </a:prstGeom>
              <a:solidFill>
                <a:srgbClr val="F7E6E2"/>
              </a:solidFill>
              <a:ln w="9525">
                <a:solidFill>
                  <a:srgbClr val="C0432F"/>
                </a:solidFill>
                <a:prstDash val="solid"/>
              </a:ln>
            </p:spPr>
            <p:txBody>
              <a:bodyPr/>
              <a:lstStyle/>
              <a:p>
                <a:endParaRPr lang="en-US"/>
              </a:p>
            </p:txBody>
          </p:sp>
          <p:sp>
            <p:nvSpPr>
              <p:cNvPr id="13" name="Text 11"/>
              <p:cNvSpPr/>
              <p:nvPr/>
            </p:nvSpPr>
            <p:spPr>
              <a:xfrm>
                <a:off x="10306050" y="5638800"/>
                <a:ext cx="1238250" cy="47238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850" dirty="0">
                    <a:solidFill>
                      <a:srgbClr val="1E2430"/>
                    </a:solidFill>
                    <a:latin typeface="Courier New" pitchFamily="34" charset="0"/>
                    <a:ea typeface="Courier New" pitchFamily="34" charset="-122"/>
                    <a:cs typeface="Courier New" pitchFamily="34" charset="-120"/>
                  </a:rPr>
                  <a:t>x = 5</a:t>
                </a:r>
                <a:endParaRPr lang="en-US" sz="2850" dirty="0"/>
              </a:p>
            </p:txBody>
          </p:sp>
          <p:sp>
            <p:nvSpPr>
              <p:cNvPr id="14" name="Text 12"/>
              <p:cNvSpPr/>
              <p:nvPr/>
            </p:nvSpPr>
            <p:spPr>
              <a:xfrm>
                <a:off x="15049500" y="5762625"/>
                <a:ext cx="2126933" cy="243780"/>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350" b="1" dirty="0">
                    <a:solidFill>
                      <a:srgbClr val="C0432F"/>
                    </a:solidFill>
                    <a:latin typeface="Courier New" pitchFamily="34" charset="0"/>
                    <a:ea typeface="Courier New" pitchFamily="34" charset="-122"/>
                    <a:cs typeface="Courier New" pitchFamily="34" charset="-120"/>
                  </a:rPr>
                  <a:t>FLAGGED, LINE 3</a:t>
                </a:r>
                <a:endParaRPr lang="en-US" sz="1350" dirty="0"/>
              </a:p>
            </p:txBody>
          </p:sp>
          <p:sp>
            <p:nvSpPr>
              <p:cNvPr id="15" name="Shape 13"/>
              <p:cNvSpPr/>
              <p:nvPr/>
            </p:nvSpPr>
            <p:spPr>
              <a:xfrm>
                <a:off x="10296525" y="6515100"/>
                <a:ext cx="6515100" cy="9525"/>
              </a:xfrm>
              <a:prstGeom prst="rect">
                <a:avLst/>
              </a:prstGeom>
              <a:solidFill>
                <a:srgbClr val="D8D2C2"/>
              </a:solidFill>
              <a:ln/>
            </p:spPr>
            <p:txBody>
              <a:bodyPr/>
              <a:lstStyle/>
              <a:p>
                <a:endParaRPr lang="en-US"/>
              </a:p>
            </p:txBody>
          </p:sp>
          <p:sp>
            <p:nvSpPr>
              <p:cNvPr id="16" name="Text 14"/>
              <p:cNvSpPr/>
              <p:nvPr/>
            </p:nvSpPr>
            <p:spPr>
              <a:xfrm flipV="1">
                <a:off x="7972775" y="7134524"/>
                <a:ext cx="6916579" cy="2033439"/>
              </a:xfrm>
              <a:prstGeom prst="rect">
                <a:avLst/>
              </a:prstGeom>
              <a:noFill/>
              <a:ln/>
            </p:spPr>
            <p:txBody>
              <a:bodyPr wrap="square" lIns="25400" tIns="25400" rIns="25400" bIns="25400" rtlCol="0" anchor="t">
                <a:normAutofit/>
              </a:bodyPr>
              <a:lstStyle/>
              <a:p>
                <a:pPr marL="0" indent="0" algn="l">
                  <a:lnSpc>
                    <a:spcPct val="128000"/>
                  </a:lnSpc>
                  <a:buNone/>
                </a:pPr>
                <a:endParaRPr lang="en-US" sz="1650" dirty="0"/>
              </a:p>
            </p:txBody>
          </p:sp>
        </p:grpSp>
      </p:grpSp>
      <p:sp>
        <p:nvSpPr>
          <p:cNvPr id="2" name="Text 0"/>
          <p:cNvSpPr/>
          <p:nvPr/>
        </p:nvSpPr>
        <p:spPr>
          <a:xfrm>
            <a:off x="743960" y="384751"/>
            <a:ext cx="13683319" cy="3075992"/>
          </a:xfrm>
          <a:prstGeom prst="rect">
            <a:avLst/>
          </a:prstGeom>
          <a:noFill/>
          <a:ln/>
        </p:spPr>
        <p:txBody>
          <a:bodyPr wrap="square" lIns="25400" tIns="25400" rIns="25400" bIns="25400" rtlCol="0" anchor="t">
            <a:normAutofit/>
          </a:bodyPr>
          <a:lstStyle/>
          <a:p>
            <a:pPr marL="0" indent="0" algn="l">
              <a:lnSpc>
                <a:spcPct val="87551"/>
              </a:lnSpc>
              <a:buNone/>
            </a:pPr>
            <a:r>
              <a:rPr lang="en-US" sz="19000" b="1" kern="0" spc="-292" dirty="0">
                <a:solidFill>
                  <a:srgbClr val="1E2430"/>
                </a:solidFill>
                <a:latin typeface="Courier New" pitchFamily="34" charset="0"/>
                <a:ea typeface="Courier New" pitchFamily="34" charset="-122"/>
                <a:cs typeface="Courier New" pitchFamily="34" charset="-120"/>
              </a:rPr>
              <a:t>verity.ai</a:t>
            </a:r>
            <a:endParaRPr lang="en-US" sz="19000" dirty="0"/>
          </a:p>
        </p:txBody>
      </p:sp>
      <p:sp>
        <p:nvSpPr>
          <p:cNvPr id="3" name="Text 1"/>
          <p:cNvSpPr/>
          <p:nvPr/>
        </p:nvSpPr>
        <p:spPr>
          <a:xfrm>
            <a:off x="1047750" y="4543425"/>
            <a:ext cx="7279577" cy="1798141"/>
          </a:xfrm>
          <a:prstGeom prst="rect">
            <a:avLst/>
          </a:prstGeom>
          <a:noFill/>
          <a:ln/>
        </p:spPr>
        <p:txBody>
          <a:bodyPr wrap="square" lIns="25400" tIns="25400" rIns="25400" bIns="25400" rtlCol="0" anchor="t">
            <a:normAutofit lnSpcReduction="10000"/>
          </a:bodyPr>
          <a:lstStyle/>
          <a:p>
            <a:pPr marL="0" indent="0" algn="l">
              <a:lnSpc>
                <a:spcPct val="121081"/>
              </a:lnSpc>
              <a:buNone/>
            </a:pPr>
            <a:r>
              <a:rPr lang="en-US" sz="3300" dirty="0">
                <a:solidFill>
                  <a:srgbClr val="5B6472"/>
                </a:solidFill>
                <a:latin typeface="Arial" pitchFamily="34" charset="0"/>
                <a:ea typeface="Arial" pitchFamily="34" charset="-122"/>
                <a:cs typeface="Arial" pitchFamily="34" charset="-120"/>
              </a:rPr>
              <a:t>A handwriting-aware tutor that guides students </a:t>
            </a:r>
            <a:r>
              <a:rPr lang="en-US" sz="3300" dirty="0">
                <a:solidFill>
                  <a:srgbClr val="2E5AAC"/>
                </a:solidFill>
                <a:latin typeface="Arial" pitchFamily="34" charset="0"/>
                <a:ea typeface="Arial" pitchFamily="34" charset="-122"/>
                <a:cs typeface="Arial" pitchFamily="34" charset="-120"/>
              </a:rPr>
              <a:t>without giving away the answer</a:t>
            </a:r>
            <a:endParaRPr lang="en-US" sz="1200" dirty="0"/>
          </a:p>
        </p:txBody>
      </p:sp>
      <p:sp>
        <p:nvSpPr>
          <p:cNvPr id="4" name="Text 2"/>
          <p:cNvSpPr/>
          <p:nvPr/>
        </p:nvSpPr>
        <p:spPr>
          <a:xfrm>
            <a:off x="1047750" y="7115175"/>
            <a:ext cx="9025890" cy="312390"/>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800" b="1" dirty="0">
                <a:solidFill>
                  <a:srgbClr val="2E5AAC"/>
                </a:solidFill>
                <a:latin typeface="Courier New" pitchFamily="34" charset="0"/>
                <a:ea typeface="Courier New" pitchFamily="34" charset="-122"/>
                <a:cs typeface="Courier New" pitchFamily="34" charset="-120"/>
              </a:rPr>
              <a:t>SAIL</a:t>
            </a:r>
            <a:endParaRPr lang="en-US" sz="1800" dirty="0"/>
          </a:p>
        </p:txBody>
      </p:sp>
      <p:sp>
        <p:nvSpPr>
          <p:cNvPr id="20" name="Shape 10">
            <a:extLst>
              <a:ext uri="{FF2B5EF4-FFF2-40B4-BE49-F238E27FC236}">
                <a16:creationId xmlns:a16="http://schemas.microsoft.com/office/drawing/2014/main" id="{297DF59F-F125-29EE-857E-E73363DF7A6F}"/>
              </a:ext>
            </a:extLst>
          </p:cNvPr>
          <p:cNvSpPr/>
          <p:nvPr/>
        </p:nvSpPr>
        <p:spPr>
          <a:xfrm>
            <a:off x="10778490" y="5754484"/>
            <a:ext cx="6915150" cy="781050"/>
          </a:xfrm>
          <a:prstGeom prst="roundRect">
            <a:avLst>
              <a:gd name="adj" fmla="val 4878"/>
            </a:avLst>
          </a:prstGeom>
          <a:solidFill>
            <a:schemeClr val="accent6">
              <a:lumMod val="40000"/>
              <a:lumOff val="60000"/>
            </a:schemeClr>
          </a:solidFill>
          <a:ln w="9525">
            <a:solidFill>
              <a:srgbClr val="C0432F"/>
            </a:solidFill>
            <a:prstDash val="solid"/>
          </a:ln>
        </p:spPr>
        <p:txBody>
          <a:bodyPr/>
          <a:lstStyle/>
          <a:p>
            <a:endParaRPr lang="en-US"/>
          </a:p>
        </p:txBody>
      </p:sp>
      <p:sp>
        <p:nvSpPr>
          <p:cNvPr id="5" name="Text 3"/>
          <p:cNvSpPr/>
          <p:nvPr/>
        </p:nvSpPr>
        <p:spPr>
          <a:xfrm>
            <a:off x="1047750" y="7543800"/>
            <a:ext cx="9025890" cy="403845"/>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400" dirty="0">
                <a:solidFill>
                  <a:srgbClr val="5B6472"/>
                </a:solidFill>
                <a:latin typeface="Arial" pitchFamily="34" charset="0"/>
                <a:ea typeface="Arial" pitchFamily="34" charset="-122"/>
                <a:cs typeface="Arial" pitchFamily="34" charset="-120"/>
              </a:rPr>
              <a:t>Akshit Ganesh · Kavin Karki · Timothy Chen</a:t>
            </a:r>
            <a:endParaRPr lang="en-US" sz="2400" dirty="0"/>
          </a:p>
        </p:txBody>
      </p:sp>
      <p:sp>
        <p:nvSpPr>
          <p:cNvPr id="7" name="Text 5"/>
          <p:cNvSpPr/>
          <p:nvPr/>
        </p:nvSpPr>
        <p:spPr>
          <a:xfrm>
            <a:off x="10968990" y="4492570"/>
            <a:ext cx="7879080" cy="266700"/>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500" dirty="0">
                <a:solidFill>
                  <a:srgbClr val="5B6472"/>
                </a:solidFill>
                <a:latin typeface="Courier New" pitchFamily="34" charset="0"/>
                <a:ea typeface="Courier New" pitchFamily="34" charset="-122"/>
                <a:cs typeface="Courier New" pitchFamily="34" charset="-120"/>
              </a:rPr>
              <a:t>STUDENT NOTEBOOK</a:t>
            </a:r>
            <a:endParaRPr lang="en-US" sz="1500" dirty="0"/>
          </a:p>
        </p:txBody>
      </p:sp>
      <p:sp>
        <p:nvSpPr>
          <p:cNvPr id="22" name="Text 9">
            <a:extLst>
              <a:ext uri="{FF2B5EF4-FFF2-40B4-BE49-F238E27FC236}">
                <a16:creationId xmlns:a16="http://schemas.microsoft.com/office/drawing/2014/main" id="{BC054654-DB5E-3332-D760-772F138461E8}"/>
              </a:ext>
            </a:extLst>
          </p:cNvPr>
          <p:cNvSpPr/>
          <p:nvPr/>
        </p:nvSpPr>
        <p:spPr>
          <a:xfrm>
            <a:off x="10968989" y="5905653"/>
            <a:ext cx="6916579" cy="47238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850" dirty="0">
                <a:solidFill>
                  <a:srgbClr val="1E2430"/>
                </a:solidFill>
                <a:latin typeface="Courier New" pitchFamily="34" charset="0"/>
                <a:ea typeface="Courier New" pitchFamily="34" charset="-122"/>
                <a:cs typeface="Courier New" pitchFamily="34" charset="-120"/>
              </a:rPr>
              <a:t>2x = 8</a:t>
            </a:r>
            <a:endParaRPr lang="en-US" sz="2850" dirty="0"/>
          </a:p>
        </p:txBody>
      </p:sp>
      <p:grpSp>
        <p:nvGrpSpPr>
          <p:cNvPr id="25" name="Group 24">
            <a:extLst>
              <a:ext uri="{FF2B5EF4-FFF2-40B4-BE49-F238E27FC236}">
                <a16:creationId xmlns:a16="http://schemas.microsoft.com/office/drawing/2014/main" id="{B0EBA9A5-A0BC-9E68-E520-FDCB28003E73}"/>
              </a:ext>
            </a:extLst>
          </p:cNvPr>
          <p:cNvGrpSpPr/>
          <p:nvPr/>
        </p:nvGrpSpPr>
        <p:grpSpPr>
          <a:xfrm>
            <a:off x="10778490" y="7794661"/>
            <a:ext cx="7390331" cy="885825"/>
            <a:chOff x="4419600" y="8853487"/>
            <a:chExt cx="7390331" cy="885825"/>
          </a:xfrm>
        </p:grpSpPr>
        <p:sp>
          <p:nvSpPr>
            <p:cNvPr id="26" name="Shape 19">
              <a:extLst>
                <a:ext uri="{FF2B5EF4-FFF2-40B4-BE49-F238E27FC236}">
                  <a16:creationId xmlns:a16="http://schemas.microsoft.com/office/drawing/2014/main" id="{DED5E389-6127-2086-CB54-0DF0D1CC2E59}"/>
                </a:ext>
              </a:extLst>
            </p:cNvPr>
            <p:cNvSpPr/>
            <p:nvPr/>
          </p:nvSpPr>
          <p:spPr>
            <a:xfrm>
              <a:off x="4419600" y="8853487"/>
              <a:ext cx="6838950" cy="885825"/>
            </a:xfrm>
            <a:prstGeom prst="roundRect">
              <a:avLst>
                <a:gd name="adj" fmla="val 9806"/>
              </a:avLst>
            </a:prstGeom>
            <a:solidFill>
              <a:srgbClr val="E7EDF8"/>
            </a:solidFill>
            <a:ln/>
          </p:spPr>
          <p:txBody>
            <a:bodyPr/>
            <a:lstStyle/>
            <a:p>
              <a:endParaRPr lang="en-US"/>
            </a:p>
          </p:txBody>
        </p:sp>
        <p:sp>
          <p:nvSpPr>
            <p:cNvPr id="27" name="Shape 20">
              <a:extLst>
                <a:ext uri="{FF2B5EF4-FFF2-40B4-BE49-F238E27FC236}">
                  <a16:creationId xmlns:a16="http://schemas.microsoft.com/office/drawing/2014/main" id="{7828822A-52B7-9036-1E05-9F4C5B03DE5D}"/>
                </a:ext>
              </a:extLst>
            </p:cNvPr>
            <p:cNvSpPr/>
            <p:nvPr/>
          </p:nvSpPr>
          <p:spPr>
            <a:xfrm>
              <a:off x="4604331" y="8940748"/>
              <a:ext cx="87689" cy="641435"/>
            </a:xfrm>
            <a:prstGeom prst="rect">
              <a:avLst/>
            </a:prstGeom>
            <a:solidFill>
              <a:srgbClr val="2E5AAC"/>
            </a:solidFill>
            <a:ln/>
          </p:spPr>
          <p:txBody>
            <a:bodyPr/>
            <a:lstStyle/>
            <a:p>
              <a:endParaRPr lang="en-US"/>
            </a:p>
          </p:txBody>
        </p:sp>
        <p:sp>
          <p:nvSpPr>
            <p:cNvPr id="28" name="Text 21">
              <a:extLst>
                <a:ext uri="{FF2B5EF4-FFF2-40B4-BE49-F238E27FC236}">
                  <a16:creationId xmlns:a16="http://schemas.microsoft.com/office/drawing/2014/main" id="{ED8B6CC9-9FC0-CE77-F764-E74C17500BC5}"/>
                </a:ext>
              </a:extLst>
            </p:cNvPr>
            <p:cNvSpPr/>
            <p:nvPr/>
          </p:nvSpPr>
          <p:spPr>
            <a:xfrm>
              <a:off x="4800483" y="8945034"/>
              <a:ext cx="7009448" cy="233362"/>
            </a:xfrm>
            <a:prstGeom prst="rect">
              <a:avLst/>
            </a:prstGeom>
            <a:noFill/>
            <a:ln/>
          </p:spPr>
          <p:txBody>
            <a:bodyPr wrap="square" lIns="25400" tIns="25400" rIns="25400" bIns="25400" rtlCol="0" anchor="t">
              <a:normAutofit fontScale="92500" lnSpcReduction="10000"/>
            </a:bodyPr>
            <a:lstStyle/>
            <a:p>
              <a:pPr marL="0" indent="0" algn="l">
                <a:buNone/>
              </a:pPr>
              <a:r>
                <a:rPr lang="en-US" sz="1350" b="1" kern="0" spc="113" dirty="0">
                  <a:solidFill>
                    <a:srgbClr val="2E5AAC"/>
                  </a:solidFill>
                  <a:latin typeface="Courier New" pitchFamily="34" charset="0"/>
                  <a:ea typeface="Courier New" pitchFamily="34" charset="-122"/>
                  <a:cs typeface="Courier New" pitchFamily="34" charset="-120"/>
                </a:rPr>
                <a:t>HINT 1</a:t>
              </a:r>
              <a:endParaRPr lang="en-US" sz="1350" dirty="0"/>
            </a:p>
          </p:txBody>
        </p:sp>
        <p:sp>
          <p:nvSpPr>
            <p:cNvPr id="29" name="Text 22">
              <a:extLst>
                <a:ext uri="{FF2B5EF4-FFF2-40B4-BE49-F238E27FC236}">
                  <a16:creationId xmlns:a16="http://schemas.microsoft.com/office/drawing/2014/main" id="{179BF33E-6D04-C875-6470-EC23D905D6DA}"/>
                </a:ext>
              </a:extLst>
            </p:cNvPr>
            <p:cNvSpPr/>
            <p:nvPr/>
          </p:nvSpPr>
          <p:spPr>
            <a:xfrm>
              <a:off x="4800483" y="9264805"/>
              <a:ext cx="7009448" cy="347663"/>
            </a:xfrm>
            <a:prstGeom prst="rect">
              <a:avLst/>
            </a:prstGeom>
            <a:noFill/>
            <a:ln/>
          </p:spPr>
          <p:txBody>
            <a:bodyPr wrap="square" lIns="25400" tIns="25400" rIns="25400" bIns="25400" rtlCol="0" anchor="t">
              <a:normAutofit lnSpcReduction="10000"/>
            </a:bodyPr>
            <a:lstStyle/>
            <a:p>
              <a:pPr marL="0" indent="0" algn="l">
                <a:buNone/>
              </a:pPr>
              <a:r>
                <a:rPr lang="en-US" sz="2100" dirty="0">
                  <a:solidFill>
                    <a:srgbClr val="1E2430"/>
                  </a:solidFill>
                  <a:latin typeface="Arial" pitchFamily="34" charset="0"/>
                  <a:ea typeface="Arial" pitchFamily="34" charset="-122"/>
                  <a:cs typeface="Arial" pitchFamily="34" charset="-120"/>
                </a:rPr>
                <a:t>Look again at line 3.</a:t>
              </a:r>
              <a:endParaRPr lang="en-US" sz="2100"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1047750" y="533400"/>
            <a:ext cx="144780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verity.ai</a:t>
            </a:r>
            <a:endParaRPr lang="en-US" sz="1650" dirty="0"/>
          </a:p>
        </p:txBody>
      </p:sp>
      <p:sp>
        <p:nvSpPr>
          <p:cNvPr id="3" name="Text 1"/>
          <p:cNvSpPr/>
          <p:nvPr/>
        </p:nvSpPr>
        <p:spPr>
          <a:xfrm>
            <a:off x="16687800" y="533400"/>
            <a:ext cx="70485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SAIL</a:t>
            </a:r>
            <a:endParaRPr lang="en-US" sz="1650" dirty="0"/>
          </a:p>
        </p:txBody>
      </p:sp>
      <p:sp>
        <p:nvSpPr>
          <p:cNvPr id="4" name="Text 2"/>
          <p:cNvSpPr/>
          <p:nvPr/>
        </p:nvSpPr>
        <p:spPr>
          <a:xfrm>
            <a:off x="1047750" y="857250"/>
            <a:ext cx="18346103"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b="1" dirty="0">
                <a:solidFill>
                  <a:srgbClr val="2E5AAC"/>
                </a:solidFill>
                <a:latin typeface="Courier New" pitchFamily="34" charset="0"/>
                <a:ea typeface="Courier New" pitchFamily="34" charset="-122"/>
                <a:cs typeface="Courier New" pitchFamily="34" charset="-120"/>
              </a:rPr>
              <a:t>THE GAP</a:t>
            </a:r>
            <a:endParaRPr lang="en-US" sz="1650" dirty="0"/>
          </a:p>
        </p:txBody>
      </p:sp>
      <p:sp>
        <p:nvSpPr>
          <p:cNvPr id="5" name="Text 3"/>
          <p:cNvSpPr/>
          <p:nvPr/>
        </p:nvSpPr>
        <p:spPr>
          <a:xfrm>
            <a:off x="1047750" y="1295400"/>
            <a:ext cx="18346103" cy="617562"/>
          </a:xfrm>
          <a:prstGeom prst="rect">
            <a:avLst/>
          </a:prstGeom>
          <a:noFill/>
          <a:ln/>
        </p:spPr>
        <p:txBody>
          <a:bodyPr wrap="square" lIns="25400" tIns="25400" rIns="25400" bIns="25400" rtlCol="0" anchor="t">
            <a:normAutofit lnSpcReduction="10000"/>
          </a:bodyPr>
          <a:lstStyle/>
          <a:p>
            <a:pPr marL="0" indent="0" algn="l">
              <a:lnSpc>
                <a:spcPct val="101189"/>
              </a:lnSpc>
              <a:buNone/>
            </a:pPr>
            <a:r>
              <a:rPr lang="en-US" sz="3900" b="1" dirty="0">
                <a:solidFill>
                  <a:srgbClr val="1E2430"/>
                </a:solidFill>
                <a:latin typeface="Arial" pitchFamily="34" charset="0"/>
                <a:ea typeface="Arial" pitchFamily="34" charset="-122"/>
                <a:cs typeface="Arial" pitchFamily="34" charset="-120"/>
              </a:rPr>
              <a:t>Homework tools either give too much or see too little</a:t>
            </a:r>
            <a:endParaRPr lang="en-US" sz="3900" dirty="0"/>
          </a:p>
        </p:txBody>
      </p:sp>
      <p:sp>
        <p:nvSpPr>
          <p:cNvPr id="6" name="Shape 4"/>
          <p:cNvSpPr/>
          <p:nvPr/>
        </p:nvSpPr>
        <p:spPr>
          <a:xfrm>
            <a:off x="1047750" y="2305050"/>
            <a:ext cx="7905750" cy="6477000"/>
          </a:xfrm>
          <a:prstGeom prst="roundRect">
            <a:avLst>
              <a:gd name="adj" fmla="val 588"/>
            </a:avLst>
          </a:prstGeom>
          <a:solidFill>
            <a:srgbClr val="FFFFFF"/>
          </a:solidFill>
          <a:ln/>
        </p:spPr>
        <p:txBody>
          <a:bodyPr/>
          <a:lstStyle/>
          <a:p>
            <a:endParaRPr lang="en-US"/>
          </a:p>
        </p:txBody>
      </p:sp>
      <p:sp>
        <p:nvSpPr>
          <p:cNvPr id="7" name="Shape 5"/>
          <p:cNvSpPr/>
          <p:nvPr/>
        </p:nvSpPr>
        <p:spPr>
          <a:xfrm>
            <a:off x="1047750" y="8782050"/>
            <a:ext cx="7905750" cy="9525"/>
          </a:xfrm>
          <a:prstGeom prst="rect">
            <a:avLst/>
          </a:prstGeom>
          <a:solidFill>
            <a:srgbClr val="D8D2C2"/>
          </a:solidFill>
          <a:ln/>
        </p:spPr>
        <p:txBody>
          <a:bodyPr/>
          <a:lstStyle/>
          <a:p>
            <a:endParaRPr lang="en-US"/>
          </a:p>
        </p:txBody>
      </p:sp>
      <p:sp>
        <p:nvSpPr>
          <p:cNvPr id="8" name="Shape 6"/>
          <p:cNvSpPr/>
          <p:nvPr/>
        </p:nvSpPr>
        <p:spPr>
          <a:xfrm>
            <a:off x="1047750" y="2305050"/>
            <a:ext cx="7905750" cy="38100"/>
          </a:xfrm>
          <a:prstGeom prst="rect">
            <a:avLst/>
          </a:prstGeom>
          <a:solidFill>
            <a:srgbClr val="C0432F"/>
          </a:solidFill>
          <a:ln/>
        </p:spPr>
        <p:txBody>
          <a:bodyPr/>
          <a:lstStyle/>
          <a:p>
            <a:endParaRPr lang="en-US"/>
          </a:p>
        </p:txBody>
      </p:sp>
      <p:sp>
        <p:nvSpPr>
          <p:cNvPr id="9" name="Shape 7"/>
          <p:cNvSpPr/>
          <p:nvPr/>
        </p:nvSpPr>
        <p:spPr>
          <a:xfrm>
            <a:off x="1047750" y="2305050"/>
            <a:ext cx="9525" cy="6477000"/>
          </a:xfrm>
          <a:prstGeom prst="rect">
            <a:avLst/>
          </a:prstGeom>
          <a:solidFill>
            <a:srgbClr val="D8D2C2"/>
          </a:solidFill>
          <a:ln/>
        </p:spPr>
        <p:txBody>
          <a:bodyPr/>
          <a:lstStyle/>
          <a:p>
            <a:endParaRPr lang="en-US"/>
          </a:p>
        </p:txBody>
      </p:sp>
      <p:sp>
        <p:nvSpPr>
          <p:cNvPr id="10" name="Shape 8"/>
          <p:cNvSpPr/>
          <p:nvPr/>
        </p:nvSpPr>
        <p:spPr>
          <a:xfrm>
            <a:off x="8943975" y="2305050"/>
            <a:ext cx="9525" cy="6477000"/>
          </a:xfrm>
          <a:prstGeom prst="rect">
            <a:avLst/>
          </a:prstGeom>
          <a:solidFill>
            <a:srgbClr val="D8D2C2"/>
          </a:solidFill>
          <a:ln/>
        </p:spPr>
        <p:txBody>
          <a:bodyPr/>
          <a:lstStyle/>
          <a:p>
            <a:endParaRPr lang="en-US"/>
          </a:p>
        </p:txBody>
      </p:sp>
      <p:sp>
        <p:nvSpPr>
          <p:cNvPr id="11" name="Text 9"/>
          <p:cNvSpPr/>
          <p:nvPr/>
        </p:nvSpPr>
        <p:spPr>
          <a:xfrm>
            <a:off x="1466850" y="2705100"/>
            <a:ext cx="7279577"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b="1" dirty="0">
                <a:solidFill>
                  <a:srgbClr val="C0432F"/>
                </a:solidFill>
                <a:latin typeface="Courier New" pitchFamily="34" charset="0"/>
                <a:ea typeface="Courier New" pitchFamily="34" charset="-122"/>
                <a:cs typeface="Courier New" pitchFamily="34" charset="-120"/>
              </a:rPr>
              <a:t>WHAT STUDENTS HAVE TODAY</a:t>
            </a:r>
            <a:endParaRPr lang="en-US" sz="1650" dirty="0"/>
          </a:p>
        </p:txBody>
      </p:sp>
      <p:sp>
        <p:nvSpPr>
          <p:cNvPr id="12" name="Text 10"/>
          <p:cNvSpPr/>
          <p:nvPr/>
        </p:nvSpPr>
        <p:spPr>
          <a:xfrm>
            <a:off x="1466850" y="3181350"/>
            <a:ext cx="7279577" cy="459060"/>
          </a:xfrm>
          <a:prstGeom prst="rect">
            <a:avLst/>
          </a:prstGeom>
          <a:noFill/>
          <a:ln/>
        </p:spPr>
        <p:txBody>
          <a:bodyPr wrap="square" lIns="25400" tIns="25400" rIns="25400" bIns="25400" rtlCol="0" anchor="t">
            <a:normAutofit/>
          </a:bodyPr>
          <a:lstStyle/>
          <a:p>
            <a:pPr>
              <a:lnSpc>
                <a:spcPct val="112432"/>
              </a:lnSpc>
            </a:pPr>
            <a:r>
              <a:rPr lang="en-US" sz="2550" b="1" dirty="0">
                <a:solidFill>
                  <a:srgbClr val="1E2430"/>
                </a:solidFill>
                <a:latin typeface="Arial" pitchFamily="34" charset="0"/>
                <a:cs typeface="Arial" pitchFamily="34" charset="-120"/>
              </a:rPr>
              <a:t>Solver apps hand over the answer</a:t>
            </a:r>
          </a:p>
        </p:txBody>
      </p:sp>
      <p:sp>
        <p:nvSpPr>
          <p:cNvPr id="13" name="Text 11"/>
          <p:cNvSpPr/>
          <p:nvPr/>
        </p:nvSpPr>
        <p:spPr>
          <a:xfrm>
            <a:off x="1466850" y="3657600"/>
            <a:ext cx="7279577" cy="781050"/>
          </a:xfrm>
          <a:prstGeom prst="rect">
            <a:avLst/>
          </a:prstGeom>
          <a:noFill/>
          <a:ln/>
        </p:spPr>
        <p:txBody>
          <a:bodyPr wrap="square" lIns="25400" tIns="25400" rIns="25400" bIns="25400" rtlCol="0" anchor="t">
            <a:normAutofit lnSpcReduction="10000"/>
          </a:bodyPr>
          <a:lstStyle/>
          <a:p>
            <a:pPr marL="0" indent="0" algn="l">
              <a:lnSpc>
                <a:spcPct val="129730"/>
              </a:lnSpc>
              <a:buNone/>
            </a:pPr>
            <a:r>
              <a:rPr lang="en-US" sz="1950" dirty="0">
                <a:solidFill>
                  <a:srgbClr val="5B6472"/>
                </a:solidFill>
                <a:latin typeface="Arial" pitchFamily="34" charset="0"/>
                <a:ea typeface="Arial" pitchFamily="34" charset="-122"/>
                <a:cs typeface="Arial" pitchFamily="34" charset="-120"/>
              </a:rPr>
              <a:t>Photomath-style apps print the full solution. That is why schools ban them.</a:t>
            </a:r>
            <a:endParaRPr lang="en-US" sz="1950" dirty="0"/>
          </a:p>
        </p:txBody>
      </p:sp>
      <p:sp>
        <p:nvSpPr>
          <p:cNvPr id="14" name="Text 12"/>
          <p:cNvSpPr/>
          <p:nvPr/>
        </p:nvSpPr>
        <p:spPr>
          <a:xfrm>
            <a:off x="1466850" y="4629150"/>
            <a:ext cx="7279577" cy="459060"/>
          </a:xfrm>
          <a:prstGeom prst="rect">
            <a:avLst/>
          </a:prstGeom>
          <a:noFill/>
          <a:ln/>
        </p:spPr>
        <p:txBody>
          <a:bodyPr wrap="square" lIns="25400" tIns="25400" rIns="25400" bIns="25400" rtlCol="0" anchor="t">
            <a:normAutofit/>
          </a:bodyPr>
          <a:lstStyle/>
          <a:p>
            <a:pPr>
              <a:lnSpc>
                <a:spcPct val="112432"/>
              </a:lnSpc>
            </a:pPr>
            <a:r>
              <a:rPr lang="en-US" sz="2550" b="1" dirty="0">
                <a:solidFill>
                  <a:srgbClr val="1E2430"/>
                </a:solidFill>
                <a:latin typeface="Arial" pitchFamily="34" charset="0"/>
                <a:cs typeface="Arial" pitchFamily="34" charset="-120"/>
              </a:rPr>
              <a:t>Chat</a:t>
            </a:r>
            <a:r>
              <a:rPr lang="en-US" b="1" dirty="0"/>
              <a:t> </a:t>
            </a:r>
            <a:r>
              <a:rPr lang="en-US" sz="2550" b="1" dirty="0">
                <a:solidFill>
                  <a:srgbClr val="1E2430"/>
                </a:solidFill>
                <a:latin typeface="Arial" pitchFamily="34" charset="0"/>
                <a:cs typeface="Arial" pitchFamily="34" charset="-120"/>
              </a:rPr>
              <a:t>tutors cannot see your page</a:t>
            </a:r>
          </a:p>
        </p:txBody>
      </p:sp>
      <p:sp>
        <p:nvSpPr>
          <p:cNvPr id="15" name="Text 13"/>
          <p:cNvSpPr/>
          <p:nvPr/>
        </p:nvSpPr>
        <p:spPr>
          <a:xfrm>
            <a:off x="1473898" y="5240685"/>
            <a:ext cx="7279577" cy="931590"/>
          </a:xfrm>
          <a:prstGeom prst="rect">
            <a:avLst/>
          </a:prstGeom>
          <a:noFill/>
          <a:ln/>
        </p:spPr>
        <p:txBody>
          <a:bodyPr wrap="square" lIns="25400" tIns="25400" rIns="25400" bIns="25400" rtlCol="0" anchor="t">
            <a:noAutofit/>
          </a:bodyPr>
          <a:lstStyle/>
          <a:p>
            <a:r>
              <a:rPr lang="en-US" sz="1950" dirty="0">
                <a:solidFill>
                  <a:srgbClr val="5B6472"/>
                </a:solidFill>
                <a:latin typeface="Arial" pitchFamily="34" charset="0"/>
                <a:cs typeface="Arial" pitchFamily="34" charset="-120"/>
              </a:rPr>
              <a:t>You retype your work into a box. The messy part, where the mistake actually is, never makes it across.</a:t>
            </a:r>
          </a:p>
          <a:p>
            <a:br>
              <a:rPr lang="en-US" sz="1950" dirty="0"/>
            </a:br>
            <a:endParaRPr lang="en-US" sz="1950" dirty="0"/>
          </a:p>
        </p:txBody>
      </p:sp>
      <p:sp>
        <p:nvSpPr>
          <p:cNvPr id="16" name="Text 14"/>
          <p:cNvSpPr/>
          <p:nvPr/>
        </p:nvSpPr>
        <p:spPr>
          <a:xfrm>
            <a:off x="1466850" y="6076950"/>
            <a:ext cx="7279577" cy="459060"/>
          </a:xfrm>
          <a:prstGeom prst="rect">
            <a:avLst/>
          </a:prstGeom>
          <a:noFill/>
          <a:ln/>
        </p:spPr>
        <p:txBody>
          <a:bodyPr wrap="square" lIns="25400" tIns="25400" rIns="25400" bIns="25400" rtlCol="0" anchor="t">
            <a:normAutofit/>
          </a:bodyPr>
          <a:lstStyle/>
          <a:p>
            <a:pPr>
              <a:lnSpc>
                <a:spcPct val="112432"/>
              </a:lnSpc>
            </a:pPr>
            <a:r>
              <a:rPr lang="en-US" sz="2550" b="1" dirty="0">
                <a:solidFill>
                  <a:srgbClr val="1E2430"/>
                </a:solidFill>
                <a:latin typeface="Arial" pitchFamily="34" charset="0"/>
                <a:cs typeface="Arial" pitchFamily="34" charset="-120"/>
              </a:rPr>
              <a:t>Grading only looks at the last line</a:t>
            </a:r>
          </a:p>
        </p:txBody>
      </p:sp>
      <p:sp>
        <p:nvSpPr>
          <p:cNvPr id="17" name="Text 15"/>
          <p:cNvSpPr/>
          <p:nvPr/>
        </p:nvSpPr>
        <p:spPr>
          <a:xfrm>
            <a:off x="1466850" y="6553200"/>
            <a:ext cx="7279577" cy="781050"/>
          </a:xfrm>
          <a:prstGeom prst="rect">
            <a:avLst/>
          </a:prstGeom>
          <a:noFill/>
          <a:ln/>
        </p:spPr>
        <p:txBody>
          <a:bodyPr wrap="square" lIns="25400" tIns="25400" rIns="25400" bIns="25400" rtlCol="0" anchor="t">
            <a:noAutofit/>
          </a:bodyPr>
          <a:lstStyle/>
          <a:p>
            <a:r>
              <a:rPr lang="en-US" sz="1950" dirty="0">
                <a:solidFill>
                  <a:srgbClr val="5B6472"/>
                </a:solidFill>
                <a:latin typeface="Arial" pitchFamily="34" charset="0"/>
                <a:cs typeface="Arial" pitchFamily="34" charset="-120"/>
              </a:rPr>
              <a:t>A red X at the bottom. Which of your six lines went wrong? It does not say.</a:t>
            </a:r>
          </a:p>
          <a:p>
            <a:br>
              <a:rPr lang="en-US" sz="1950" dirty="0"/>
            </a:br>
            <a:endParaRPr lang="en-US" sz="1950" dirty="0"/>
          </a:p>
        </p:txBody>
      </p:sp>
      <p:sp>
        <p:nvSpPr>
          <p:cNvPr id="18" name="Shape 16"/>
          <p:cNvSpPr/>
          <p:nvPr/>
        </p:nvSpPr>
        <p:spPr>
          <a:xfrm>
            <a:off x="1466850" y="7524750"/>
            <a:ext cx="7067550" cy="9525"/>
          </a:xfrm>
          <a:prstGeom prst="rect">
            <a:avLst/>
          </a:prstGeom>
          <a:solidFill>
            <a:srgbClr val="D8D2C2"/>
          </a:solidFill>
          <a:ln/>
        </p:spPr>
        <p:txBody>
          <a:bodyPr/>
          <a:lstStyle/>
          <a:p>
            <a:endParaRPr lang="en-US"/>
          </a:p>
        </p:txBody>
      </p:sp>
      <p:sp>
        <p:nvSpPr>
          <p:cNvPr id="19" name="Text 17"/>
          <p:cNvSpPr/>
          <p:nvPr/>
        </p:nvSpPr>
        <p:spPr>
          <a:xfrm>
            <a:off x="1466850" y="7829550"/>
            <a:ext cx="7279577" cy="289545"/>
          </a:xfrm>
          <a:prstGeom prst="rect">
            <a:avLst/>
          </a:prstGeom>
          <a:noFill/>
          <a:ln/>
        </p:spPr>
        <p:txBody>
          <a:bodyPr wrap="square" lIns="25400" tIns="25400" rIns="25400" bIns="25400" rtlCol="0" anchor="t">
            <a:normAutofit fontScale="92500" lnSpcReduction="20000"/>
          </a:bodyPr>
          <a:lstStyle/>
          <a:p>
            <a:pPr marL="0" indent="0" algn="l">
              <a:lnSpc>
                <a:spcPct val="103784"/>
              </a:lnSpc>
              <a:buNone/>
            </a:pPr>
            <a:r>
              <a:rPr lang="en-US" dirty="0">
                <a:solidFill>
                  <a:srgbClr val="5B6472"/>
                </a:solidFill>
                <a:latin typeface="Courier New" pitchFamily="34" charset="0"/>
                <a:ea typeface="Courier New" pitchFamily="34" charset="-122"/>
                <a:cs typeface="Courier New" pitchFamily="34" charset="-120"/>
              </a:rPr>
              <a:t>Result: copy the answer, or guess again.</a:t>
            </a:r>
            <a:endParaRPr lang="en-US" dirty="0"/>
          </a:p>
        </p:txBody>
      </p:sp>
      <p:sp>
        <p:nvSpPr>
          <p:cNvPr id="20" name="Shape 18"/>
          <p:cNvSpPr/>
          <p:nvPr/>
        </p:nvSpPr>
        <p:spPr>
          <a:xfrm>
            <a:off x="9334500" y="2305050"/>
            <a:ext cx="7905750" cy="6477000"/>
          </a:xfrm>
          <a:prstGeom prst="roundRect">
            <a:avLst>
              <a:gd name="adj" fmla="val 588"/>
            </a:avLst>
          </a:prstGeom>
          <a:solidFill>
            <a:srgbClr val="1E2430"/>
          </a:solidFill>
          <a:ln/>
        </p:spPr>
        <p:txBody>
          <a:bodyPr/>
          <a:lstStyle/>
          <a:p>
            <a:endParaRPr lang="en-US"/>
          </a:p>
        </p:txBody>
      </p:sp>
      <p:sp>
        <p:nvSpPr>
          <p:cNvPr id="21" name="Shape 19"/>
          <p:cNvSpPr/>
          <p:nvPr/>
        </p:nvSpPr>
        <p:spPr>
          <a:xfrm>
            <a:off x="9334500" y="2305050"/>
            <a:ext cx="7905750" cy="38100"/>
          </a:xfrm>
          <a:prstGeom prst="rect">
            <a:avLst/>
          </a:prstGeom>
          <a:solidFill>
            <a:srgbClr val="2E5AAC"/>
          </a:solidFill>
          <a:ln/>
        </p:spPr>
        <p:txBody>
          <a:bodyPr/>
          <a:lstStyle/>
          <a:p>
            <a:endParaRPr lang="en-US"/>
          </a:p>
        </p:txBody>
      </p:sp>
      <p:sp>
        <p:nvSpPr>
          <p:cNvPr id="22" name="Text 20"/>
          <p:cNvSpPr/>
          <p:nvPr/>
        </p:nvSpPr>
        <p:spPr>
          <a:xfrm>
            <a:off x="9753600" y="2705100"/>
            <a:ext cx="7279577"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b="1" dirty="0">
                <a:solidFill>
                  <a:srgbClr val="8FB0E6"/>
                </a:solidFill>
                <a:latin typeface="Courier New" pitchFamily="34" charset="0"/>
                <a:ea typeface="Courier New" pitchFamily="34" charset="-122"/>
                <a:cs typeface="Courier New" pitchFamily="34" charset="-120"/>
              </a:rPr>
              <a:t>WHAT VERITY.AI GIVES THEM</a:t>
            </a:r>
            <a:endParaRPr lang="en-US" sz="1650" dirty="0"/>
          </a:p>
        </p:txBody>
      </p:sp>
      <p:sp>
        <p:nvSpPr>
          <p:cNvPr id="23" name="Text 21"/>
          <p:cNvSpPr/>
          <p:nvPr/>
        </p:nvSpPr>
        <p:spPr>
          <a:xfrm>
            <a:off x="9753600" y="3181350"/>
            <a:ext cx="7279577" cy="459060"/>
          </a:xfrm>
          <a:prstGeom prst="rect">
            <a:avLst/>
          </a:prstGeom>
          <a:noFill/>
          <a:ln/>
        </p:spPr>
        <p:txBody>
          <a:bodyPr wrap="square" lIns="25400" tIns="25400" rIns="25400" bIns="25400" rtlCol="0" anchor="t">
            <a:normAutofit lnSpcReduction="10000"/>
          </a:bodyPr>
          <a:lstStyle/>
          <a:p>
            <a:pPr marL="0" indent="0" algn="l">
              <a:lnSpc>
                <a:spcPct val="112432"/>
              </a:lnSpc>
              <a:buNone/>
            </a:pPr>
            <a:r>
              <a:rPr lang="en-US" sz="2550" b="1" dirty="0">
                <a:solidFill>
                  <a:srgbClr val="F7F4EE"/>
                </a:solidFill>
                <a:latin typeface="Arial" pitchFamily="34" charset="0"/>
                <a:ea typeface="Arial" pitchFamily="34" charset="-122"/>
                <a:cs typeface="Arial" pitchFamily="34" charset="-120"/>
              </a:rPr>
              <a:t>It reads the handwriting</a:t>
            </a:r>
            <a:endParaRPr lang="en-US" sz="2550" dirty="0"/>
          </a:p>
        </p:txBody>
      </p:sp>
      <p:sp>
        <p:nvSpPr>
          <p:cNvPr id="24" name="Text 22"/>
          <p:cNvSpPr/>
          <p:nvPr/>
        </p:nvSpPr>
        <p:spPr>
          <a:xfrm>
            <a:off x="9753600" y="3657600"/>
            <a:ext cx="7279577" cy="781050"/>
          </a:xfrm>
          <a:prstGeom prst="rect">
            <a:avLst/>
          </a:prstGeom>
          <a:noFill/>
          <a:ln/>
        </p:spPr>
        <p:txBody>
          <a:bodyPr wrap="square" lIns="25400" tIns="25400" rIns="25400" bIns="25400" rtlCol="0" anchor="t">
            <a:normAutofit lnSpcReduction="10000"/>
          </a:bodyPr>
          <a:lstStyle/>
          <a:p>
            <a:pPr marL="0" indent="0" algn="l">
              <a:lnSpc>
                <a:spcPct val="129730"/>
              </a:lnSpc>
              <a:buNone/>
            </a:pPr>
            <a:r>
              <a:rPr lang="en-US" sz="1950" dirty="0">
                <a:solidFill>
                  <a:srgbClr val="B7BEC9"/>
                </a:solidFill>
                <a:latin typeface="Arial" pitchFamily="34" charset="0"/>
                <a:ea typeface="Arial" pitchFamily="34" charset="-122"/>
                <a:cs typeface="Arial" pitchFamily="34" charset="-120"/>
              </a:rPr>
              <a:t>Students write with a stylus exactly as they would on paper. No retyping, no photo.</a:t>
            </a:r>
            <a:endParaRPr lang="en-US" sz="1950" dirty="0"/>
          </a:p>
        </p:txBody>
      </p:sp>
      <p:sp>
        <p:nvSpPr>
          <p:cNvPr id="25" name="Text 23"/>
          <p:cNvSpPr/>
          <p:nvPr/>
        </p:nvSpPr>
        <p:spPr>
          <a:xfrm>
            <a:off x="9753600" y="4629150"/>
            <a:ext cx="7279577" cy="459060"/>
          </a:xfrm>
          <a:prstGeom prst="rect">
            <a:avLst/>
          </a:prstGeom>
          <a:noFill/>
          <a:ln/>
        </p:spPr>
        <p:txBody>
          <a:bodyPr wrap="square" lIns="25400" tIns="25400" rIns="25400" bIns="25400" rtlCol="0" anchor="t">
            <a:normAutofit lnSpcReduction="10000"/>
          </a:bodyPr>
          <a:lstStyle/>
          <a:p>
            <a:pPr marL="0" indent="0" algn="l">
              <a:lnSpc>
                <a:spcPct val="112432"/>
              </a:lnSpc>
              <a:buNone/>
            </a:pPr>
            <a:r>
              <a:rPr lang="en-US" sz="2550" b="1" dirty="0">
                <a:solidFill>
                  <a:srgbClr val="F7F4EE"/>
                </a:solidFill>
                <a:latin typeface="Arial" pitchFamily="34" charset="0"/>
                <a:ea typeface="Arial" pitchFamily="34" charset="-122"/>
                <a:cs typeface="Arial" pitchFamily="34" charset="-120"/>
              </a:rPr>
              <a:t>It names the first broken line</a:t>
            </a:r>
            <a:endParaRPr lang="en-US" sz="2550" dirty="0"/>
          </a:p>
        </p:txBody>
      </p:sp>
      <p:sp>
        <p:nvSpPr>
          <p:cNvPr id="26" name="Text 24"/>
          <p:cNvSpPr/>
          <p:nvPr/>
        </p:nvSpPr>
        <p:spPr>
          <a:xfrm>
            <a:off x="9753600" y="5105400"/>
            <a:ext cx="7279577" cy="952500"/>
          </a:xfrm>
          <a:prstGeom prst="rect">
            <a:avLst/>
          </a:prstGeom>
          <a:noFill/>
          <a:ln/>
        </p:spPr>
        <p:txBody>
          <a:bodyPr wrap="square" lIns="25400" tIns="25400" rIns="25400" bIns="25400" rtlCol="0" anchor="t">
            <a:noAutofit/>
          </a:bodyPr>
          <a:lstStyle/>
          <a:p>
            <a:r>
              <a:rPr lang="en-US" sz="1950" dirty="0">
                <a:solidFill>
                  <a:srgbClr val="B7BEC9"/>
                </a:solidFill>
                <a:latin typeface="Arial" pitchFamily="34" charset="0"/>
                <a:cs typeface="Arial" pitchFamily="34" charset="-120"/>
              </a:rPr>
              <a:t>Every step is checked against the step above it, You find out where your thinking went wrong, not just that your final answer is wrong.</a:t>
            </a:r>
          </a:p>
          <a:p>
            <a:br>
              <a:rPr lang="en-US" sz="1950" dirty="0">
                <a:solidFill>
                  <a:srgbClr val="B7BEC9"/>
                </a:solidFill>
                <a:latin typeface="Arial" pitchFamily="34" charset="0"/>
                <a:cs typeface="Arial" pitchFamily="34" charset="-120"/>
              </a:rPr>
            </a:br>
            <a:endParaRPr lang="en-US" sz="1950" dirty="0">
              <a:solidFill>
                <a:srgbClr val="B7BEC9"/>
              </a:solidFill>
              <a:latin typeface="Arial" pitchFamily="34" charset="0"/>
              <a:cs typeface="Arial" pitchFamily="34" charset="-120"/>
            </a:endParaRPr>
          </a:p>
        </p:txBody>
      </p:sp>
      <p:sp>
        <p:nvSpPr>
          <p:cNvPr id="27" name="Text 25"/>
          <p:cNvSpPr/>
          <p:nvPr/>
        </p:nvSpPr>
        <p:spPr>
          <a:xfrm>
            <a:off x="9753600" y="6076950"/>
            <a:ext cx="7279577" cy="459060"/>
          </a:xfrm>
          <a:prstGeom prst="rect">
            <a:avLst/>
          </a:prstGeom>
          <a:noFill/>
          <a:ln/>
        </p:spPr>
        <p:txBody>
          <a:bodyPr wrap="square" lIns="25400" tIns="25400" rIns="25400" bIns="25400" rtlCol="0" anchor="t">
            <a:noAutofit/>
          </a:bodyPr>
          <a:lstStyle/>
          <a:p>
            <a:pPr>
              <a:lnSpc>
                <a:spcPct val="112432"/>
              </a:lnSpc>
            </a:pPr>
            <a:r>
              <a:rPr lang="en-US" sz="2550" b="1" dirty="0">
                <a:solidFill>
                  <a:srgbClr val="F7F4EE"/>
                </a:solidFill>
                <a:latin typeface="Arial" pitchFamily="34" charset="0"/>
                <a:cs typeface="Arial" pitchFamily="34" charset="-120"/>
              </a:rPr>
              <a:t>Three hints, and none of them is the answer </a:t>
            </a:r>
            <a:br>
              <a:rPr lang="en-US" sz="2550" b="1" dirty="0">
                <a:solidFill>
                  <a:srgbClr val="F7F4EE"/>
                </a:solidFill>
                <a:latin typeface="Arial" pitchFamily="34" charset="0"/>
                <a:cs typeface="Arial" pitchFamily="34" charset="-120"/>
              </a:rPr>
            </a:br>
            <a:endParaRPr lang="en-US" sz="2550" b="1" dirty="0">
              <a:solidFill>
                <a:srgbClr val="F7F4EE"/>
              </a:solidFill>
              <a:latin typeface="Arial" pitchFamily="34" charset="0"/>
              <a:cs typeface="Arial" pitchFamily="34" charset="-120"/>
            </a:endParaRPr>
          </a:p>
        </p:txBody>
      </p:sp>
      <p:sp>
        <p:nvSpPr>
          <p:cNvPr id="28" name="Text 26"/>
          <p:cNvSpPr/>
          <p:nvPr/>
        </p:nvSpPr>
        <p:spPr>
          <a:xfrm>
            <a:off x="9753600" y="6553200"/>
            <a:ext cx="7279577" cy="781050"/>
          </a:xfrm>
          <a:prstGeom prst="rect">
            <a:avLst/>
          </a:prstGeom>
          <a:noFill/>
          <a:ln/>
        </p:spPr>
        <p:txBody>
          <a:bodyPr wrap="square" lIns="25400" tIns="25400" rIns="25400" bIns="25400" rtlCol="0" anchor="t">
            <a:noAutofit/>
          </a:bodyPr>
          <a:lstStyle/>
          <a:p>
            <a:r>
              <a:rPr lang="en-US" sz="1950" dirty="0">
                <a:solidFill>
                  <a:srgbClr val="B7BEC9"/>
                </a:solidFill>
                <a:latin typeface="Arial" pitchFamily="34" charset="0"/>
                <a:cs typeface="Arial" pitchFamily="34" charset="-120"/>
              </a:rPr>
              <a:t>First what went wrong. Then a similar problem solved in full. Then your own step walked through. The answer is never shown.</a:t>
            </a:r>
          </a:p>
          <a:p>
            <a:br>
              <a:rPr lang="en-US" sz="1950" dirty="0"/>
            </a:br>
            <a:endParaRPr lang="en-US" sz="1950" dirty="0"/>
          </a:p>
        </p:txBody>
      </p:sp>
      <p:sp>
        <p:nvSpPr>
          <p:cNvPr id="29" name="Shape 27"/>
          <p:cNvSpPr/>
          <p:nvPr/>
        </p:nvSpPr>
        <p:spPr>
          <a:xfrm>
            <a:off x="9753600" y="7524750"/>
            <a:ext cx="7067550" cy="9525"/>
          </a:xfrm>
          <a:prstGeom prst="rect">
            <a:avLst/>
          </a:prstGeom>
          <a:solidFill>
            <a:srgbClr val="3A4250"/>
          </a:solidFill>
          <a:ln/>
        </p:spPr>
        <p:txBody>
          <a:bodyPr/>
          <a:lstStyle/>
          <a:p>
            <a:endParaRPr lang="en-US"/>
          </a:p>
        </p:txBody>
      </p:sp>
      <p:sp>
        <p:nvSpPr>
          <p:cNvPr id="30" name="Text 28"/>
          <p:cNvSpPr/>
          <p:nvPr/>
        </p:nvSpPr>
        <p:spPr>
          <a:xfrm>
            <a:off x="9753600" y="7829550"/>
            <a:ext cx="7279577" cy="289545"/>
          </a:xfrm>
          <a:prstGeom prst="rect">
            <a:avLst/>
          </a:prstGeom>
          <a:noFill/>
          <a:ln/>
        </p:spPr>
        <p:txBody>
          <a:bodyPr wrap="square" lIns="25400" tIns="25400" rIns="25400" bIns="25400" rtlCol="0" anchor="t">
            <a:normAutofit fontScale="92500" lnSpcReduction="20000"/>
          </a:bodyPr>
          <a:lstStyle/>
          <a:p>
            <a:pPr marL="0" indent="0" algn="l">
              <a:lnSpc>
                <a:spcPct val="103784"/>
              </a:lnSpc>
              <a:buNone/>
            </a:pPr>
            <a:r>
              <a:rPr lang="en-US" dirty="0">
                <a:solidFill>
                  <a:srgbClr val="8FB0E6"/>
                </a:solidFill>
                <a:latin typeface="Courier New" pitchFamily="34" charset="0"/>
                <a:ea typeface="Courier New" pitchFamily="34" charset="-122"/>
                <a:cs typeface="Courier New" pitchFamily="34" charset="-120"/>
              </a:rPr>
              <a:t>Result: the student still does the thinking.</a:t>
            </a:r>
            <a:endParaRPr lang="en-US" dirty="0"/>
          </a:p>
        </p:txBody>
      </p:sp>
      <p:sp>
        <p:nvSpPr>
          <p:cNvPr id="31" name="Text 29"/>
          <p:cNvSpPr/>
          <p:nvPr/>
        </p:nvSpPr>
        <p:spPr>
          <a:xfrm>
            <a:off x="1047750" y="9134475"/>
            <a:ext cx="18346103" cy="469553"/>
          </a:xfrm>
          <a:prstGeom prst="rect">
            <a:avLst/>
          </a:prstGeom>
          <a:noFill/>
          <a:ln/>
        </p:spPr>
        <p:txBody>
          <a:bodyPr wrap="square" lIns="25400" tIns="25400" rIns="25400" bIns="25400" rtlCol="0" anchor="t">
            <a:normAutofit/>
          </a:bodyPr>
          <a:lstStyle/>
          <a:p>
            <a:pPr>
              <a:lnSpc>
                <a:spcPct val="121946"/>
              </a:lnSpc>
            </a:pPr>
            <a:r>
              <a:rPr lang="en-US" sz="2250" dirty="0">
                <a:solidFill>
                  <a:srgbClr val="1E2430"/>
                </a:solidFill>
                <a:latin typeface="Arial" pitchFamily="34" charset="0"/>
                <a:ea typeface="Arial" pitchFamily="34" charset="-122"/>
                <a:cs typeface="Arial" pitchFamily="34" charset="-120"/>
              </a:rPr>
              <a:t>No tool today reads the page in real-time and says: </a:t>
            </a:r>
            <a:r>
              <a:rPr lang="en-US" sz="2250" b="1" u="sng" dirty="0">
                <a:solidFill>
                  <a:srgbClr val="1E2430"/>
                </a:solidFill>
                <a:latin typeface="Courier New" pitchFamily="34" charset="0"/>
                <a:ea typeface="Courier New" pitchFamily="34" charset="-122"/>
                <a:cs typeface="Courier New" pitchFamily="34" charset="-120"/>
              </a:rPr>
              <a:t>your mistake is on line 3</a:t>
            </a:r>
            <a:r>
              <a:rPr lang="en-US" sz="2250" b="1" u="sng" dirty="0">
                <a:solidFill>
                  <a:srgbClr val="1E2430"/>
                </a:solidFill>
                <a:latin typeface="Courier New" pitchFamily="34" charset="0"/>
                <a:cs typeface="Courier New" pitchFamily="34" charset="-120"/>
              </a:rPr>
              <a:t>, and it's a sign error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1047750" y="533400"/>
            <a:ext cx="144780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verity.ai</a:t>
            </a:r>
            <a:endParaRPr lang="en-US" sz="1650" dirty="0"/>
          </a:p>
        </p:txBody>
      </p:sp>
      <p:sp>
        <p:nvSpPr>
          <p:cNvPr id="3" name="Text 1"/>
          <p:cNvSpPr/>
          <p:nvPr/>
        </p:nvSpPr>
        <p:spPr>
          <a:xfrm>
            <a:off x="16687800" y="533400"/>
            <a:ext cx="70485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SAIL</a:t>
            </a:r>
            <a:endParaRPr lang="en-US" sz="1650" dirty="0"/>
          </a:p>
        </p:txBody>
      </p:sp>
      <p:sp>
        <p:nvSpPr>
          <p:cNvPr id="4" name="Text 2"/>
          <p:cNvSpPr/>
          <p:nvPr/>
        </p:nvSpPr>
        <p:spPr>
          <a:xfrm>
            <a:off x="1047750" y="857250"/>
            <a:ext cx="19592925" cy="266700"/>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500" b="1" dirty="0">
                <a:solidFill>
                  <a:srgbClr val="2E5AAC"/>
                </a:solidFill>
                <a:latin typeface="Courier New" pitchFamily="34" charset="0"/>
                <a:ea typeface="Courier New" pitchFamily="34" charset="-122"/>
                <a:cs typeface="Courier New" pitchFamily="34" charset="-120"/>
              </a:rPr>
              <a:t>ARCHITECTURE</a:t>
            </a:r>
            <a:endParaRPr lang="en-US" sz="1500" dirty="0"/>
          </a:p>
        </p:txBody>
      </p:sp>
      <p:sp>
        <p:nvSpPr>
          <p:cNvPr id="5" name="Text 3"/>
          <p:cNvSpPr/>
          <p:nvPr/>
        </p:nvSpPr>
        <p:spPr>
          <a:xfrm>
            <a:off x="1046246" y="1203484"/>
            <a:ext cx="9745580" cy="632445"/>
          </a:xfrm>
          <a:prstGeom prst="rect">
            <a:avLst/>
          </a:prstGeom>
          <a:noFill/>
          <a:ln/>
        </p:spPr>
        <p:txBody>
          <a:bodyPr wrap="square" lIns="25400" tIns="25400" rIns="25400" bIns="25400" rtlCol="0" anchor="t">
            <a:normAutofit/>
          </a:bodyPr>
          <a:lstStyle/>
          <a:p>
            <a:pPr>
              <a:lnSpc>
                <a:spcPct val="103784"/>
              </a:lnSpc>
            </a:pPr>
            <a:r>
              <a:rPr lang="en-US" sz="3600" b="1" dirty="0">
                <a:latin typeface="Arial" panose="020B0604020202020204" pitchFamily="34" charset="0"/>
                <a:cs typeface="Arial" panose="020B0604020202020204" pitchFamily="34" charset="0"/>
              </a:rPr>
              <a:t>From your pen to your hint, in five steps</a:t>
            </a:r>
          </a:p>
        </p:txBody>
      </p:sp>
      <p:grpSp>
        <p:nvGrpSpPr>
          <p:cNvPr id="57" name="Group 56">
            <a:extLst>
              <a:ext uri="{FF2B5EF4-FFF2-40B4-BE49-F238E27FC236}">
                <a16:creationId xmlns:a16="http://schemas.microsoft.com/office/drawing/2014/main" id="{0ECFFA04-8BE2-A0D6-9DBF-41FF75A200AB}"/>
              </a:ext>
            </a:extLst>
          </p:cNvPr>
          <p:cNvGrpSpPr/>
          <p:nvPr/>
        </p:nvGrpSpPr>
        <p:grpSpPr>
          <a:xfrm>
            <a:off x="220486" y="2286000"/>
            <a:ext cx="9998811" cy="4089053"/>
            <a:chOff x="1059714" y="2286000"/>
            <a:chExt cx="9998811" cy="4089053"/>
          </a:xfrm>
        </p:grpSpPr>
        <p:sp>
          <p:nvSpPr>
            <p:cNvPr id="6" name="Shape 4"/>
            <p:cNvSpPr/>
            <p:nvPr/>
          </p:nvSpPr>
          <p:spPr>
            <a:xfrm>
              <a:off x="1059714" y="2355503"/>
              <a:ext cx="2828925" cy="4019550"/>
            </a:xfrm>
            <a:prstGeom prst="roundRect">
              <a:avLst>
                <a:gd name="adj" fmla="val 4040"/>
              </a:avLst>
            </a:prstGeom>
            <a:solidFill>
              <a:srgbClr val="FFFFFF"/>
            </a:solidFill>
            <a:ln w="9525">
              <a:solidFill>
                <a:srgbClr val="D8D2C2"/>
              </a:solidFill>
              <a:prstDash val="solid"/>
            </a:ln>
            <a:effectLst>
              <a:outerShdw blurRad="266700" dist="114300" dir="5400000" algn="bl" rotWithShape="0">
                <a:srgbClr val="1E2430">
                  <a:alpha val="8000"/>
                </a:srgbClr>
              </a:outerShdw>
            </a:effectLst>
          </p:spPr>
          <p:txBody>
            <a:bodyPr/>
            <a:lstStyle/>
            <a:p>
              <a:endParaRPr lang="en-US"/>
            </a:p>
          </p:txBody>
        </p:sp>
        <p:sp>
          <p:nvSpPr>
            <p:cNvPr id="7" name="Text 5"/>
            <p:cNvSpPr/>
            <p:nvPr/>
          </p:nvSpPr>
          <p:spPr>
            <a:xfrm>
              <a:off x="1323975" y="2543175"/>
              <a:ext cx="2324100" cy="49530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3000" b="1" dirty="0">
                  <a:solidFill>
                    <a:srgbClr val="2E5AAC"/>
                  </a:solidFill>
                  <a:latin typeface="Courier New" pitchFamily="34" charset="0"/>
                  <a:ea typeface="Courier New" pitchFamily="34" charset="-122"/>
                  <a:cs typeface="Courier New" pitchFamily="34" charset="-120"/>
                </a:rPr>
                <a:t>01</a:t>
              </a:r>
              <a:endParaRPr lang="en-US" sz="3000" dirty="0"/>
            </a:p>
          </p:txBody>
        </p:sp>
        <p:sp>
          <p:nvSpPr>
            <p:cNvPr id="8" name="Text 6"/>
            <p:cNvSpPr/>
            <p:nvPr/>
          </p:nvSpPr>
          <p:spPr>
            <a:xfrm>
              <a:off x="1323975" y="3057525"/>
              <a:ext cx="2352675" cy="384795"/>
            </a:xfrm>
            <a:prstGeom prst="rect">
              <a:avLst/>
            </a:prstGeom>
            <a:noFill/>
            <a:ln/>
          </p:spPr>
          <p:txBody>
            <a:bodyPr wrap="square" lIns="25400" tIns="25400" rIns="25400" bIns="25400" rtlCol="0" anchor="t">
              <a:normAutofit lnSpcReduction="10000"/>
            </a:bodyPr>
            <a:lstStyle/>
            <a:p>
              <a:pPr marL="0" indent="0" algn="l">
                <a:lnSpc>
                  <a:spcPct val="112432"/>
                </a:lnSpc>
                <a:buNone/>
              </a:pPr>
              <a:r>
                <a:rPr lang="en-US" sz="2100" b="1" dirty="0">
                  <a:solidFill>
                    <a:srgbClr val="1E2430"/>
                  </a:solidFill>
                  <a:latin typeface="Arial" pitchFamily="34" charset="0"/>
                  <a:ea typeface="Arial" pitchFamily="34" charset="-122"/>
                  <a:cs typeface="Arial" pitchFamily="34" charset="-120"/>
                </a:rPr>
                <a:t>Ink capture</a:t>
              </a:r>
              <a:endParaRPr lang="en-US" sz="2100" dirty="0"/>
            </a:p>
          </p:txBody>
        </p:sp>
        <p:sp>
          <p:nvSpPr>
            <p:cNvPr id="9" name="Text 7"/>
            <p:cNvSpPr/>
            <p:nvPr/>
          </p:nvSpPr>
          <p:spPr>
            <a:xfrm>
              <a:off x="1285874" y="3630484"/>
              <a:ext cx="2352675" cy="1830810"/>
            </a:xfrm>
            <a:prstGeom prst="rect">
              <a:avLst/>
            </a:prstGeom>
            <a:noFill/>
            <a:ln/>
          </p:spPr>
          <p:txBody>
            <a:bodyPr wrap="square" lIns="25400" tIns="25400" rIns="25400" bIns="25400" rtlCol="0" anchor="t">
              <a:normAutofit fontScale="92500" lnSpcReduction="10000"/>
            </a:bodyPr>
            <a:lstStyle/>
            <a:p>
              <a:pPr marL="0" indent="0" algn="l">
                <a:lnSpc>
                  <a:spcPct val="129730"/>
                </a:lnSpc>
                <a:buNone/>
              </a:pPr>
              <a:r>
                <a:rPr lang="en-US" sz="2000" dirty="0">
                  <a:solidFill>
                    <a:srgbClr val="5B6472"/>
                  </a:solidFill>
                  <a:latin typeface="Arial" pitchFamily="34" charset="0"/>
                  <a:cs typeface="Arial" pitchFamily="34" charset="-120"/>
                </a:rPr>
                <a:t>Pointer Events record position, timing, and pressure. A pen lift ends the line.</a:t>
              </a:r>
            </a:p>
          </p:txBody>
        </p:sp>
        <p:sp>
          <p:nvSpPr>
            <p:cNvPr id="10" name="Text 8"/>
            <p:cNvSpPr/>
            <p:nvPr/>
          </p:nvSpPr>
          <p:spPr>
            <a:xfrm>
              <a:off x="1296373" y="5845925"/>
              <a:ext cx="2504123" cy="237158"/>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1275" b="1" dirty="0">
                  <a:solidFill>
                    <a:srgbClr val="2E5AAC"/>
                  </a:solidFill>
                  <a:latin typeface="Courier New" pitchFamily="34" charset="0"/>
                  <a:ea typeface="Courier New" pitchFamily="34" charset="-122"/>
                  <a:cs typeface="Courier New" pitchFamily="34" charset="-120"/>
                </a:rPr>
                <a:t>browser</a:t>
              </a:r>
              <a:endParaRPr lang="en-US" sz="1275" dirty="0"/>
            </a:p>
          </p:txBody>
        </p:sp>
        <p:sp>
          <p:nvSpPr>
            <p:cNvPr id="11" name="Text 9"/>
            <p:cNvSpPr/>
            <p:nvPr/>
          </p:nvSpPr>
          <p:spPr>
            <a:xfrm>
              <a:off x="3952875" y="3805237"/>
              <a:ext cx="419100" cy="428625"/>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1E2430"/>
                  </a:solidFill>
                  <a:latin typeface="Arial" pitchFamily="34" charset="0"/>
                  <a:ea typeface="Arial" pitchFamily="34" charset="-122"/>
                  <a:cs typeface="Arial" pitchFamily="34" charset="-120"/>
                </a:rPr>
                <a:t>→</a:t>
              </a:r>
              <a:endParaRPr lang="en-US" sz="2700" dirty="0"/>
            </a:p>
          </p:txBody>
        </p:sp>
        <p:sp>
          <p:nvSpPr>
            <p:cNvPr id="12" name="Shape 10"/>
            <p:cNvSpPr/>
            <p:nvPr/>
          </p:nvSpPr>
          <p:spPr>
            <a:xfrm>
              <a:off x="4391025" y="2286000"/>
              <a:ext cx="2828925" cy="4019550"/>
            </a:xfrm>
            <a:prstGeom prst="roundRect">
              <a:avLst>
                <a:gd name="adj" fmla="val 4040"/>
              </a:avLst>
            </a:prstGeom>
            <a:solidFill>
              <a:srgbClr val="FFFFFF"/>
            </a:solidFill>
            <a:ln w="9525">
              <a:solidFill>
                <a:srgbClr val="D8D2C2"/>
              </a:solidFill>
              <a:prstDash val="solid"/>
            </a:ln>
            <a:effectLst>
              <a:outerShdw blurRad="266700" dist="114300" dir="5400000" algn="bl" rotWithShape="0">
                <a:srgbClr val="1E2430">
                  <a:alpha val="8000"/>
                </a:srgbClr>
              </a:outerShdw>
            </a:effectLst>
          </p:spPr>
          <p:txBody>
            <a:bodyPr/>
            <a:lstStyle/>
            <a:p>
              <a:endParaRPr lang="en-US"/>
            </a:p>
          </p:txBody>
        </p:sp>
        <p:sp>
          <p:nvSpPr>
            <p:cNvPr id="13" name="Text 11"/>
            <p:cNvSpPr/>
            <p:nvPr/>
          </p:nvSpPr>
          <p:spPr>
            <a:xfrm>
              <a:off x="4667250" y="2543175"/>
              <a:ext cx="2324100" cy="49530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3000" b="1" dirty="0">
                  <a:solidFill>
                    <a:srgbClr val="2E5AAC"/>
                  </a:solidFill>
                  <a:latin typeface="Courier New" pitchFamily="34" charset="0"/>
                  <a:ea typeface="Courier New" pitchFamily="34" charset="-122"/>
                  <a:cs typeface="Courier New" pitchFamily="34" charset="-120"/>
                </a:rPr>
                <a:t>02</a:t>
              </a:r>
              <a:endParaRPr lang="en-US" sz="3000" dirty="0"/>
            </a:p>
          </p:txBody>
        </p:sp>
        <p:sp>
          <p:nvSpPr>
            <p:cNvPr id="14" name="Text 12"/>
            <p:cNvSpPr/>
            <p:nvPr/>
          </p:nvSpPr>
          <p:spPr>
            <a:xfrm>
              <a:off x="4667250" y="3057525"/>
              <a:ext cx="2352675" cy="731490"/>
            </a:xfrm>
            <a:prstGeom prst="rect">
              <a:avLst/>
            </a:prstGeom>
            <a:noFill/>
            <a:ln/>
          </p:spPr>
          <p:txBody>
            <a:bodyPr wrap="square" lIns="25400" tIns="25400" rIns="25400" bIns="25400" rtlCol="0" anchor="t">
              <a:normAutofit lnSpcReduction="10000"/>
            </a:bodyPr>
            <a:lstStyle/>
            <a:p>
              <a:pPr marL="0" indent="0" algn="l">
                <a:lnSpc>
                  <a:spcPct val="112432"/>
                </a:lnSpc>
                <a:buNone/>
              </a:pPr>
              <a:r>
                <a:rPr lang="en-US" sz="2100" b="1" dirty="0">
                  <a:solidFill>
                    <a:srgbClr val="1E2430"/>
                  </a:solidFill>
                  <a:latin typeface="Arial" pitchFamily="34" charset="0"/>
                  <a:ea typeface="Arial" pitchFamily="34" charset="-122"/>
                  <a:cs typeface="Arial" pitchFamily="34" charset="-120"/>
                </a:rPr>
                <a:t>Line segmentation</a:t>
              </a:r>
              <a:endParaRPr lang="en-US" sz="2100" dirty="0"/>
            </a:p>
          </p:txBody>
        </p:sp>
        <p:sp>
          <p:nvSpPr>
            <p:cNvPr id="15" name="Text 13"/>
            <p:cNvSpPr/>
            <p:nvPr/>
          </p:nvSpPr>
          <p:spPr>
            <a:xfrm>
              <a:off x="4667250" y="3781425"/>
              <a:ext cx="2352675" cy="1830810"/>
            </a:xfrm>
            <a:prstGeom prst="rect">
              <a:avLst/>
            </a:prstGeom>
            <a:noFill/>
            <a:ln/>
          </p:spPr>
          <p:txBody>
            <a:bodyPr wrap="square" lIns="25400" tIns="25400" rIns="25400" bIns="25400" rtlCol="0" anchor="t">
              <a:normAutofit/>
            </a:bodyPr>
            <a:lstStyle/>
            <a:p>
              <a:pPr marL="0" indent="0" algn="l">
                <a:lnSpc>
                  <a:spcPct val="129730"/>
                </a:lnSpc>
                <a:buNone/>
              </a:pPr>
              <a:r>
                <a:rPr lang="en-US" sz="1900" dirty="0">
                  <a:solidFill>
                    <a:srgbClr val="5B6472"/>
                  </a:solidFill>
                  <a:latin typeface="Arial" pitchFamily="34" charset="0"/>
                  <a:ea typeface="Arial" pitchFamily="34" charset="-122"/>
                  <a:cs typeface="Arial" pitchFamily="34" charset="-120"/>
                </a:rPr>
                <a:t>Strokes are grouped into ruled rows, then cropped to a clean per-line image.</a:t>
              </a:r>
              <a:endParaRPr lang="en-US" sz="1900" dirty="0"/>
            </a:p>
          </p:txBody>
        </p:sp>
        <p:sp>
          <p:nvSpPr>
            <p:cNvPr id="16" name="Text 14"/>
            <p:cNvSpPr/>
            <p:nvPr/>
          </p:nvSpPr>
          <p:spPr>
            <a:xfrm>
              <a:off x="4599774" y="5845959"/>
              <a:ext cx="2504123" cy="237158"/>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1275" b="1" dirty="0">
                  <a:solidFill>
                    <a:srgbClr val="2E5AAC"/>
                  </a:solidFill>
                  <a:latin typeface="Courier New" pitchFamily="34" charset="0"/>
                  <a:ea typeface="Courier New" pitchFamily="34" charset="-122"/>
                  <a:cs typeface="Courier New" pitchFamily="34" charset="-120"/>
                </a:rPr>
                <a:t>canvas</a:t>
              </a:r>
              <a:endParaRPr lang="en-US" sz="1275" dirty="0"/>
            </a:p>
          </p:txBody>
        </p:sp>
        <p:sp>
          <p:nvSpPr>
            <p:cNvPr id="17" name="Text 15"/>
            <p:cNvSpPr/>
            <p:nvPr/>
          </p:nvSpPr>
          <p:spPr>
            <a:xfrm>
              <a:off x="7296150" y="3805237"/>
              <a:ext cx="419100" cy="428625"/>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1E2430"/>
                  </a:solidFill>
                  <a:latin typeface="Arial" pitchFamily="34" charset="0"/>
                  <a:ea typeface="Arial" pitchFamily="34" charset="-122"/>
                  <a:cs typeface="Arial" pitchFamily="34" charset="-120"/>
                </a:rPr>
                <a:t>→</a:t>
              </a:r>
              <a:endParaRPr lang="en-US" sz="2700" dirty="0"/>
            </a:p>
          </p:txBody>
        </p:sp>
        <p:sp>
          <p:nvSpPr>
            <p:cNvPr id="18" name="Shape 16"/>
            <p:cNvSpPr/>
            <p:nvPr/>
          </p:nvSpPr>
          <p:spPr>
            <a:xfrm>
              <a:off x="7734300" y="2286000"/>
              <a:ext cx="2828925" cy="4019550"/>
            </a:xfrm>
            <a:prstGeom prst="roundRect">
              <a:avLst>
                <a:gd name="adj" fmla="val 4040"/>
              </a:avLst>
            </a:prstGeom>
            <a:solidFill>
              <a:srgbClr val="FFFFFF"/>
            </a:solidFill>
            <a:ln w="9525">
              <a:solidFill>
                <a:srgbClr val="D8D2C2"/>
              </a:solidFill>
              <a:prstDash val="solid"/>
            </a:ln>
            <a:effectLst>
              <a:outerShdw blurRad="266700" dist="114300" dir="5400000" algn="bl" rotWithShape="0">
                <a:srgbClr val="1E2430">
                  <a:alpha val="8000"/>
                </a:srgbClr>
              </a:outerShdw>
            </a:effectLst>
          </p:spPr>
          <p:txBody>
            <a:bodyPr/>
            <a:lstStyle/>
            <a:p>
              <a:endParaRPr lang="en-US"/>
            </a:p>
          </p:txBody>
        </p:sp>
        <p:sp>
          <p:nvSpPr>
            <p:cNvPr id="19" name="Text 17"/>
            <p:cNvSpPr/>
            <p:nvPr/>
          </p:nvSpPr>
          <p:spPr>
            <a:xfrm>
              <a:off x="8010525" y="2543175"/>
              <a:ext cx="2324100" cy="49530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3000" b="1" dirty="0">
                  <a:solidFill>
                    <a:srgbClr val="C0432F"/>
                  </a:solidFill>
                  <a:latin typeface="Courier New" pitchFamily="34" charset="0"/>
                  <a:ea typeface="Courier New" pitchFamily="34" charset="-122"/>
                  <a:cs typeface="Courier New" pitchFamily="34" charset="-120"/>
                </a:rPr>
                <a:t>03</a:t>
              </a:r>
              <a:endParaRPr lang="en-US" sz="3000" dirty="0"/>
            </a:p>
          </p:txBody>
        </p:sp>
        <p:sp>
          <p:nvSpPr>
            <p:cNvPr id="20" name="Text 18"/>
            <p:cNvSpPr/>
            <p:nvPr/>
          </p:nvSpPr>
          <p:spPr>
            <a:xfrm>
              <a:off x="8010525" y="3057525"/>
              <a:ext cx="2352675" cy="384795"/>
            </a:xfrm>
            <a:prstGeom prst="rect">
              <a:avLst/>
            </a:prstGeom>
            <a:noFill/>
            <a:ln/>
          </p:spPr>
          <p:txBody>
            <a:bodyPr wrap="square" lIns="25400" tIns="25400" rIns="25400" bIns="25400" rtlCol="0" anchor="t">
              <a:normAutofit lnSpcReduction="10000"/>
            </a:bodyPr>
            <a:lstStyle/>
            <a:p>
              <a:pPr marL="0" indent="0" algn="l">
                <a:lnSpc>
                  <a:spcPct val="112432"/>
                </a:lnSpc>
                <a:buNone/>
              </a:pPr>
              <a:r>
                <a:rPr lang="en-US" sz="2100" b="1" dirty="0">
                  <a:solidFill>
                    <a:srgbClr val="1E2430"/>
                  </a:solidFill>
                  <a:latin typeface="Arial" pitchFamily="34" charset="0"/>
                  <a:ea typeface="Arial" pitchFamily="34" charset="-122"/>
                  <a:cs typeface="Arial" pitchFamily="34" charset="-120"/>
                </a:rPr>
                <a:t>Transcription</a:t>
              </a:r>
              <a:endParaRPr lang="en-US" sz="2100" dirty="0"/>
            </a:p>
          </p:txBody>
        </p:sp>
        <p:sp>
          <p:nvSpPr>
            <p:cNvPr id="21" name="Text 19"/>
            <p:cNvSpPr/>
            <p:nvPr/>
          </p:nvSpPr>
          <p:spPr>
            <a:xfrm>
              <a:off x="7862772" y="3546883"/>
              <a:ext cx="2624274" cy="1830810"/>
            </a:xfrm>
            <a:prstGeom prst="rect">
              <a:avLst/>
            </a:prstGeom>
            <a:noFill/>
            <a:ln/>
          </p:spPr>
          <p:txBody>
            <a:bodyPr wrap="square" lIns="25400" tIns="25400" rIns="25400" bIns="25400" rtlCol="0" anchor="t">
              <a:noAutofit/>
            </a:bodyPr>
            <a:lstStyle/>
            <a:p>
              <a:pPr>
                <a:lnSpc>
                  <a:spcPct val="120000"/>
                </a:lnSpc>
              </a:pPr>
              <a:r>
                <a:rPr lang="en-US" sz="1900" dirty="0">
                  <a:solidFill>
                    <a:srgbClr val="5B6472"/>
                  </a:solidFill>
                  <a:latin typeface="Arial" pitchFamily="34" charset="0"/>
                  <a:cs typeface="Arial" pitchFamily="34" charset="-120"/>
                </a:rPr>
                <a:t>Gemini turns the image into text the checker can use: an equation for math, a structure for chemistry. It only reads. It never judges. </a:t>
              </a:r>
              <a:br>
                <a:rPr lang="en-US" sz="1900" dirty="0">
                  <a:solidFill>
                    <a:srgbClr val="5B6472"/>
                  </a:solidFill>
                  <a:latin typeface="Arial" pitchFamily="34" charset="0"/>
                  <a:cs typeface="Arial" pitchFamily="34" charset="-120"/>
                </a:rPr>
              </a:br>
              <a:endParaRPr lang="en-US" sz="1900" dirty="0">
                <a:solidFill>
                  <a:srgbClr val="5B6472"/>
                </a:solidFill>
                <a:latin typeface="Arial" pitchFamily="34" charset="0"/>
                <a:cs typeface="Arial" pitchFamily="34" charset="-120"/>
              </a:endParaRPr>
            </a:p>
          </p:txBody>
        </p:sp>
        <p:sp>
          <p:nvSpPr>
            <p:cNvPr id="22" name="Text 20"/>
            <p:cNvSpPr/>
            <p:nvPr/>
          </p:nvSpPr>
          <p:spPr>
            <a:xfrm>
              <a:off x="7896700" y="5835536"/>
              <a:ext cx="2504123" cy="237158"/>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1275" b="1" dirty="0">
                  <a:solidFill>
                    <a:srgbClr val="C0432F"/>
                  </a:solidFill>
                  <a:latin typeface="Courier New" pitchFamily="34" charset="0"/>
                  <a:ea typeface="Courier New" pitchFamily="34" charset="-122"/>
                  <a:cs typeface="Courier New" pitchFamily="34" charset="-120"/>
                </a:rPr>
                <a:t>Gemini 2.5 Flash</a:t>
              </a:r>
              <a:endParaRPr lang="en-US" sz="1275" dirty="0"/>
            </a:p>
          </p:txBody>
        </p:sp>
        <p:sp>
          <p:nvSpPr>
            <p:cNvPr id="23" name="Text 21"/>
            <p:cNvSpPr/>
            <p:nvPr/>
          </p:nvSpPr>
          <p:spPr>
            <a:xfrm>
              <a:off x="10639425" y="3805237"/>
              <a:ext cx="419100" cy="428625"/>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1E2430"/>
                  </a:solidFill>
                  <a:latin typeface="Arial" pitchFamily="34" charset="0"/>
                  <a:ea typeface="Arial" pitchFamily="34" charset="-122"/>
                  <a:cs typeface="Arial" pitchFamily="34" charset="-120"/>
                </a:rPr>
                <a:t>→</a:t>
              </a:r>
              <a:endParaRPr lang="en-US" sz="2700" dirty="0"/>
            </a:p>
          </p:txBody>
        </p:sp>
      </p:grpSp>
      <p:grpSp>
        <p:nvGrpSpPr>
          <p:cNvPr id="58" name="Group 57">
            <a:extLst>
              <a:ext uri="{FF2B5EF4-FFF2-40B4-BE49-F238E27FC236}">
                <a16:creationId xmlns:a16="http://schemas.microsoft.com/office/drawing/2014/main" id="{3D9F36E8-A207-2127-C99F-EABC062B510E}"/>
              </a:ext>
            </a:extLst>
          </p:cNvPr>
          <p:cNvGrpSpPr/>
          <p:nvPr/>
        </p:nvGrpSpPr>
        <p:grpSpPr>
          <a:xfrm>
            <a:off x="14762852" y="2269805"/>
            <a:ext cx="3267075" cy="4019550"/>
            <a:chOff x="13982700" y="2286000"/>
            <a:chExt cx="3267075" cy="4019550"/>
          </a:xfrm>
        </p:grpSpPr>
        <p:sp>
          <p:nvSpPr>
            <p:cNvPr id="29" name="Text 27"/>
            <p:cNvSpPr/>
            <p:nvPr/>
          </p:nvSpPr>
          <p:spPr>
            <a:xfrm>
              <a:off x="13982700" y="3805237"/>
              <a:ext cx="419100" cy="428625"/>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1E2430"/>
                  </a:solidFill>
                  <a:latin typeface="Arial" pitchFamily="34" charset="0"/>
                  <a:ea typeface="Arial" pitchFamily="34" charset="-122"/>
                  <a:cs typeface="Arial" pitchFamily="34" charset="-120"/>
                </a:rPr>
                <a:t>→</a:t>
              </a:r>
              <a:endParaRPr lang="en-US" sz="2700" dirty="0"/>
            </a:p>
          </p:txBody>
        </p:sp>
        <p:sp>
          <p:nvSpPr>
            <p:cNvPr id="30" name="Shape 28"/>
            <p:cNvSpPr/>
            <p:nvPr/>
          </p:nvSpPr>
          <p:spPr>
            <a:xfrm>
              <a:off x="14420850" y="2286000"/>
              <a:ext cx="2828925" cy="4019550"/>
            </a:xfrm>
            <a:prstGeom prst="roundRect">
              <a:avLst>
                <a:gd name="adj" fmla="val 4040"/>
              </a:avLst>
            </a:prstGeom>
            <a:solidFill>
              <a:srgbClr val="FFFFFF"/>
            </a:solidFill>
            <a:ln w="9525">
              <a:solidFill>
                <a:srgbClr val="D8D2C2"/>
              </a:solidFill>
              <a:prstDash val="solid"/>
            </a:ln>
            <a:effectLst>
              <a:outerShdw blurRad="266700" dist="114300" dir="5400000" algn="bl" rotWithShape="0">
                <a:srgbClr val="1E2430">
                  <a:alpha val="8000"/>
                </a:srgbClr>
              </a:outerShdw>
            </a:effectLst>
          </p:spPr>
          <p:txBody>
            <a:bodyPr/>
            <a:lstStyle/>
            <a:p>
              <a:endParaRPr lang="en-US"/>
            </a:p>
          </p:txBody>
        </p:sp>
        <p:sp>
          <p:nvSpPr>
            <p:cNvPr id="31" name="Text 29"/>
            <p:cNvSpPr/>
            <p:nvPr/>
          </p:nvSpPr>
          <p:spPr>
            <a:xfrm>
              <a:off x="14697075" y="2543175"/>
              <a:ext cx="2324100" cy="49530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3000" b="1" dirty="0">
                  <a:solidFill>
                    <a:srgbClr val="2E5AAC"/>
                  </a:solidFill>
                  <a:latin typeface="Courier New" pitchFamily="34" charset="0"/>
                  <a:ea typeface="Courier New" pitchFamily="34" charset="-122"/>
                  <a:cs typeface="Courier New" pitchFamily="34" charset="-120"/>
                </a:rPr>
                <a:t>05</a:t>
              </a:r>
              <a:endParaRPr lang="en-US" sz="3000" dirty="0"/>
            </a:p>
          </p:txBody>
        </p:sp>
        <p:sp>
          <p:nvSpPr>
            <p:cNvPr id="32" name="Text 30"/>
            <p:cNvSpPr/>
            <p:nvPr/>
          </p:nvSpPr>
          <p:spPr>
            <a:xfrm>
              <a:off x="14697075" y="3057525"/>
              <a:ext cx="2352675" cy="384795"/>
            </a:xfrm>
            <a:prstGeom prst="rect">
              <a:avLst/>
            </a:prstGeom>
            <a:noFill/>
            <a:ln/>
          </p:spPr>
          <p:txBody>
            <a:bodyPr wrap="square" lIns="25400" tIns="25400" rIns="25400" bIns="25400" rtlCol="0" anchor="t">
              <a:normAutofit lnSpcReduction="10000"/>
            </a:bodyPr>
            <a:lstStyle/>
            <a:p>
              <a:pPr marL="0" indent="0" algn="l">
                <a:lnSpc>
                  <a:spcPct val="112432"/>
                </a:lnSpc>
                <a:buNone/>
              </a:pPr>
              <a:r>
                <a:rPr lang="en-US" sz="2100" b="1" dirty="0">
                  <a:solidFill>
                    <a:srgbClr val="1E2430"/>
                  </a:solidFill>
                  <a:latin typeface="Arial" pitchFamily="34" charset="0"/>
                  <a:ea typeface="Arial" pitchFamily="34" charset="-122"/>
                  <a:cs typeface="Arial" pitchFamily="34" charset="-120"/>
                </a:rPr>
                <a:t>Hint</a:t>
              </a:r>
              <a:endParaRPr lang="en-US" sz="2100" dirty="0"/>
            </a:p>
          </p:txBody>
        </p:sp>
        <p:sp>
          <p:nvSpPr>
            <p:cNvPr id="33" name="Text 31"/>
            <p:cNvSpPr/>
            <p:nvPr/>
          </p:nvSpPr>
          <p:spPr>
            <a:xfrm>
              <a:off x="14656582" y="3419822"/>
              <a:ext cx="2433659" cy="1993778"/>
            </a:xfrm>
            <a:prstGeom prst="rect">
              <a:avLst/>
            </a:prstGeom>
            <a:noFill/>
            <a:ln/>
          </p:spPr>
          <p:txBody>
            <a:bodyPr wrap="square" lIns="25400" tIns="25400" rIns="25400" bIns="25400" rtlCol="0" anchor="t">
              <a:noAutofit/>
            </a:bodyPr>
            <a:lstStyle/>
            <a:p>
              <a:pPr>
                <a:lnSpc>
                  <a:spcPct val="120000"/>
                </a:lnSpc>
              </a:pPr>
              <a:r>
                <a:rPr lang="en-US" dirty="0">
                  <a:solidFill>
                    <a:srgbClr val="5B6472"/>
                  </a:solidFill>
                  <a:latin typeface="Arial" pitchFamily="34" charset="0"/>
                  <a:cs typeface="Arial" pitchFamily="34" charset="-120"/>
                </a:rPr>
                <a:t>Three levels, and only when you ask for them. Every hint is checked against the answer we already know, and blocked if it gives it away. </a:t>
              </a:r>
              <a:br>
                <a:rPr lang="en-US" dirty="0"/>
              </a:br>
              <a:endParaRPr lang="en-US" dirty="0"/>
            </a:p>
          </p:txBody>
        </p:sp>
        <p:sp>
          <p:nvSpPr>
            <p:cNvPr id="34" name="Text 32"/>
            <p:cNvSpPr/>
            <p:nvPr/>
          </p:nvSpPr>
          <p:spPr>
            <a:xfrm>
              <a:off x="14621349" y="5862154"/>
              <a:ext cx="2504123" cy="237158"/>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1275" b="1" dirty="0">
                  <a:solidFill>
                    <a:srgbClr val="2E5AAC"/>
                  </a:solidFill>
                  <a:latin typeface="Courier New" pitchFamily="34" charset="0"/>
                  <a:ea typeface="Courier New" pitchFamily="34" charset="-122"/>
                  <a:cs typeface="Courier New" pitchFamily="34" charset="-120"/>
                </a:rPr>
                <a:t>deterministic</a:t>
              </a:r>
              <a:endParaRPr lang="en-US" sz="1275" dirty="0"/>
            </a:p>
          </p:txBody>
        </p:sp>
      </p:grpSp>
      <p:sp>
        <p:nvSpPr>
          <p:cNvPr id="35" name="Shape 33"/>
          <p:cNvSpPr/>
          <p:nvPr/>
        </p:nvSpPr>
        <p:spPr>
          <a:xfrm>
            <a:off x="847725" y="8001000"/>
            <a:ext cx="9515475" cy="1504950"/>
          </a:xfrm>
          <a:prstGeom prst="roundRect">
            <a:avLst>
              <a:gd name="adj" fmla="val 2532"/>
            </a:avLst>
          </a:prstGeom>
          <a:solidFill>
            <a:srgbClr val="E7EDF8"/>
          </a:solidFill>
          <a:ln/>
        </p:spPr>
        <p:txBody>
          <a:bodyPr/>
          <a:lstStyle/>
          <a:p>
            <a:endParaRPr lang="en-US"/>
          </a:p>
        </p:txBody>
      </p:sp>
      <p:sp>
        <p:nvSpPr>
          <p:cNvPr id="36" name="Text 34"/>
          <p:cNvSpPr/>
          <p:nvPr/>
        </p:nvSpPr>
        <p:spPr>
          <a:xfrm>
            <a:off x="929766" y="8109102"/>
            <a:ext cx="9388888" cy="1200106"/>
          </a:xfrm>
          <a:prstGeom prst="rect">
            <a:avLst/>
          </a:prstGeom>
          <a:noFill/>
          <a:ln/>
        </p:spPr>
        <p:txBody>
          <a:bodyPr wrap="square" lIns="25400" tIns="25400" rIns="25400" bIns="25400" rtlCol="0" anchor="t">
            <a:noAutofit/>
          </a:bodyPr>
          <a:lstStyle/>
          <a:p>
            <a:pPr>
              <a:lnSpc>
                <a:spcPct val="120000"/>
              </a:lnSpc>
            </a:pPr>
            <a:r>
              <a:rPr lang="en-US" sz="2400" b="1" dirty="0">
                <a:solidFill>
                  <a:srgbClr val="1E2430"/>
                </a:solidFill>
                <a:latin typeface="Arial" panose="020B0604020202020204" pitchFamily="34" charset="0"/>
                <a:ea typeface="Arial" pitchFamily="34" charset="-122"/>
                <a:cs typeface="Arial" panose="020B0604020202020204" pitchFamily="34" charset="0"/>
              </a:rPr>
              <a:t>The rule that makes it trustworthy: </a:t>
            </a:r>
            <a:r>
              <a:rPr lang="en-US" sz="2400" dirty="0">
                <a:solidFill>
                  <a:srgbClr val="5B6472"/>
                </a:solidFill>
                <a:latin typeface="Arial" panose="020B0604020202020204" pitchFamily="34" charset="0"/>
                <a:cs typeface="Arial" panose="020B0604020202020204" pitchFamily="34" charset="0"/>
              </a:rPr>
              <a:t>when an engine can prove your line, it decides. When only AI can judge it, we label it so you know which one spoke.</a:t>
            </a:r>
          </a:p>
          <a:p>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
        <p:nvSpPr>
          <p:cNvPr id="37" name="Shape 35"/>
          <p:cNvSpPr/>
          <p:nvPr/>
        </p:nvSpPr>
        <p:spPr>
          <a:xfrm>
            <a:off x="10791825" y="8020050"/>
            <a:ext cx="6467475" cy="1524000"/>
          </a:xfrm>
          <a:prstGeom prst="roundRect">
            <a:avLst>
              <a:gd name="adj" fmla="val 2500"/>
            </a:avLst>
          </a:prstGeom>
          <a:solidFill>
            <a:srgbClr val="FFFFFF"/>
          </a:solidFill>
          <a:ln w="9525">
            <a:solidFill>
              <a:srgbClr val="D8D2C2"/>
            </a:solidFill>
            <a:prstDash val="solid"/>
          </a:ln>
        </p:spPr>
        <p:txBody>
          <a:bodyPr/>
          <a:lstStyle/>
          <a:p>
            <a:endParaRPr lang="en-US"/>
          </a:p>
        </p:txBody>
      </p:sp>
      <p:sp>
        <p:nvSpPr>
          <p:cNvPr id="38" name="Text 36"/>
          <p:cNvSpPr/>
          <p:nvPr/>
        </p:nvSpPr>
        <p:spPr>
          <a:xfrm>
            <a:off x="11144250" y="8244916"/>
            <a:ext cx="6946583" cy="255240"/>
          </a:xfrm>
          <a:prstGeom prst="rect">
            <a:avLst/>
          </a:prstGeom>
          <a:noFill/>
          <a:ln/>
        </p:spPr>
        <p:txBody>
          <a:bodyPr wrap="square" lIns="25400" tIns="25400" rIns="25400" bIns="25400" rtlCol="0" anchor="t">
            <a:noAutofit/>
          </a:bodyPr>
          <a:lstStyle/>
          <a:p>
            <a:pPr marL="0" indent="0" algn="l">
              <a:lnSpc>
                <a:spcPct val="103784"/>
              </a:lnSpc>
              <a:buNone/>
            </a:pPr>
            <a:r>
              <a:rPr lang="en-US" dirty="0">
                <a:solidFill>
                  <a:srgbClr val="5B6472"/>
                </a:solidFill>
                <a:latin typeface="Courier New" pitchFamily="34" charset="0"/>
                <a:ea typeface="Courier New" pitchFamily="34" charset="-122"/>
                <a:cs typeface="Courier New" pitchFamily="34" charset="-120"/>
              </a:rPr>
              <a:t>CHECK ON PEN LIFT, NOT PER STROKE</a:t>
            </a:r>
            <a:endParaRPr lang="en-US" dirty="0"/>
          </a:p>
        </p:txBody>
      </p:sp>
      <p:sp>
        <p:nvSpPr>
          <p:cNvPr id="39" name="Text 37"/>
          <p:cNvSpPr/>
          <p:nvPr/>
        </p:nvSpPr>
        <p:spPr>
          <a:xfrm>
            <a:off x="11022575" y="8518377"/>
            <a:ext cx="6092476" cy="658267"/>
          </a:xfrm>
          <a:prstGeom prst="rect">
            <a:avLst/>
          </a:prstGeom>
          <a:noFill/>
          <a:ln/>
        </p:spPr>
        <p:txBody>
          <a:bodyPr wrap="square" lIns="25400" tIns="25400" rIns="25400" bIns="25400" rtlCol="0" anchor="t">
            <a:noAutofit/>
          </a:bodyPr>
          <a:lstStyle/>
          <a:p>
            <a:pPr marL="0" indent="0" algn="l">
              <a:lnSpc>
                <a:spcPct val="128000"/>
              </a:lnSpc>
              <a:buNone/>
            </a:pPr>
            <a:r>
              <a:rPr lang="en-US" sz="2000" dirty="0">
                <a:solidFill>
                  <a:srgbClr val="1E2430"/>
                </a:solidFill>
                <a:latin typeface="Arial" pitchFamily="34" charset="0"/>
                <a:ea typeface="Arial" pitchFamily="34" charset="-122"/>
                <a:cs typeface="Arial" pitchFamily="34" charset="-120"/>
              </a:rPr>
              <a:t>One round trip per finished line is the design choice that keeps latency low.</a:t>
            </a:r>
            <a:endParaRPr lang="en-US" sz="2000" dirty="0"/>
          </a:p>
        </p:txBody>
      </p:sp>
      <p:grpSp>
        <p:nvGrpSpPr>
          <p:cNvPr id="40" name="Group 39">
            <a:extLst>
              <a:ext uri="{FF2B5EF4-FFF2-40B4-BE49-F238E27FC236}">
                <a16:creationId xmlns:a16="http://schemas.microsoft.com/office/drawing/2014/main" id="{605FA181-E178-D497-C05E-936D99414D2C}"/>
              </a:ext>
            </a:extLst>
          </p:cNvPr>
          <p:cNvGrpSpPr/>
          <p:nvPr/>
        </p:nvGrpSpPr>
        <p:grpSpPr>
          <a:xfrm>
            <a:off x="10495673" y="1716435"/>
            <a:ext cx="4240530" cy="5010150"/>
            <a:chOff x="10134600" y="2114550"/>
            <a:chExt cx="4240530" cy="5010150"/>
          </a:xfrm>
        </p:grpSpPr>
        <p:sp>
          <p:nvSpPr>
            <p:cNvPr id="41" name="Shape 22">
              <a:extLst>
                <a:ext uri="{FF2B5EF4-FFF2-40B4-BE49-F238E27FC236}">
                  <a16:creationId xmlns:a16="http://schemas.microsoft.com/office/drawing/2014/main" id="{4CA16319-0716-E155-EA03-76E320BEA882}"/>
                </a:ext>
              </a:extLst>
            </p:cNvPr>
            <p:cNvSpPr/>
            <p:nvPr/>
          </p:nvSpPr>
          <p:spPr>
            <a:xfrm>
              <a:off x="10134600" y="2114550"/>
              <a:ext cx="4114800" cy="5010150"/>
            </a:xfrm>
            <a:prstGeom prst="roundRect">
              <a:avLst>
                <a:gd name="adj" fmla="val 2778"/>
              </a:avLst>
            </a:prstGeom>
            <a:solidFill>
              <a:srgbClr val="FFFFFF"/>
            </a:solidFill>
            <a:ln w="9525">
              <a:solidFill>
                <a:srgbClr val="D8D2C2"/>
              </a:solidFill>
              <a:prstDash val="solid"/>
            </a:ln>
          </p:spPr>
          <p:txBody>
            <a:bodyPr/>
            <a:lstStyle/>
            <a:p>
              <a:endParaRPr lang="en-US"/>
            </a:p>
          </p:txBody>
        </p:sp>
        <p:sp>
          <p:nvSpPr>
            <p:cNvPr id="42" name="Text 23">
              <a:extLst>
                <a:ext uri="{FF2B5EF4-FFF2-40B4-BE49-F238E27FC236}">
                  <a16:creationId xmlns:a16="http://schemas.microsoft.com/office/drawing/2014/main" id="{E717D7F3-2823-C641-9386-DD7D819E63B5}"/>
                </a:ext>
              </a:extLst>
            </p:cNvPr>
            <p:cNvSpPr/>
            <p:nvPr/>
          </p:nvSpPr>
          <p:spPr>
            <a:xfrm>
              <a:off x="10372725" y="2352675"/>
              <a:ext cx="533474" cy="471488"/>
            </a:xfrm>
            <a:prstGeom prst="rect">
              <a:avLst/>
            </a:prstGeom>
            <a:noFill/>
            <a:ln/>
          </p:spPr>
          <p:txBody>
            <a:bodyPr wrap="square" lIns="25400" tIns="25400" rIns="25400" bIns="25400" rtlCol="0" anchor="t">
              <a:normAutofit fontScale="92500" lnSpcReduction="10000"/>
            </a:bodyPr>
            <a:lstStyle/>
            <a:p>
              <a:pPr marL="0" indent="0" algn="l">
                <a:buNone/>
              </a:pPr>
              <a:r>
                <a:rPr lang="en-US" sz="3000" b="1" dirty="0">
                  <a:solidFill>
                    <a:srgbClr val="2E5AAC"/>
                  </a:solidFill>
                  <a:latin typeface="Courier New" pitchFamily="34" charset="0"/>
                  <a:ea typeface="Courier New" pitchFamily="34" charset="-122"/>
                  <a:cs typeface="Courier New" pitchFamily="34" charset="-120"/>
                </a:rPr>
                <a:t>04</a:t>
              </a:r>
              <a:endParaRPr lang="en-US" sz="3000" dirty="0"/>
            </a:p>
          </p:txBody>
        </p:sp>
        <p:sp>
          <p:nvSpPr>
            <p:cNvPr id="43" name="Text 24">
              <a:extLst>
                <a:ext uri="{FF2B5EF4-FFF2-40B4-BE49-F238E27FC236}">
                  <a16:creationId xmlns:a16="http://schemas.microsoft.com/office/drawing/2014/main" id="{DFBE889B-BFDC-EA4B-BE6B-19D071449C5E}"/>
                </a:ext>
              </a:extLst>
            </p:cNvPr>
            <p:cNvSpPr/>
            <p:nvPr/>
          </p:nvSpPr>
          <p:spPr>
            <a:xfrm>
              <a:off x="13121804" y="2424113"/>
              <a:ext cx="965671" cy="347663"/>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E2430"/>
                  </a:solidFill>
                  <a:latin typeface="Arial" pitchFamily="34" charset="0"/>
                  <a:ea typeface="Arial" pitchFamily="34" charset="-122"/>
                  <a:cs typeface="Arial" pitchFamily="34" charset="-120"/>
                </a:rPr>
                <a:t>Verdict</a:t>
              </a:r>
              <a:endParaRPr lang="en-US" sz="2100" dirty="0"/>
            </a:p>
          </p:txBody>
        </p:sp>
        <p:sp>
          <p:nvSpPr>
            <p:cNvPr id="44" name="Shape 25">
              <a:extLst>
                <a:ext uri="{FF2B5EF4-FFF2-40B4-BE49-F238E27FC236}">
                  <a16:creationId xmlns:a16="http://schemas.microsoft.com/office/drawing/2014/main" id="{D3A359AE-A562-9B0B-C484-D68F98CD2149}"/>
                </a:ext>
              </a:extLst>
            </p:cNvPr>
            <p:cNvSpPr/>
            <p:nvPr/>
          </p:nvSpPr>
          <p:spPr>
            <a:xfrm>
              <a:off x="10339169" y="2957512"/>
              <a:ext cx="3638550" cy="1638329"/>
            </a:xfrm>
            <a:prstGeom prst="roundRect">
              <a:avLst>
                <a:gd name="adj" fmla="val 8204"/>
              </a:avLst>
            </a:prstGeom>
            <a:solidFill>
              <a:srgbClr val="E6F0E8"/>
            </a:solidFill>
            <a:ln/>
          </p:spPr>
          <p:txBody>
            <a:bodyPr/>
            <a:lstStyle/>
            <a:p>
              <a:endParaRPr lang="en-US"/>
            </a:p>
          </p:txBody>
        </p:sp>
        <p:sp>
          <p:nvSpPr>
            <p:cNvPr id="45" name="Shape 26">
              <a:extLst>
                <a:ext uri="{FF2B5EF4-FFF2-40B4-BE49-F238E27FC236}">
                  <a16:creationId xmlns:a16="http://schemas.microsoft.com/office/drawing/2014/main" id="{709A5034-4D8B-CDA8-2E42-308E39E0C93B}"/>
                </a:ext>
              </a:extLst>
            </p:cNvPr>
            <p:cNvSpPr/>
            <p:nvPr/>
          </p:nvSpPr>
          <p:spPr>
            <a:xfrm flipH="1">
              <a:off x="10343784" y="2974291"/>
              <a:ext cx="45719" cy="1564022"/>
            </a:xfrm>
            <a:prstGeom prst="rect">
              <a:avLst/>
            </a:prstGeom>
            <a:solidFill>
              <a:srgbClr val="3F7D53"/>
            </a:solidFill>
            <a:ln/>
          </p:spPr>
          <p:txBody>
            <a:bodyPr/>
            <a:lstStyle/>
            <a:p>
              <a:endParaRPr lang="en-US"/>
            </a:p>
          </p:txBody>
        </p:sp>
        <p:sp>
          <p:nvSpPr>
            <p:cNvPr id="46" name="Text 27">
              <a:extLst>
                <a:ext uri="{FF2B5EF4-FFF2-40B4-BE49-F238E27FC236}">
                  <a16:creationId xmlns:a16="http://schemas.microsoft.com/office/drawing/2014/main" id="{FE6A9762-56A1-B4E2-B869-D3F95DEC0540}"/>
                </a:ext>
              </a:extLst>
            </p:cNvPr>
            <p:cNvSpPr/>
            <p:nvPr/>
          </p:nvSpPr>
          <p:spPr>
            <a:xfrm>
              <a:off x="10582275" y="3136106"/>
              <a:ext cx="1798283"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1E2430"/>
                  </a:solidFill>
                  <a:latin typeface="Courier New" pitchFamily="34" charset="0"/>
                  <a:ea typeface="Courier New" pitchFamily="34" charset="-122"/>
                  <a:cs typeface="Courier New" pitchFamily="34" charset="-120"/>
                </a:rPr>
                <a:t>SymPy · RDKit</a:t>
              </a:r>
              <a:endParaRPr lang="en-US" sz="1650" dirty="0"/>
            </a:p>
          </p:txBody>
        </p:sp>
        <p:sp>
          <p:nvSpPr>
            <p:cNvPr id="47" name="Shape 28">
              <a:extLst>
                <a:ext uri="{FF2B5EF4-FFF2-40B4-BE49-F238E27FC236}">
                  <a16:creationId xmlns:a16="http://schemas.microsoft.com/office/drawing/2014/main" id="{41DA6AC9-30A9-3FD6-5C4A-B4FC7C4F4087}"/>
                </a:ext>
              </a:extLst>
            </p:cNvPr>
            <p:cNvSpPr/>
            <p:nvPr/>
          </p:nvSpPr>
          <p:spPr>
            <a:xfrm>
              <a:off x="12963376" y="3109913"/>
              <a:ext cx="876449" cy="290513"/>
            </a:xfrm>
            <a:prstGeom prst="roundRect">
              <a:avLst>
                <a:gd name="adj" fmla="val 19672"/>
              </a:avLst>
            </a:prstGeom>
            <a:solidFill>
              <a:srgbClr val="FFFFFF"/>
            </a:solidFill>
            <a:ln/>
          </p:spPr>
          <p:txBody>
            <a:bodyPr/>
            <a:lstStyle/>
            <a:p>
              <a:endParaRPr lang="en-US"/>
            </a:p>
          </p:txBody>
        </p:sp>
        <p:sp>
          <p:nvSpPr>
            <p:cNvPr id="48" name="Text 29">
              <a:extLst>
                <a:ext uri="{FF2B5EF4-FFF2-40B4-BE49-F238E27FC236}">
                  <a16:creationId xmlns:a16="http://schemas.microsoft.com/office/drawing/2014/main" id="{8DB6645B-0A9F-BAE3-055D-BDDA07EB8080}"/>
                </a:ext>
              </a:extLst>
            </p:cNvPr>
            <p:cNvSpPr/>
            <p:nvPr/>
          </p:nvSpPr>
          <p:spPr>
            <a:xfrm>
              <a:off x="13058626" y="3157538"/>
              <a:ext cx="762149" cy="233362"/>
            </a:xfrm>
            <a:prstGeom prst="rect">
              <a:avLst/>
            </a:prstGeom>
            <a:noFill/>
            <a:ln/>
          </p:spPr>
          <p:txBody>
            <a:bodyPr wrap="square" lIns="25400" tIns="25400" rIns="25400" bIns="25400" rtlCol="0" anchor="t">
              <a:normAutofit fontScale="92500" lnSpcReduction="10000"/>
            </a:bodyPr>
            <a:lstStyle/>
            <a:p>
              <a:pPr marL="0" indent="0" algn="l">
                <a:buNone/>
              </a:pPr>
              <a:r>
                <a:rPr lang="en-US" sz="1350" b="1" kern="0" spc="90" dirty="0">
                  <a:solidFill>
                    <a:srgbClr val="3F7D53"/>
                  </a:solidFill>
                  <a:latin typeface="Courier New" pitchFamily="34" charset="0"/>
                  <a:ea typeface="Courier New" pitchFamily="34" charset="-122"/>
                  <a:cs typeface="Courier New" pitchFamily="34" charset="-120"/>
                </a:rPr>
                <a:t>PROVEN</a:t>
              </a:r>
              <a:endParaRPr lang="en-US" sz="1350" dirty="0"/>
            </a:p>
          </p:txBody>
        </p:sp>
        <p:sp>
          <p:nvSpPr>
            <p:cNvPr id="49" name="Text 30">
              <a:extLst>
                <a:ext uri="{FF2B5EF4-FFF2-40B4-BE49-F238E27FC236}">
                  <a16:creationId xmlns:a16="http://schemas.microsoft.com/office/drawing/2014/main" id="{B11DEA72-A27E-8ECF-C47A-F4C6E00B024C}"/>
                </a:ext>
              </a:extLst>
            </p:cNvPr>
            <p:cNvSpPr/>
            <p:nvPr/>
          </p:nvSpPr>
          <p:spPr>
            <a:xfrm>
              <a:off x="10541697" y="3412331"/>
              <a:ext cx="3355277" cy="978893"/>
            </a:xfrm>
            <a:prstGeom prst="rect">
              <a:avLst/>
            </a:prstGeom>
            <a:noFill/>
            <a:ln/>
          </p:spPr>
          <p:txBody>
            <a:bodyPr wrap="square" lIns="25400" tIns="25400" rIns="25400" bIns="25400" rtlCol="0" anchor="t">
              <a:noAutofit/>
            </a:bodyPr>
            <a:lstStyle/>
            <a:p>
              <a:r>
                <a:rPr lang="en-US" dirty="0">
                  <a:solidFill>
                    <a:srgbClr val="5B6472"/>
                  </a:solidFill>
                  <a:latin typeface="Arial" pitchFamily="34" charset="0"/>
                  <a:cs typeface="Arial" pitchFamily="34" charset="-120"/>
                </a:rPr>
                <a:t>Math and chemistry engines that prove whether your line follows from the one above it. They can’t guess.</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50" name="Shape 31">
              <a:extLst>
                <a:ext uri="{FF2B5EF4-FFF2-40B4-BE49-F238E27FC236}">
                  <a16:creationId xmlns:a16="http://schemas.microsoft.com/office/drawing/2014/main" id="{299BB6F5-5E50-22A1-7120-290EDE24FCAC}"/>
                </a:ext>
              </a:extLst>
            </p:cNvPr>
            <p:cNvSpPr/>
            <p:nvPr/>
          </p:nvSpPr>
          <p:spPr>
            <a:xfrm>
              <a:off x="10364336" y="4763393"/>
              <a:ext cx="3663717" cy="1638329"/>
            </a:xfrm>
            <a:prstGeom prst="roundRect">
              <a:avLst>
                <a:gd name="adj" fmla="val 8204"/>
              </a:avLst>
            </a:prstGeom>
            <a:solidFill>
              <a:srgbClr val="E7EDF8"/>
            </a:solidFill>
            <a:ln/>
          </p:spPr>
          <p:txBody>
            <a:bodyPr/>
            <a:lstStyle/>
            <a:p>
              <a:endParaRPr lang="en-US" dirty="0"/>
            </a:p>
          </p:txBody>
        </p:sp>
        <p:sp>
          <p:nvSpPr>
            <p:cNvPr id="52" name="Text 33">
              <a:extLst>
                <a:ext uri="{FF2B5EF4-FFF2-40B4-BE49-F238E27FC236}">
                  <a16:creationId xmlns:a16="http://schemas.microsoft.com/office/drawing/2014/main" id="{3DBC7E4B-233E-32E5-9F90-2E4FB0C47A2B}"/>
                </a:ext>
              </a:extLst>
            </p:cNvPr>
            <p:cNvSpPr/>
            <p:nvPr/>
          </p:nvSpPr>
          <p:spPr>
            <a:xfrm>
              <a:off x="10543198" y="4944004"/>
              <a:ext cx="830759" cy="276225"/>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1E2430"/>
                  </a:solidFill>
                  <a:latin typeface="Courier New" pitchFamily="34" charset="0"/>
                  <a:ea typeface="Courier New" pitchFamily="34" charset="-122"/>
                  <a:cs typeface="Courier New" pitchFamily="34" charset="-120"/>
                </a:rPr>
                <a:t>Gemini</a:t>
              </a:r>
              <a:endParaRPr lang="en-US" sz="1650" dirty="0"/>
            </a:p>
          </p:txBody>
        </p:sp>
        <p:sp>
          <p:nvSpPr>
            <p:cNvPr id="55" name="Text 36">
              <a:extLst>
                <a:ext uri="{FF2B5EF4-FFF2-40B4-BE49-F238E27FC236}">
                  <a16:creationId xmlns:a16="http://schemas.microsoft.com/office/drawing/2014/main" id="{A69B1E5A-6386-5E00-AFE0-905E592EBE49}"/>
                </a:ext>
              </a:extLst>
            </p:cNvPr>
            <p:cNvSpPr/>
            <p:nvPr/>
          </p:nvSpPr>
          <p:spPr>
            <a:xfrm>
              <a:off x="10582275" y="5188326"/>
              <a:ext cx="3355277" cy="964836"/>
            </a:xfrm>
            <a:prstGeom prst="rect">
              <a:avLst/>
            </a:prstGeom>
            <a:noFill/>
            <a:ln/>
          </p:spPr>
          <p:txBody>
            <a:bodyPr wrap="square" lIns="25400" tIns="25400" rIns="25400" bIns="25400" rtlCol="0" anchor="t">
              <a:noAutofit/>
            </a:bodyPr>
            <a:lstStyle/>
            <a:p>
              <a:r>
                <a:rPr lang="en-US" dirty="0">
                  <a:solidFill>
                    <a:srgbClr val="5B6472"/>
                  </a:solidFill>
                  <a:latin typeface="Arial" pitchFamily="34" charset="0"/>
                  <a:cs typeface="Arial" pitchFamily="34" charset="-120"/>
                </a:rPr>
                <a:t>Handles the questions symbols cannot express, like a geometry proof. When AI makes the call, the verdict says so.</a:t>
              </a:r>
            </a:p>
            <a:p>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56" name="Text 37">
              <a:extLst>
                <a:ext uri="{FF2B5EF4-FFF2-40B4-BE49-F238E27FC236}">
                  <a16:creationId xmlns:a16="http://schemas.microsoft.com/office/drawing/2014/main" id="{1E3A2C7E-B72B-E219-305C-1E0205F3D4A3}"/>
                </a:ext>
              </a:extLst>
            </p:cNvPr>
            <p:cNvSpPr/>
            <p:nvPr/>
          </p:nvSpPr>
          <p:spPr>
            <a:xfrm>
              <a:off x="10372725" y="6705600"/>
              <a:ext cx="4002405" cy="219075"/>
            </a:xfrm>
            <a:prstGeom prst="rect">
              <a:avLst/>
            </a:prstGeom>
            <a:noFill/>
            <a:ln/>
          </p:spPr>
          <p:txBody>
            <a:bodyPr wrap="square" lIns="25400" tIns="25400" rIns="25400" bIns="25400" rtlCol="0" anchor="t">
              <a:normAutofit fontScale="92500" lnSpcReduction="20000"/>
            </a:bodyPr>
            <a:lstStyle/>
            <a:p>
              <a:pPr marL="0" indent="0" algn="l">
                <a:buNone/>
              </a:pPr>
              <a:r>
                <a:rPr lang="en-US" sz="1275" b="1" kern="0" spc="75" dirty="0">
                  <a:solidFill>
                    <a:srgbClr val="2E5AAC"/>
                  </a:solidFill>
                  <a:latin typeface="Courier New" pitchFamily="34" charset="0"/>
                  <a:ea typeface="Courier New" pitchFamily="34" charset="-122"/>
                  <a:cs typeface="Courier New" pitchFamily="34" charset="-120"/>
                </a:rPr>
                <a:t>TWO ENGINES, ONE LABELLED VERDICT</a:t>
              </a:r>
              <a:endParaRPr lang="en-US" sz="1275" dirty="0"/>
            </a:p>
          </p:txBody>
        </p:sp>
        <p:sp>
          <p:nvSpPr>
            <p:cNvPr id="54" name="Text 35">
              <a:extLst>
                <a:ext uri="{FF2B5EF4-FFF2-40B4-BE49-F238E27FC236}">
                  <a16:creationId xmlns:a16="http://schemas.microsoft.com/office/drawing/2014/main" id="{59E5FF52-274A-3876-C622-2F2EAC4C1B10}"/>
                </a:ext>
              </a:extLst>
            </p:cNvPr>
            <p:cNvSpPr/>
            <p:nvPr/>
          </p:nvSpPr>
          <p:spPr>
            <a:xfrm>
              <a:off x="12906225" y="4944004"/>
              <a:ext cx="990749" cy="233362"/>
            </a:xfrm>
            <a:prstGeom prst="rect">
              <a:avLst/>
            </a:prstGeom>
            <a:noFill/>
            <a:ln/>
          </p:spPr>
          <p:txBody>
            <a:bodyPr wrap="square" lIns="25400" tIns="25400" rIns="25400" bIns="25400" rtlCol="0" anchor="t">
              <a:normAutofit fontScale="92500" lnSpcReduction="10000"/>
            </a:bodyPr>
            <a:lstStyle/>
            <a:p>
              <a:pPr marL="0" indent="0" algn="l">
                <a:buNone/>
              </a:pPr>
              <a:r>
                <a:rPr lang="en-US" sz="1350" b="1" kern="0" spc="90" dirty="0">
                  <a:solidFill>
                    <a:srgbClr val="2E5AAC"/>
                  </a:solidFill>
                  <a:latin typeface="Courier New" pitchFamily="34" charset="0"/>
                  <a:ea typeface="Courier New" pitchFamily="34" charset="-122"/>
                  <a:cs typeface="Courier New" pitchFamily="34" charset="-120"/>
                </a:rPr>
                <a:t>LABELLED</a:t>
              </a:r>
              <a:endParaRPr lang="en-US" sz="1350" dirty="0"/>
            </a:p>
          </p:txBody>
        </p:sp>
      </p:grpSp>
      <p:sp>
        <p:nvSpPr>
          <p:cNvPr id="60" name="Shape 26">
            <a:extLst>
              <a:ext uri="{FF2B5EF4-FFF2-40B4-BE49-F238E27FC236}">
                <a16:creationId xmlns:a16="http://schemas.microsoft.com/office/drawing/2014/main" id="{E6C9EBF5-7A6C-3A01-AB7E-08A866E2B952}"/>
              </a:ext>
            </a:extLst>
          </p:cNvPr>
          <p:cNvSpPr/>
          <p:nvPr/>
        </p:nvSpPr>
        <p:spPr>
          <a:xfrm flipH="1">
            <a:off x="10757262" y="4400516"/>
            <a:ext cx="45719" cy="1564022"/>
          </a:xfrm>
          <a:prstGeom prst="rect">
            <a:avLst/>
          </a:prstGeom>
          <a:solidFill>
            <a:schemeClr val="accent5">
              <a:lumMod val="75000"/>
            </a:schemeClr>
          </a:solidFill>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8">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1047750" y="533400"/>
            <a:ext cx="144780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verity.ai</a:t>
            </a:r>
            <a:endParaRPr lang="en-US" sz="1650" dirty="0"/>
          </a:p>
        </p:txBody>
      </p:sp>
      <p:sp>
        <p:nvSpPr>
          <p:cNvPr id="3" name="Text 1"/>
          <p:cNvSpPr/>
          <p:nvPr/>
        </p:nvSpPr>
        <p:spPr>
          <a:xfrm>
            <a:off x="16687800" y="533400"/>
            <a:ext cx="70485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SAIL</a:t>
            </a:r>
            <a:endParaRPr lang="en-US" sz="1650" dirty="0"/>
          </a:p>
        </p:txBody>
      </p:sp>
      <p:sp>
        <p:nvSpPr>
          <p:cNvPr id="4" name="Text 2"/>
          <p:cNvSpPr/>
          <p:nvPr/>
        </p:nvSpPr>
        <p:spPr>
          <a:xfrm>
            <a:off x="1047750" y="857250"/>
            <a:ext cx="19592925" cy="266700"/>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500" b="1" dirty="0">
                <a:solidFill>
                  <a:srgbClr val="2E5AAC"/>
                </a:solidFill>
                <a:latin typeface="Courier New" pitchFamily="34" charset="0"/>
                <a:ea typeface="Courier New" pitchFamily="34" charset="-122"/>
                <a:cs typeface="Courier New" pitchFamily="34" charset="-120"/>
              </a:rPr>
              <a:t>ENGINEERING</a:t>
            </a:r>
            <a:endParaRPr lang="en-US" sz="1500" dirty="0"/>
          </a:p>
        </p:txBody>
      </p:sp>
      <p:sp>
        <p:nvSpPr>
          <p:cNvPr id="5" name="Text 3"/>
          <p:cNvSpPr/>
          <p:nvPr/>
        </p:nvSpPr>
        <p:spPr>
          <a:xfrm>
            <a:off x="1047750" y="1295400"/>
            <a:ext cx="18346103" cy="632445"/>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3900" b="1" dirty="0">
                <a:solidFill>
                  <a:srgbClr val="1E2430"/>
                </a:solidFill>
                <a:latin typeface="Arial" pitchFamily="34" charset="0"/>
                <a:ea typeface="Arial" pitchFamily="34" charset="-122"/>
                <a:cs typeface="Arial" pitchFamily="34" charset="-120"/>
              </a:rPr>
              <a:t>Every layer, and why it is that way</a:t>
            </a:r>
            <a:endParaRPr lang="en-US" sz="3900" dirty="0"/>
          </a:p>
        </p:txBody>
      </p:sp>
      <p:sp>
        <p:nvSpPr>
          <p:cNvPr id="6" name="Text 4"/>
          <p:cNvSpPr/>
          <p:nvPr/>
        </p:nvSpPr>
        <p:spPr>
          <a:xfrm>
            <a:off x="1047750" y="2252663"/>
            <a:ext cx="664518" cy="242888"/>
          </a:xfrm>
          <a:prstGeom prst="rect">
            <a:avLst/>
          </a:prstGeom>
          <a:noFill/>
          <a:ln/>
        </p:spPr>
        <p:txBody>
          <a:bodyPr wrap="square" lIns="25400" tIns="25400" rIns="25400" bIns="25400" rtlCol="0" anchor="t">
            <a:normAutofit fontScale="92500" lnSpcReduction="20000"/>
          </a:bodyPr>
          <a:lstStyle/>
          <a:p>
            <a:pPr marL="0" indent="0" algn="l">
              <a:lnSpc>
                <a:spcPct val="106047"/>
              </a:lnSpc>
              <a:buNone/>
            </a:pPr>
            <a:r>
              <a:rPr lang="en-US" sz="1425" b="1" kern="0" spc="71" dirty="0">
                <a:solidFill>
                  <a:srgbClr val="5B6472"/>
                </a:solidFill>
                <a:latin typeface="Courier New" pitchFamily="34" charset="0"/>
                <a:ea typeface="Courier New" pitchFamily="34" charset="-122"/>
                <a:cs typeface="Courier New" pitchFamily="34" charset="-120"/>
              </a:rPr>
              <a:t>LAYER</a:t>
            </a:r>
            <a:endParaRPr lang="en-US" sz="1425" dirty="0"/>
          </a:p>
        </p:txBody>
      </p:sp>
      <p:sp>
        <p:nvSpPr>
          <p:cNvPr id="7" name="Text 5"/>
          <p:cNvSpPr/>
          <p:nvPr/>
        </p:nvSpPr>
        <p:spPr>
          <a:xfrm>
            <a:off x="4819650" y="2252663"/>
            <a:ext cx="1423630" cy="242888"/>
          </a:xfrm>
          <a:prstGeom prst="rect">
            <a:avLst/>
          </a:prstGeom>
          <a:noFill/>
          <a:ln/>
        </p:spPr>
        <p:txBody>
          <a:bodyPr wrap="square" lIns="25400" tIns="25400" rIns="25400" bIns="25400" rtlCol="0" anchor="t">
            <a:normAutofit fontScale="92500" lnSpcReduction="20000"/>
          </a:bodyPr>
          <a:lstStyle/>
          <a:p>
            <a:pPr marL="0" indent="0" algn="l">
              <a:lnSpc>
                <a:spcPct val="106047"/>
              </a:lnSpc>
              <a:buNone/>
            </a:pPr>
            <a:r>
              <a:rPr lang="en-US" sz="1425" b="1" kern="0" spc="71" dirty="0">
                <a:solidFill>
                  <a:srgbClr val="5B6472"/>
                </a:solidFill>
                <a:latin typeface="Courier New" pitchFamily="34" charset="0"/>
                <a:ea typeface="Courier New" pitchFamily="34" charset="-122"/>
                <a:cs typeface="Courier New" pitchFamily="34" charset="-120"/>
              </a:rPr>
              <a:t>WHAT WE USE</a:t>
            </a:r>
            <a:endParaRPr lang="en-US" sz="1425" dirty="0"/>
          </a:p>
        </p:txBody>
      </p:sp>
      <p:sp>
        <p:nvSpPr>
          <p:cNvPr id="8" name="Text 6"/>
          <p:cNvSpPr/>
          <p:nvPr/>
        </p:nvSpPr>
        <p:spPr>
          <a:xfrm>
            <a:off x="10315575" y="2252663"/>
            <a:ext cx="429220" cy="242888"/>
          </a:xfrm>
          <a:prstGeom prst="rect">
            <a:avLst/>
          </a:prstGeom>
          <a:noFill/>
          <a:ln/>
        </p:spPr>
        <p:txBody>
          <a:bodyPr wrap="square" lIns="25400" tIns="25400" rIns="25400" bIns="25400" rtlCol="0" anchor="t">
            <a:normAutofit fontScale="92500" lnSpcReduction="20000"/>
          </a:bodyPr>
          <a:lstStyle/>
          <a:p>
            <a:pPr marL="0" indent="0" algn="l">
              <a:lnSpc>
                <a:spcPct val="106047"/>
              </a:lnSpc>
              <a:buNone/>
            </a:pPr>
            <a:r>
              <a:rPr lang="en-US" sz="1425" b="1" kern="0" spc="71" dirty="0">
                <a:solidFill>
                  <a:srgbClr val="5B6472"/>
                </a:solidFill>
                <a:latin typeface="Courier New" pitchFamily="34" charset="0"/>
                <a:ea typeface="Courier New" pitchFamily="34" charset="-122"/>
                <a:cs typeface="Courier New" pitchFamily="34" charset="-120"/>
              </a:rPr>
              <a:t>WHY</a:t>
            </a:r>
            <a:endParaRPr lang="en-US" sz="1425" dirty="0"/>
          </a:p>
        </p:txBody>
      </p:sp>
      <p:sp>
        <p:nvSpPr>
          <p:cNvPr id="9" name="Shape 7"/>
          <p:cNvSpPr/>
          <p:nvPr/>
        </p:nvSpPr>
        <p:spPr>
          <a:xfrm>
            <a:off x="1047750" y="2819400"/>
            <a:ext cx="16240125" cy="838200"/>
          </a:xfrm>
          <a:prstGeom prst="roundRect">
            <a:avLst>
              <a:gd name="adj" fmla="val 9091"/>
            </a:avLst>
          </a:prstGeom>
          <a:solidFill>
            <a:srgbClr val="E7EDF8"/>
          </a:solidFill>
          <a:ln/>
        </p:spPr>
        <p:txBody>
          <a:bodyPr/>
          <a:lstStyle/>
          <a:p>
            <a:endParaRPr lang="en-US"/>
          </a:p>
        </p:txBody>
      </p:sp>
      <p:sp>
        <p:nvSpPr>
          <p:cNvPr id="10" name="Shape 8"/>
          <p:cNvSpPr/>
          <p:nvPr/>
        </p:nvSpPr>
        <p:spPr>
          <a:xfrm>
            <a:off x="1047750" y="2819400"/>
            <a:ext cx="47625" cy="838200"/>
          </a:xfrm>
          <a:prstGeom prst="rect">
            <a:avLst/>
          </a:prstGeom>
          <a:solidFill>
            <a:srgbClr val="2E5AAC"/>
          </a:solidFill>
          <a:ln/>
        </p:spPr>
        <p:txBody>
          <a:bodyPr/>
          <a:lstStyle/>
          <a:p>
            <a:endParaRPr lang="en-US"/>
          </a:p>
        </p:txBody>
      </p:sp>
      <p:sp>
        <p:nvSpPr>
          <p:cNvPr id="11" name="Text 9"/>
          <p:cNvSpPr/>
          <p:nvPr/>
        </p:nvSpPr>
        <p:spPr>
          <a:xfrm>
            <a:off x="1362075" y="3019425"/>
            <a:ext cx="3335655" cy="346695"/>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025" b="1" dirty="0">
                <a:solidFill>
                  <a:srgbClr val="2E5AAC"/>
                </a:solidFill>
                <a:latin typeface="Arial" pitchFamily="34" charset="0"/>
                <a:ea typeface="Arial" pitchFamily="34" charset="-122"/>
                <a:cs typeface="Arial" pitchFamily="34" charset="-120"/>
              </a:rPr>
              <a:t>App</a:t>
            </a:r>
            <a:endParaRPr lang="en-US" sz="2025" dirty="0"/>
          </a:p>
        </p:txBody>
      </p:sp>
      <p:sp>
        <p:nvSpPr>
          <p:cNvPr id="12" name="Shape 10"/>
          <p:cNvSpPr/>
          <p:nvPr/>
        </p:nvSpPr>
        <p:spPr>
          <a:xfrm>
            <a:off x="4819650" y="3019425"/>
            <a:ext cx="2705546" cy="346695"/>
          </a:xfrm>
          <a:prstGeom prst="roundRect">
            <a:avLst>
              <a:gd name="adj" fmla="val 10989"/>
            </a:avLst>
          </a:prstGeom>
          <a:solidFill>
            <a:srgbClr val="FFFFFF"/>
          </a:solidFill>
          <a:ln/>
        </p:spPr>
        <p:txBody>
          <a:bodyPr/>
          <a:lstStyle/>
          <a:p>
            <a:endParaRPr lang="en-US"/>
          </a:p>
        </p:txBody>
      </p:sp>
      <p:sp>
        <p:nvSpPr>
          <p:cNvPr id="13" name="Text 11"/>
          <p:cNvSpPr/>
          <p:nvPr/>
        </p:nvSpPr>
        <p:spPr>
          <a:xfrm>
            <a:off x="4914900" y="3067050"/>
            <a:ext cx="2596213" cy="289545"/>
          </a:xfrm>
          <a:prstGeom prst="rect">
            <a:avLst/>
          </a:prstGeom>
          <a:noFill/>
          <a:ln/>
        </p:spPr>
        <p:txBody>
          <a:bodyPr wrap="square" lIns="25400" tIns="25400" rIns="25400" bIns="25400" rtlCol="0" anchor="t">
            <a:normAutofit fontScale="92500" lnSpcReduction="10000"/>
          </a:bodyPr>
          <a:lstStyle/>
          <a:p>
            <a:pPr marL="0" indent="0" algn="l">
              <a:lnSpc>
                <a:spcPct val="105600"/>
              </a:lnSpc>
              <a:buNone/>
            </a:pPr>
            <a:r>
              <a:rPr lang="en-US" sz="1650" b="1" dirty="0">
                <a:solidFill>
                  <a:srgbClr val="1E2430"/>
                </a:solidFill>
                <a:latin typeface="Courier New" pitchFamily="34" charset="0"/>
                <a:ea typeface="Courier New" pitchFamily="34" charset="-122"/>
                <a:cs typeface="Courier New" pitchFamily="34" charset="-120"/>
              </a:rPr>
              <a:t>React + Vite, canvas</a:t>
            </a:r>
            <a:endParaRPr lang="en-US" sz="1650" dirty="0"/>
          </a:p>
        </p:txBody>
      </p:sp>
      <p:sp>
        <p:nvSpPr>
          <p:cNvPr id="14" name="Text 12"/>
          <p:cNvSpPr/>
          <p:nvPr/>
        </p:nvSpPr>
        <p:spPr>
          <a:xfrm>
            <a:off x="10315575" y="2990850"/>
            <a:ext cx="6867525" cy="668982"/>
          </a:xfrm>
          <a:prstGeom prst="rect">
            <a:avLst/>
          </a:prstGeom>
          <a:noFill/>
          <a:ln/>
        </p:spPr>
        <p:txBody>
          <a:bodyPr wrap="square" lIns="25400" tIns="25400" rIns="25400" bIns="25400" rtlCol="0" anchor="t">
            <a:normAutofit lnSpcReduction="10000"/>
          </a:bodyPr>
          <a:lstStyle/>
          <a:p>
            <a:pPr marL="0" indent="0" algn="l">
              <a:lnSpc>
                <a:spcPct val="119351"/>
              </a:lnSpc>
              <a:buNone/>
            </a:pPr>
            <a:r>
              <a:rPr lang="en-US" sz="1800" dirty="0">
                <a:solidFill>
                  <a:srgbClr val="2C3A4A"/>
                </a:solidFill>
                <a:latin typeface="Arial" pitchFamily="34" charset="0"/>
                <a:ea typeface="Arial" pitchFamily="34" charset="-122"/>
                <a:cs typeface="Arial" pitchFamily="34" charset="-120"/>
              </a:rPr>
              <a:t>One codebase covers iPad and Samsung; no app store, and a demo is just a shared URL.</a:t>
            </a:r>
            <a:endParaRPr lang="en-US" sz="1800" dirty="0"/>
          </a:p>
        </p:txBody>
      </p:sp>
      <p:sp>
        <p:nvSpPr>
          <p:cNvPr id="15" name="Shape 13"/>
          <p:cNvSpPr/>
          <p:nvPr/>
        </p:nvSpPr>
        <p:spPr>
          <a:xfrm>
            <a:off x="1047750" y="3810000"/>
            <a:ext cx="16240125" cy="838200"/>
          </a:xfrm>
          <a:prstGeom prst="roundRect">
            <a:avLst>
              <a:gd name="adj" fmla="val 9091"/>
            </a:avLst>
          </a:prstGeom>
          <a:solidFill>
            <a:srgbClr val="E6F0E8"/>
          </a:solidFill>
          <a:ln/>
        </p:spPr>
        <p:txBody>
          <a:bodyPr/>
          <a:lstStyle/>
          <a:p>
            <a:endParaRPr lang="en-US"/>
          </a:p>
        </p:txBody>
      </p:sp>
      <p:sp>
        <p:nvSpPr>
          <p:cNvPr id="16" name="Shape 14"/>
          <p:cNvSpPr/>
          <p:nvPr/>
        </p:nvSpPr>
        <p:spPr>
          <a:xfrm>
            <a:off x="1047750" y="3810000"/>
            <a:ext cx="47625" cy="838200"/>
          </a:xfrm>
          <a:prstGeom prst="rect">
            <a:avLst/>
          </a:prstGeom>
          <a:solidFill>
            <a:srgbClr val="3F7D53"/>
          </a:solidFill>
          <a:ln/>
        </p:spPr>
        <p:txBody>
          <a:bodyPr/>
          <a:lstStyle/>
          <a:p>
            <a:endParaRPr lang="en-US"/>
          </a:p>
        </p:txBody>
      </p:sp>
      <p:sp>
        <p:nvSpPr>
          <p:cNvPr id="17" name="Text 15"/>
          <p:cNvSpPr/>
          <p:nvPr/>
        </p:nvSpPr>
        <p:spPr>
          <a:xfrm>
            <a:off x="1362075" y="4010025"/>
            <a:ext cx="3335655" cy="346695"/>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025" b="1" dirty="0">
                <a:solidFill>
                  <a:srgbClr val="3F7D53"/>
                </a:solidFill>
                <a:latin typeface="Arial" pitchFamily="34" charset="0"/>
                <a:ea typeface="Arial" pitchFamily="34" charset="-122"/>
                <a:cs typeface="Arial" pitchFamily="34" charset="-120"/>
              </a:rPr>
              <a:t>Ink</a:t>
            </a:r>
            <a:endParaRPr lang="en-US" sz="2025" dirty="0"/>
          </a:p>
        </p:txBody>
      </p:sp>
      <p:sp>
        <p:nvSpPr>
          <p:cNvPr id="18" name="Shape 16"/>
          <p:cNvSpPr/>
          <p:nvPr/>
        </p:nvSpPr>
        <p:spPr>
          <a:xfrm>
            <a:off x="4819650" y="4010025"/>
            <a:ext cx="2454027" cy="346695"/>
          </a:xfrm>
          <a:prstGeom prst="roundRect">
            <a:avLst>
              <a:gd name="adj" fmla="val 10989"/>
            </a:avLst>
          </a:prstGeom>
          <a:solidFill>
            <a:srgbClr val="FFFFFF"/>
          </a:solidFill>
          <a:ln/>
        </p:spPr>
        <p:txBody>
          <a:bodyPr/>
          <a:lstStyle/>
          <a:p>
            <a:endParaRPr lang="en-US"/>
          </a:p>
        </p:txBody>
      </p:sp>
      <p:sp>
        <p:nvSpPr>
          <p:cNvPr id="19" name="Text 17"/>
          <p:cNvSpPr/>
          <p:nvPr/>
        </p:nvSpPr>
        <p:spPr>
          <a:xfrm>
            <a:off x="4914900" y="4057650"/>
            <a:ext cx="2339727" cy="289545"/>
          </a:xfrm>
          <a:prstGeom prst="rect">
            <a:avLst/>
          </a:prstGeom>
          <a:noFill/>
          <a:ln/>
        </p:spPr>
        <p:txBody>
          <a:bodyPr wrap="square" lIns="25400" tIns="25400" rIns="25400" bIns="25400" rtlCol="0" anchor="t">
            <a:normAutofit fontScale="92500" lnSpcReduction="10000"/>
          </a:bodyPr>
          <a:lstStyle/>
          <a:p>
            <a:pPr marL="0" indent="0" algn="l">
              <a:lnSpc>
                <a:spcPct val="105600"/>
              </a:lnSpc>
              <a:buNone/>
            </a:pPr>
            <a:r>
              <a:rPr lang="en-US" sz="1650" b="1" dirty="0">
                <a:solidFill>
                  <a:srgbClr val="1E2430"/>
                </a:solidFill>
                <a:latin typeface="Courier New" pitchFamily="34" charset="0"/>
                <a:ea typeface="Courier New" pitchFamily="34" charset="-122"/>
                <a:cs typeface="Courier New" pitchFamily="34" charset="-120"/>
              </a:rPr>
              <a:t>Pointer Events API</a:t>
            </a:r>
            <a:endParaRPr lang="en-US" sz="1650" dirty="0"/>
          </a:p>
        </p:txBody>
      </p:sp>
      <p:sp>
        <p:nvSpPr>
          <p:cNvPr id="20" name="Text 18"/>
          <p:cNvSpPr/>
          <p:nvPr/>
        </p:nvSpPr>
        <p:spPr>
          <a:xfrm>
            <a:off x="10315575" y="3981450"/>
            <a:ext cx="6867525" cy="668982"/>
          </a:xfrm>
          <a:prstGeom prst="rect">
            <a:avLst/>
          </a:prstGeom>
          <a:noFill/>
          <a:ln/>
        </p:spPr>
        <p:txBody>
          <a:bodyPr wrap="square" lIns="25400" tIns="25400" rIns="25400" bIns="25400" rtlCol="0" anchor="t">
            <a:normAutofit lnSpcReduction="10000"/>
          </a:bodyPr>
          <a:lstStyle/>
          <a:p>
            <a:pPr marL="0" indent="0" algn="l">
              <a:lnSpc>
                <a:spcPct val="119351"/>
              </a:lnSpc>
              <a:buNone/>
            </a:pPr>
            <a:r>
              <a:rPr lang="en-US" sz="1800" dirty="0">
                <a:solidFill>
                  <a:srgbClr val="2C3A4A"/>
                </a:solidFill>
                <a:latin typeface="Arial" pitchFamily="34" charset="0"/>
                <a:ea typeface="Arial" pitchFamily="34" charset="-122"/>
                <a:cs typeface="Arial" pitchFamily="34" charset="-120"/>
              </a:rPr>
              <a:t>A web standard that exposes full stylus data (position, timing, pressure) and marks line ends on pen lift.</a:t>
            </a:r>
            <a:endParaRPr lang="en-US" sz="1800" dirty="0"/>
          </a:p>
        </p:txBody>
      </p:sp>
      <p:sp>
        <p:nvSpPr>
          <p:cNvPr id="21" name="Shape 19"/>
          <p:cNvSpPr/>
          <p:nvPr/>
        </p:nvSpPr>
        <p:spPr>
          <a:xfrm>
            <a:off x="1047750" y="4800600"/>
            <a:ext cx="16240125" cy="838200"/>
          </a:xfrm>
          <a:prstGeom prst="roundRect">
            <a:avLst>
              <a:gd name="adj" fmla="val 9091"/>
            </a:avLst>
          </a:prstGeom>
          <a:solidFill>
            <a:srgbClr val="F7E6E2"/>
          </a:solidFill>
          <a:ln/>
        </p:spPr>
        <p:txBody>
          <a:bodyPr/>
          <a:lstStyle/>
          <a:p>
            <a:endParaRPr lang="en-US"/>
          </a:p>
        </p:txBody>
      </p:sp>
      <p:sp>
        <p:nvSpPr>
          <p:cNvPr id="22" name="Shape 20"/>
          <p:cNvSpPr/>
          <p:nvPr/>
        </p:nvSpPr>
        <p:spPr>
          <a:xfrm>
            <a:off x="1047750" y="4800600"/>
            <a:ext cx="47625" cy="838200"/>
          </a:xfrm>
          <a:prstGeom prst="rect">
            <a:avLst/>
          </a:prstGeom>
          <a:solidFill>
            <a:srgbClr val="C0432F"/>
          </a:solidFill>
          <a:ln/>
        </p:spPr>
        <p:txBody>
          <a:bodyPr/>
          <a:lstStyle/>
          <a:p>
            <a:endParaRPr lang="en-US"/>
          </a:p>
        </p:txBody>
      </p:sp>
      <p:sp>
        <p:nvSpPr>
          <p:cNvPr id="23" name="Text 21"/>
          <p:cNvSpPr/>
          <p:nvPr/>
        </p:nvSpPr>
        <p:spPr>
          <a:xfrm>
            <a:off x="1362075" y="5000625"/>
            <a:ext cx="3335655" cy="346695"/>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025" b="1" dirty="0">
                <a:solidFill>
                  <a:srgbClr val="C0432F"/>
                </a:solidFill>
                <a:latin typeface="Arial" pitchFamily="34" charset="0"/>
                <a:ea typeface="Arial" pitchFamily="34" charset="-122"/>
                <a:cs typeface="Arial" pitchFamily="34" charset="-120"/>
              </a:rPr>
              <a:t>Transcription</a:t>
            </a:r>
            <a:endParaRPr lang="en-US" sz="2025" dirty="0"/>
          </a:p>
        </p:txBody>
      </p:sp>
      <p:sp>
        <p:nvSpPr>
          <p:cNvPr id="24" name="Shape 22"/>
          <p:cNvSpPr/>
          <p:nvPr/>
        </p:nvSpPr>
        <p:spPr>
          <a:xfrm>
            <a:off x="4819650" y="5000625"/>
            <a:ext cx="3238500" cy="598140"/>
          </a:xfrm>
          <a:prstGeom prst="roundRect">
            <a:avLst>
              <a:gd name="adj" fmla="val 6370"/>
            </a:avLst>
          </a:prstGeom>
          <a:solidFill>
            <a:srgbClr val="FFFFFF"/>
          </a:solidFill>
          <a:ln/>
        </p:spPr>
        <p:txBody>
          <a:bodyPr/>
          <a:lstStyle/>
          <a:p>
            <a:endParaRPr lang="en-US"/>
          </a:p>
        </p:txBody>
      </p:sp>
      <p:sp>
        <p:nvSpPr>
          <p:cNvPr id="25" name="Text 23"/>
          <p:cNvSpPr/>
          <p:nvPr/>
        </p:nvSpPr>
        <p:spPr>
          <a:xfrm>
            <a:off x="4914900" y="5048250"/>
            <a:ext cx="3145155" cy="540990"/>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1650" b="1" dirty="0">
                <a:solidFill>
                  <a:srgbClr val="1E2430"/>
                </a:solidFill>
                <a:latin typeface="Courier New" pitchFamily="34" charset="0"/>
                <a:ea typeface="Courier New" pitchFamily="34" charset="-122"/>
                <a:cs typeface="Courier New" pitchFamily="34" charset="-120"/>
              </a:rPr>
              <a:t>Gemini 2.5 Flash on Vertex AI</a:t>
            </a:r>
            <a:endParaRPr lang="en-US" sz="1650" dirty="0"/>
          </a:p>
        </p:txBody>
      </p:sp>
      <p:sp>
        <p:nvSpPr>
          <p:cNvPr id="26" name="Text 24"/>
          <p:cNvSpPr/>
          <p:nvPr/>
        </p:nvSpPr>
        <p:spPr>
          <a:xfrm>
            <a:off x="10315575" y="4972050"/>
            <a:ext cx="6867525" cy="668982"/>
          </a:xfrm>
          <a:prstGeom prst="rect">
            <a:avLst/>
          </a:prstGeom>
          <a:noFill/>
          <a:ln/>
        </p:spPr>
        <p:txBody>
          <a:bodyPr wrap="square" lIns="25400" tIns="25400" rIns="25400" bIns="25400" rtlCol="0" anchor="t">
            <a:normAutofit lnSpcReduction="10000"/>
          </a:bodyPr>
          <a:lstStyle/>
          <a:p>
            <a:pPr marL="0" indent="0" algn="l">
              <a:lnSpc>
                <a:spcPct val="119351"/>
              </a:lnSpc>
              <a:buNone/>
            </a:pPr>
            <a:r>
              <a:rPr lang="en-US" sz="1800" dirty="0">
                <a:solidFill>
                  <a:srgbClr val="2C3A4A"/>
                </a:solidFill>
                <a:latin typeface="Arial" pitchFamily="34" charset="0"/>
                <a:ea typeface="Arial" pitchFamily="34" charset="-122"/>
                <a:cs typeface="Arial" pitchFamily="34" charset="-120"/>
              </a:rPr>
              <a:t>Strong at reading messy handwriting with no model training; deterministic settings, fractions of a cent per line.</a:t>
            </a:r>
            <a:endParaRPr lang="en-US" sz="1800" dirty="0"/>
          </a:p>
        </p:txBody>
      </p:sp>
      <p:sp>
        <p:nvSpPr>
          <p:cNvPr id="27" name="Shape 25"/>
          <p:cNvSpPr/>
          <p:nvPr/>
        </p:nvSpPr>
        <p:spPr>
          <a:xfrm>
            <a:off x="1047750" y="5791200"/>
            <a:ext cx="16240125" cy="838200"/>
          </a:xfrm>
          <a:prstGeom prst="roundRect">
            <a:avLst>
              <a:gd name="adj" fmla="val 9091"/>
            </a:avLst>
          </a:prstGeom>
          <a:solidFill>
            <a:srgbClr val="E7EDF8"/>
          </a:solidFill>
          <a:ln/>
        </p:spPr>
        <p:txBody>
          <a:bodyPr/>
          <a:lstStyle/>
          <a:p>
            <a:endParaRPr lang="en-US"/>
          </a:p>
        </p:txBody>
      </p:sp>
      <p:sp>
        <p:nvSpPr>
          <p:cNvPr id="28" name="Shape 26"/>
          <p:cNvSpPr/>
          <p:nvPr/>
        </p:nvSpPr>
        <p:spPr>
          <a:xfrm>
            <a:off x="1047750" y="5791200"/>
            <a:ext cx="47625" cy="838200"/>
          </a:xfrm>
          <a:prstGeom prst="rect">
            <a:avLst/>
          </a:prstGeom>
          <a:solidFill>
            <a:srgbClr val="2E5AAC"/>
          </a:solidFill>
          <a:ln/>
        </p:spPr>
        <p:txBody>
          <a:bodyPr/>
          <a:lstStyle/>
          <a:p>
            <a:endParaRPr lang="en-US"/>
          </a:p>
        </p:txBody>
      </p:sp>
      <p:sp>
        <p:nvSpPr>
          <p:cNvPr id="29" name="Text 27"/>
          <p:cNvSpPr/>
          <p:nvPr/>
        </p:nvSpPr>
        <p:spPr>
          <a:xfrm>
            <a:off x="1362075" y="5991225"/>
            <a:ext cx="3335655" cy="346695"/>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025" b="1" dirty="0">
                <a:solidFill>
                  <a:srgbClr val="2E5AAC"/>
                </a:solidFill>
                <a:latin typeface="Arial" pitchFamily="34" charset="0"/>
                <a:ea typeface="Arial" pitchFamily="34" charset="-122"/>
                <a:cs typeface="Arial" pitchFamily="34" charset="-120"/>
              </a:rPr>
              <a:t>Verdict</a:t>
            </a:r>
            <a:endParaRPr lang="en-US" sz="2025" dirty="0"/>
          </a:p>
        </p:txBody>
      </p:sp>
      <p:sp>
        <p:nvSpPr>
          <p:cNvPr id="30" name="Shape 28"/>
          <p:cNvSpPr/>
          <p:nvPr/>
        </p:nvSpPr>
        <p:spPr>
          <a:xfrm>
            <a:off x="4819650" y="5991225"/>
            <a:ext cx="3238500" cy="598140"/>
          </a:xfrm>
          <a:prstGeom prst="roundRect">
            <a:avLst>
              <a:gd name="adj" fmla="val 6370"/>
            </a:avLst>
          </a:prstGeom>
          <a:solidFill>
            <a:srgbClr val="FFFFFF"/>
          </a:solidFill>
          <a:ln/>
        </p:spPr>
        <p:txBody>
          <a:bodyPr/>
          <a:lstStyle/>
          <a:p>
            <a:endParaRPr lang="en-US"/>
          </a:p>
        </p:txBody>
      </p:sp>
      <p:sp>
        <p:nvSpPr>
          <p:cNvPr id="31" name="Text 29"/>
          <p:cNvSpPr/>
          <p:nvPr/>
        </p:nvSpPr>
        <p:spPr>
          <a:xfrm>
            <a:off x="4914900" y="6038850"/>
            <a:ext cx="3145155" cy="540990"/>
          </a:xfrm>
          <a:prstGeom prst="rect">
            <a:avLst/>
          </a:prstGeom>
          <a:noFill/>
          <a:ln/>
        </p:spPr>
        <p:txBody>
          <a:bodyPr wrap="square" lIns="25400" tIns="25400" rIns="25400" bIns="25400" rtlCol="0" anchor="t">
            <a:normAutofit fontScale="92500" lnSpcReduction="10000"/>
          </a:bodyPr>
          <a:lstStyle/>
          <a:p>
            <a:pPr>
              <a:lnSpc>
                <a:spcPct val="114400"/>
              </a:lnSpc>
            </a:pPr>
            <a:r>
              <a:rPr lang="en-US" sz="1650" b="1" dirty="0" err="1">
                <a:solidFill>
                  <a:srgbClr val="1E2430"/>
                </a:solidFill>
                <a:latin typeface="Courier New" pitchFamily="34" charset="0"/>
                <a:ea typeface="Courier New" pitchFamily="34" charset="-122"/>
                <a:cs typeface="Courier New" pitchFamily="34" charset="-120"/>
              </a:rPr>
              <a:t>SymPy</a:t>
            </a:r>
            <a:r>
              <a:rPr lang="en-US" sz="1650" b="1" dirty="0">
                <a:solidFill>
                  <a:srgbClr val="1E2430"/>
                </a:solidFill>
                <a:latin typeface="Courier New" pitchFamily="34" charset="0"/>
                <a:ea typeface="Courier New" pitchFamily="34" charset="-122"/>
                <a:cs typeface="Courier New" pitchFamily="34" charset="-120"/>
              </a:rPr>
              <a:t> · </a:t>
            </a:r>
            <a:r>
              <a:rPr lang="en-US" sz="1650" b="1" dirty="0" err="1">
                <a:solidFill>
                  <a:srgbClr val="1E2430"/>
                </a:solidFill>
                <a:latin typeface="Courier New" pitchFamily="34" charset="0"/>
                <a:ea typeface="Courier New" pitchFamily="34" charset="-122"/>
                <a:cs typeface="Courier New" pitchFamily="34" charset="-120"/>
              </a:rPr>
              <a:t>RDKit</a:t>
            </a:r>
            <a:r>
              <a:rPr lang="en-US" sz="1650" b="1" dirty="0">
                <a:solidFill>
                  <a:srgbClr val="1E2430"/>
                </a:solidFill>
                <a:latin typeface="Courier New" pitchFamily="34" charset="0"/>
                <a:ea typeface="Courier New" pitchFamily="34" charset="-122"/>
                <a:cs typeface="Courier New" pitchFamily="34" charset="-120"/>
              </a:rPr>
              <a:t>, with Gemini where they cannot reach</a:t>
            </a:r>
            <a:endParaRPr lang="en-US" sz="1650" dirty="0"/>
          </a:p>
        </p:txBody>
      </p:sp>
      <p:sp>
        <p:nvSpPr>
          <p:cNvPr id="32" name="Text 30"/>
          <p:cNvSpPr/>
          <p:nvPr/>
        </p:nvSpPr>
        <p:spPr>
          <a:xfrm>
            <a:off x="10315575" y="5962650"/>
            <a:ext cx="6867525" cy="668982"/>
          </a:xfrm>
          <a:prstGeom prst="rect">
            <a:avLst/>
          </a:prstGeom>
          <a:noFill/>
          <a:ln/>
        </p:spPr>
        <p:txBody>
          <a:bodyPr wrap="square" lIns="25400" tIns="25400" rIns="25400" bIns="25400" rtlCol="0" anchor="t">
            <a:normAutofit lnSpcReduction="10000"/>
          </a:bodyPr>
          <a:lstStyle/>
          <a:p>
            <a:pPr marL="0" indent="0" algn="l">
              <a:lnSpc>
                <a:spcPct val="119351"/>
              </a:lnSpc>
              <a:buNone/>
            </a:pPr>
            <a:r>
              <a:rPr lang="en-US" sz="1800" dirty="0">
                <a:solidFill>
                  <a:srgbClr val="2C3A4A"/>
                </a:solidFill>
                <a:latin typeface="Arial" pitchFamily="34" charset="0"/>
                <a:ea typeface="Arial" pitchFamily="34" charset="-122"/>
                <a:cs typeface="Arial" pitchFamily="34" charset="-120"/>
              </a:rPr>
              <a:t>Exact symbolic checking cannot hallucinate, and reports its own limits instead of guessing.</a:t>
            </a:r>
            <a:endParaRPr lang="en-US" sz="1800" dirty="0"/>
          </a:p>
        </p:txBody>
      </p:sp>
      <p:sp>
        <p:nvSpPr>
          <p:cNvPr id="33" name="Shape 31"/>
          <p:cNvSpPr/>
          <p:nvPr/>
        </p:nvSpPr>
        <p:spPr>
          <a:xfrm>
            <a:off x="1047750" y="6781800"/>
            <a:ext cx="16240125" cy="838200"/>
          </a:xfrm>
          <a:prstGeom prst="roundRect">
            <a:avLst>
              <a:gd name="adj" fmla="val 9091"/>
            </a:avLst>
          </a:prstGeom>
          <a:solidFill>
            <a:srgbClr val="E6F0E8"/>
          </a:solidFill>
          <a:ln/>
        </p:spPr>
        <p:txBody>
          <a:bodyPr/>
          <a:lstStyle/>
          <a:p>
            <a:endParaRPr lang="en-US"/>
          </a:p>
        </p:txBody>
      </p:sp>
      <p:sp>
        <p:nvSpPr>
          <p:cNvPr id="34" name="Shape 32"/>
          <p:cNvSpPr/>
          <p:nvPr/>
        </p:nvSpPr>
        <p:spPr>
          <a:xfrm>
            <a:off x="1047750" y="6781800"/>
            <a:ext cx="47625" cy="838200"/>
          </a:xfrm>
          <a:prstGeom prst="rect">
            <a:avLst/>
          </a:prstGeom>
          <a:solidFill>
            <a:srgbClr val="3F7D53"/>
          </a:solidFill>
          <a:ln/>
        </p:spPr>
        <p:txBody>
          <a:bodyPr/>
          <a:lstStyle/>
          <a:p>
            <a:endParaRPr lang="en-US"/>
          </a:p>
        </p:txBody>
      </p:sp>
      <p:sp>
        <p:nvSpPr>
          <p:cNvPr id="35" name="Text 33"/>
          <p:cNvSpPr/>
          <p:nvPr/>
        </p:nvSpPr>
        <p:spPr>
          <a:xfrm>
            <a:off x="1362075" y="6981825"/>
            <a:ext cx="3335655" cy="346695"/>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025" b="1" dirty="0">
                <a:solidFill>
                  <a:srgbClr val="3F7D53"/>
                </a:solidFill>
                <a:latin typeface="Arial" pitchFamily="34" charset="0"/>
                <a:ea typeface="Arial" pitchFamily="34" charset="-122"/>
                <a:cs typeface="Arial" pitchFamily="34" charset="-120"/>
              </a:rPr>
              <a:t>Hints</a:t>
            </a:r>
            <a:endParaRPr lang="en-US" sz="2025" dirty="0"/>
          </a:p>
        </p:txBody>
      </p:sp>
      <p:sp>
        <p:nvSpPr>
          <p:cNvPr id="36" name="Shape 34"/>
          <p:cNvSpPr/>
          <p:nvPr/>
        </p:nvSpPr>
        <p:spPr>
          <a:xfrm>
            <a:off x="4819650" y="6981825"/>
            <a:ext cx="3208511" cy="546720"/>
          </a:xfrm>
          <a:prstGeom prst="roundRect">
            <a:avLst>
              <a:gd name="adj" fmla="val 10989"/>
            </a:avLst>
          </a:prstGeom>
          <a:solidFill>
            <a:srgbClr val="FFFFFF"/>
          </a:solidFill>
          <a:ln/>
        </p:spPr>
        <p:txBody>
          <a:bodyPr/>
          <a:lstStyle/>
          <a:p>
            <a:endParaRPr lang="en-US"/>
          </a:p>
        </p:txBody>
      </p:sp>
      <p:sp>
        <p:nvSpPr>
          <p:cNvPr id="37" name="Text 35"/>
          <p:cNvSpPr/>
          <p:nvPr/>
        </p:nvSpPr>
        <p:spPr>
          <a:xfrm>
            <a:off x="4914900" y="7029450"/>
            <a:ext cx="3114266" cy="499095"/>
          </a:xfrm>
          <a:prstGeom prst="rect">
            <a:avLst/>
          </a:prstGeom>
          <a:noFill/>
          <a:ln/>
        </p:spPr>
        <p:txBody>
          <a:bodyPr wrap="square" lIns="25400" tIns="25400" rIns="25400" bIns="25400" rtlCol="0" anchor="t">
            <a:normAutofit fontScale="92500" lnSpcReduction="10000"/>
          </a:bodyPr>
          <a:lstStyle/>
          <a:p>
            <a:pPr>
              <a:lnSpc>
                <a:spcPct val="114400"/>
              </a:lnSpc>
            </a:pPr>
            <a:r>
              <a:rPr lang="en-US" sz="1500" b="1" dirty="0">
                <a:solidFill>
                  <a:srgbClr val="1E2430"/>
                </a:solidFill>
                <a:latin typeface="Courier New" pitchFamily="34" charset="0"/>
                <a:cs typeface="Courier New" pitchFamily="34" charset="-120"/>
              </a:rPr>
              <a:t>Gemini, checked by </a:t>
            </a:r>
            <a:r>
              <a:rPr lang="en-US" sz="1500" b="1" dirty="0" err="1">
                <a:solidFill>
                  <a:srgbClr val="1E2430"/>
                </a:solidFill>
                <a:latin typeface="Courier New" pitchFamily="34" charset="0"/>
                <a:cs typeface="Courier New" pitchFamily="34" charset="-120"/>
              </a:rPr>
              <a:t>SymPy</a:t>
            </a:r>
            <a:r>
              <a:rPr lang="en-US" sz="1500" b="1" dirty="0">
                <a:solidFill>
                  <a:srgbClr val="1E2430"/>
                </a:solidFill>
                <a:latin typeface="Courier New" pitchFamily="34" charset="0"/>
                <a:cs typeface="Courier New" pitchFamily="34" charset="-120"/>
              </a:rPr>
              <a:t> and </a:t>
            </a:r>
            <a:r>
              <a:rPr lang="en-US" sz="1500" b="1" dirty="0" err="1">
                <a:solidFill>
                  <a:srgbClr val="1E2430"/>
                </a:solidFill>
                <a:latin typeface="Courier New" pitchFamily="34" charset="0"/>
                <a:cs typeface="Courier New" pitchFamily="34" charset="-120"/>
              </a:rPr>
              <a:t>RDKit</a:t>
            </a:r>
            <a:endParaRPr lang="en-US" sz="1500" b="1" dirty="0">
              <a:solidFill>
                <a:srgbClr val="1E2430"/>
              </a:solidFill>
              <a:latin typeface="Courier New" pitchFamily="34" charset="0"/>
              <a:cs typeface="Courier New" pitchFamily="34" charset="-120"/>
            </a:endParaRPr>
          </a:p>
        </p:txBody>
      </p:sp>
      <p:sp>
        <p:nvSpPr>
          <p:cNvPr id="38" name="Text 36"/>
          <p:cNvSpPr/>
          <p:nvPr/>
        </p:nvSpPr>
        <p:spPr>
          <a:xfrm>
            <a:off x="10258836" y="6866409"/>
            <a:ext cx="6867525" cy="668982"/>
          </a:xfrm>
          <a:prstGeom prst="rect">
            <a:avLst/>
          </a:prstGeom>
          <a:noFill/>
          <a:ln/>
        </p:spPr>
        <p:txBody>
          <a:bodyPr wrap="square" lIns="25400" tIns="25400" rIns="25400" bIns="25400" rtlCol="0" anchor="t">
            <a:noAutofit/>
          </a:bodyPr>
          <a:lstStyle/>
          <a:p>
            <a:r>
              <a:rPr lang="en-US" sz="1600" dirty="0">
                <a:solidFill>
                  <a:srgbClr val="2C3A4A"/>
                </a:solidFill>
                <a:latin typeface="Arial" panose="020B0604020202020204" pitchFamily="34" charset="0"/>
                <a:cs typeface="Arial" panose="020B0604020202020204" pitchFamily="34" charset="0"/>
              </a:rPr>
              <a:t>The model writes the hint and the worked example. Our own engines re-check every line before it reaches the student, and the answer is filtered out on the way.</a:t>
            </a:r>
          </a:p>
          <a:p>
            <a:br>
              <a:rPr lang="en-US" sz="1600" dirty="0">
                <a:latin typeface="Arial" panose="020B0604020202020204" pitchFamily="34" charset="0"/>
                <a:cs typeface="Arial" panose="020B0604020202020204" pitchFamily="34" charset="0"/>
              </a:rPr>
            </a:br>
            <a:endParaRPr lang="en-US" sz="1600" dirty="0">
              <a:latin typeface="Arial" panose="020B0604020202020204" pitchFamily="34" charset="0"/>
              <a:cs typeface="Arial" panose="020B0604020202020204" pitchFamily="34" charset="0"/>
            </a:endParaRPr>
          </a:p>
        </p:txBody>
      </p:sp>
      <p:sp>
        <p:nvSpPr>
          <p:cNvPr id="39" name="Shape 37"/>
          <p:cNvSpPr/>
          <p:nvPr/>
        </p:nvSpPr>
        <p:spPr>
          <a:xfrm>
            <a:off x="1047750" y="7772400"/>
            <a:ext cx="16240125" cy="838200"/>
          </a:xfrm>
          <a:prstGeom prst="roundRect">
            <a:avLst>
              <a:gd name="adj" fmla="val 9091"/>
            </a:avLst>
          </a:prstGeom>
          <a:solidFill>
            <a:srgbClr val="F7E6E2"/>
          </a:solidFill>
          <a:ln/>
        </p:spPr>
        <p:txBody>
          <a:bodyPr/>
          <a:lstStyle/>
          <a:p>
            <a:endParaRPr lang="en-US"/>
          </a:p>
        </p:txBody>
      </p:sp>
      <p:sp>
        <p:nvSpPr>
          <p:cNvPr id="40" name="Shape 38"/>
          <p:cNvSpPr/>
          <p:nvPr/>
        </p:nvSpPr>
        <p:spPr>
          <a:xfrm>
            <a:off x="1047750" y="7772400"/>
            <a:ext cx="47625" cy="838200"/>
          </a:xfrm>
          <a:prstGeom prst="rect">
            <a:avLst/>
          </a:prstGeom>
          <a:solidFill>
            <a:srgbClr val="C0432F"/>
          </a:solidFill>
          <a:ln/>
        </p:spPr>
        <p:txBody>
          <a:bodyPr/>
          <a:lstStyle/>
          <a:p>
            <a:endParaRPr lang="en-US"/>
          </a:p>
        </p:txBody>
      </p:sp>
      <p:sp>
        <p:nvSpPr>
          <p:cNvPr id="41" name="Text 39"/>
          <p:cNvSpPr/>
          <p:nvPr/>
        </p:nvSpPr>
        <p:spPr>
          <a:xfrm>
            <a:off x="1362075" y="7972425"/>
            <a:ext cx="3335655" cy="346695"/>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025" b="1" dirty="0">
                <a:solidFill>
                  <a:srgbClr val="C0432F"/>
                </a:solidFill>
                <a:latin typeface="Arial" pitchFamily="34" charset="0"/>
                <a:ea typeface="Arial" pitchFamily="34" charset="-122"/>
                <a:cs typeface="Arial" pitchFamily="34" charset="-120"/>
              </a:rPr>
              <a:t>Backend</a:t>
            </a:r>
            <a:endParaRPr lang="en-US" sz="2025" dirty="0"/>
          </a:p>
        </p:txBody>
      </p:sp>
      <p:sp>
        <p:nvSpPr>
          <p:cNvPr id="42" name="Shape 40"/>
          <p:cNvSpPr/>
          <p:nvPr/>
        </p:nvSpPr>
        <p:spPr>
          <a:xfrm>
            <a:off x="4819650" y="7972425"/>
            <a:ext cx="3238500" cy="598140"/>
          </a:xfrm>
          <a:prstGeom prst="roundRect">
            <a:avLst>
              <a:gd name="adj" fmla="val 6370"/>
            </a:avLst>
          </a:prstGeom>
          <a:solidFill>
            <a:srgbClr val="FFFFFF"/>
          </a:solidFill>
          <a:ln/>
        </p:spPr>
        <p:txBody>
          <a:bodyPr/>
          <a:lstStyle/>
          <a:p>
            <a:endParaRPr lang="en-US"/>
          </a:p>
        </p:txBody>
      </p:sp>
      <p:sp>
        <p:nvSpPr>
          <p:cNvPr id="43" name="Text 41"/>
          <p:cNvSpPr/>
          <p:nvPr/>
        </p:nvSpPr>
        <p:spPr>
          <a:xfrm>
            <a:off x="4914900" y="8020050"/>
            <a:ext cx="3145155" cy="540990"/>
          </a:xfrm>
          <a:prstGeom prst="rect">
            <a:avLst/>
          </a:prstGeom>
          <a:noFill/>
          <a:ln/>
        </p:spPr>
        <p:txBody>
          <a:bodyPr wrap="square" lIns="25400" tIns="25400" rIns="25400" bIns="25400" rtlCol="0" anchor="t">
            <a:normAutofit lnSpcReduction="10000"/>
          </a:bodyPr>
          <a:lstStyle/>
          <a:p>
            <a:pPr marL="0" indent="0" algn="l">
              <a:lnSpc>
                <a:spcPct val="105600"/>
              </a:lnSpc>
              <a:buNone/>
            </a:pPr>
            <a:r>
              <a:rPr lang="en-US" sz="1650" b="1" dirty="0">
                <a:solidFill>
                  <a:srgbClr val="1E2430"/>
                </a:solidFill>
                <a:latin typeface="Courier New" pitchFamily="34" charset="0"/>
                <a:ea typeface="Courier New" pitchFamily="34" charset="-122"/>
                <a:cs typeface="Courier New" pitchFamily="34" charset="-120"/>
              </a:rPr>
              <a:t>FastAPI, Pydantic schemas</a:t>
            </a:r>
            <a:endParaRPr lang="en-US" sz="1650" dirty="0"/>
          </a:p>
        </p:txBody>
      </p:sp>
      <p:sp>
        <p:nvSpPr>
          <p:cNvPr id="44" name="Text 42"/>
          <p:cNvSpPr/>
          <p:nvPr/>
        </p:nvSpPr>
        <p:spPr>
          <a:xfrm>
            <a:off x="10220801" y="7857009"/>
            <a:ext cx="6867525" cy="668982"/>
          </a:xfrm>
          <a:prstGeom prst="rect">
            <a:avLst/>
          </a:prstGeom>
          <a:noFill/>
          <a:ln/>
        </p:spPr>
        <p:txBody>
          <a:bodyPr wrap="square" lIns="25400" tIns="25400" rIns="25400" bIns="25400" rtlCol="0" anchor="t">
            <a:normAutofit lnSpcReduction="10000"/>
          </a:bodyPr>
          <a:lstStyle/>
          <a:p>
            <a:pPr>
              <a:lnSpc>
                <a:spcPct val="120000"/>
              </a:lnSpc>
            </a:pPr>
            <a:r>
              <a:rPr lang="en-US" dirty="0">
                <a:solidFill>
                  <a:srgbClr val="45505D"/>
                </a:solidFill>
                <a:latin typeface="Arial" pitchFamily="34" charset="0"/>
                <a:ea typeface="Arial" pitchFamily="34" charset="-122"/>
                <a:cs typeface="Arial" pitchFamily="34" charset="-120"/>
              </a:rPr>
              <a:t>Shared schemas are the contract between ink, transcription, and judging.</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533840B-76EB-B075-8312-F8837C1630CC}"/>
            </a:ext>
          </a:extLst>
        </p:cNvPr>
        <p:cNvGrpSpPr/>
        <p:nvPr/>
      </p:nvGrpSpPr>
      <p:grpSpPr>
        <a:xfrm>
          <a:off x="0" y="0"/>
          <a:ext cx="0" cy="0"/>
          <a:chOff x="0" y="0"/>
          <a:chExt cx="0" cy="0"/>
        </a:xfrm>
      </p:grpSpPr>
      <p:sp>
        <p:nvSpPr>
          <p:cNvPr id="73" name="Rectangle 72">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8" name="Picture 67">
            <a:extLst>
              <a:ext uri="{FF2B5EF4-FFF2-40B4-BE49-F238E27FC236}">
                <a16:creationId xmlns:a16="http://schemas.microsoft.com/office/drawing/2014/main" id="{9515C019-CD57-266D-43AD-EE33ABF708BF}"/>
              </a:ext>
            </a:extLst>
          </p:cNvPr>
          <p:cNvPicPr>
            <a:picLocks noChangeAspect="1"/>
          </p:cNvPicPr>
          <p:nvPr/>
        </p:nvPicPr>
        <p:blipFill>
          <a:blip r:embed="rId3"/>
          <a:srcRect b="461"/>
          <a:stretch>
            <a:fillRect/>
          </a:stretch>
        </p:blipFill>
        <p:spPr>
          <a:xfrm>
            <a:off x="20" y="1923"/>
            <a:ext cx="18287980" cy="10285077"/>
          </a:xfrm>
          <a:prstGeom prst="rect">
            <a:avLst/>
          </a:prstGeom>
        </p:spPr>
      </p:pic>
    </p:spTree>
    <p:extLst>
      <p:ext uri="{BB962C8B-B14F-4D97-AF65-F5344CB8AC3E}">
        <p14:creationId xmlns:p14="http://schemas.microsoft.com/office/powerpoint/2010/main" val="260614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2">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631178" y="3220417"/>
            <a:ext cx="17025643" cy="3846166"/>
          </a:xfrm>
          <a:prstGeom prst="rect">
            <a:avLst/>
          </a:prstGeom>
          <a:noFill/>
          <a:ln/>
        </p:spPr>
        <p:txBody>
          <a:bodyPr wrap="square" lIns="25400" tIns="25400" rIns="25400" bIns="25400" rtlCol="0" anchor="t">
            <a:normAutofit lnSpcReduction="10000"/>
          </a:bodyPr>
          <a:lstStyle/>
          <a:p>
            <a:pPr marL="0" indent="0" algn="l">
              <a:buNone/>
            </a:pPr>
            <a:r>
              <a:rPr lang="en-US" sz="25300" b="1" kern="0" spc="-495" dirty="0">
                <a:solidFill>
                  <a:srgbClr val="1E2430"/>
                </a:solidFill>
                <a:latin typeface="Courier New" pitchFamily="34" charset="0"/>
                <a:ea typeface="Courier New" pitchFamily="34" charset="-122"/>
                <a:cs typeface="Courier New" pitchFamily="34" charset="-120"/>
              </a:rPr>
              <a:t>verity.ai</a:t>
            </a:r>
            <a:endParaRPr lang="en-US" sz="25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1047750" y="533400"/>
            <a:ext cx="144780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verity.ai</a:t>
            </a:r>
            <a:endParaRPr lang="en-US" sz="1650" dirty="0"/>
          </a:p>
        </p:txBody>
      </p:sp>
      <p:sp>
        <p:nvSpPr>
          <p:cNvPr id="3" name="Text 1"/>
          <p:cNvSpPr/>
          <p:nvPr/>
        </p:nvSpPr>
        <p:spPr>
          <a:xfrm>
            <a:off x="16687800" y="533400"/>
            <a:ext cx="70485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SAIL</a:t>
            </a:r>
            <a:endParaRPr lang="en-US" sz="1650" dirty="0"/>
          </a:p>
        </p:txBody>
      </p:sp>
      <p:sp>
        <p:nvSpPr>
          <p:cNvPr id="4" name="Text 2"/>
          <p:cNvSpPr/>
          <p:nvPr/>
        </p:nvSpPr>
        <p:spPr>
          <a:xfrm>
            <a:off x="1047750" y="857250"/>
            <a:ext cx="19592925" cy="266700"/>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500" b="1" dirty="0">
                <a:solidFill>
                  <a:srgbClr val="2E5AAC"/>
                </a:solidFill>
                <a:latin typeface="Courier New" pitchFamily="34" charset="0"/>
                <a:ea typeface="Courier New" pitchFamily="34" charset="-122"/>
                <a:cs typeface="Courier New" pitchFamily="34" charset="-120"/>
              </a:rPr>
              <a:t>TRUST</a:t>
            </a:r>
            <a:endParaRPr lang="en-US" sz="1500" dirty="0"/>
          </a:p>
        </p:txBody>
      </p:sp>
      <p:sp>
        <p:nvSpPr>
          <p:cNvPr id="5" name="Text 3"/>
          <p:cNvSpPr/>
          <p:nvPr/>
        </p:nvSpPr>
        <p:spPr>
          <a:xfrm>
            <a:off x="1047750" y="1295400"/>
            <a:ext cx="18346103" cy="632445"/>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3900" b="1" dirty="0">
                <a:solidFill>
                  <a:srgbClr val="1E2430"/>
                </a:solidFill>
                <a:latin typeface="Arial" pitchFamily="34" charset="0"/>
                <a:ea typeface="Arial" pitchFamily="34" charset="-122"/>
                <a:cs typeface="Arial" pitchFamily="34" charset="-120"/>
              </a:rPr>
              <a:t>Where the AI is, and where it is not</a:t>
            </a:r>
            <a:endParaRPr lang="en-US" sz="3900" dirty="0"/>
          </a:p>
        </p:txBody>
      </p:sp>
      <p:sp>
        <p:nvSpPr>
          <p:cNvPr id="6" name="Shape 4"/>
          <p:cNvSpPr/>
          <p:nvPr/>
        </p:nvSpPr>
        <p:spPr>
          <a:xfrm>
            <a:off x="1047750" y="2324100"/>
            <a:ext cx="7905750" cy="6115050"/>
          </a:xfrm>
          <a:prstGeom prst="roundRect">
            <a:avLst>
              <a:gd name="adj" fmla="val 1246"/>
            </a:avLst>
          </a:prstGeom>
          <a:solidFill>
            <a:srgbClr val="FFFFFF"/>
          </a:solidFill>
          <a:ln/>
          <a:effectLst>
            <a:outerShdw blurRad="304800" dist="133350" dir="5400000" algn="bl" rotWithShape="0">
              <a:srgbClr val="1E2430">
                <a:alpha val="8000"/>
              </a:srgbClr>
            </a:outerShdw>
          </a:effectLst>
        </p:spPr>
        <p:txBody>
          <a:bodyPr/>
          <a:lstStyle/>
          <a:p>
            <a:endParaRPr lang="en-US"/>
          </a:p>
        </p:txBody>
      </p:sp>
      <p:sp>
        <p:nvSpPr>
          <p:cNvPr id="7" name="Shape 5"/>
          <p:cNvSpPr/>
          <p:nvPr/>
        </p:nvSpPr>
        <p:spPr>
          <a:xfrm>
            <a:off x="1047750" y="8429625"/>
            <a:ext cx="7905750" cy="9525"/>
          </a:xfrm>
          <a:prstGeom prst="rect">
            <a:avLst/>
          </a:prstGeom>
          <a:solidFill>
            <a:srgbClr val="D8D2C2"/>
          </a:solidFill>
          <a:ln/>
        </p:spPr>
        <p:txBody>
          <a:bodyPr/>
          <a:lstStyle/>
          <a:p>
            <a:endParaRPr lang="en-US"/>
          </a:p>
        </p:txBody>
      </p:sp>
      <p:sp>
        <p:nvSpPr>
          <p:cNvPr id="8" name="Shape 6"/>
          <p:cNvSpPr/>
          <p:nvPr/>
        </p:nvSpPr>
        <p:spPr>
          <a:xfrm>
            <a:off x="1047750" y="2324100"/>
            <a:ext cx="7905750" cy="47625"/>
          </a:xfrm>
          <a:custGeom>
            <a:avLst/>
            <a:gdLst/>
            <a:ahLst/>
            <a:cxnLst/>
            <a:rect l="l" t="t" r="r" b="b"/>
            <a:pathLst>
              <a:path w="7905750" h="47625">
                <a:moveTo>
                  <a:pt x="23813" y="0"/>
                </a:moveTo>
                <a:lnTo>
                  <a:pt x="7881938" y="0"/>
                </a:lnTo>
                <a:arcTo wR="23813" hR="23813" stAng="16200000" swAng="5400000"/>
                <a:lnTo>
                  <a:pt x="7905750" y="47625"/>
                </a:lnTo>
                <a:lnTo>
                  <a:pt x="0" y="47625"/>
                </a:lnTo>
                <a:lnTo>
                  <a:pt x="0" y="23813"/>
                </a:lnTo>
                <a:arcTo wR="23813" hR="23813" stAng="10800000" swAng="5400000"/>
                <a:close/>
              </a:path>
            </a:pathLst>
          </a:custGeom>
          <a:solidFill>
            <a:srgbClr val="2E5AAC"/>
          </a:solidFill>
          <a:ln/>
        </p:spPr>
        <p:txBody>
          <a:bodyPr/>
          <a:lstStyle/>
          <a:p>
            <a:endParaRPr lang="en-US"/>
          </a:p>
        </p:txBody>
      </p:sp>
      <p:sp>
        <p:nvSpPr>
          <p:cNvPr id="9" name="Shape 7"/>
          <p:cNvSpPr/>
          <p:nvPr/>
        </p:nvSpPr>
        <p:spPr>
          <a:xfrm>
            <a:off x="1047750" y="2324100"/>
            <a:ext cx="9525" cy="6115050"/>
          </a:xfrm>
          <a:prstGeom prst="rect">
            <a:avLst/>
          </a:prstGeom>
          <a:solidFill>
            <a:srgbClr val="D8D2C2"/>
          </a:solidFill>
          <a:ln/>
        </p:spPr>
        <p:txBody>
          <a:bodyPr/>
          <a:lstStyle/>
          <a:p>
            <a:endParaRPr lang="en-US"/>
          </a:p>
        </p:txBody>
      </p:sp>
      <p:sp>
        <p:nvSpPr>
          <p:cNvPr id="10" name="Shape 8"/>
          <p:cNvSpPr/>
          <p:nvPr/>
        </p:nvSpPr>
        <p:spPr>
          <a:xfrm>
            <a:off x="8943975" y="2324100"/>
            <a:ext cx="9525" cy="6115050"/>
          </a:xfrm>
          <a:prstGeom prst="rect">
            <a:avLst/>
          </a:prstGeom>
          <a:solidFill>
            <a:srgbClr val="D8D2C2"/>
          </a:solidFill>
          <a:ln/>
        </p:spPr>
        <p:txBody>
          <a:bodyPr/>
          <a:lstStyle/>
          <a:p>
            <a:endParaRPr lang="en-US"/>
          </a:p>
        </p:txBody>
      </p:sp>
      <p:sp>
        <p:nvSpPr>
          <p:cNvPr id="11" name="Text 9"/>
          <p:cNvSpPr/>
          <p:nvPr/>
        </p:nvSpPr>
        <p:spPr>
          <a:xfrm>
            <a:off x="1457325" y="2724150"/>
            <a:ext cx="8025194"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b="1" dirty="0">
                <a:solidFill>
                  <a:srgbClr val="2E5AAC"/>
                </a:solidFill>
                <a:latin typeface="Courier New" pitchFamily="34" charset="0"/>
                <a:ea typeface="Courier New" pitchFamily="34" charset="-122"/>
                <a:cs typeface="Courier New" pitchFamily="34" charset="-120"/>
              </a:rPr>
              <a:t>THE AI'S ONE JOB</a:t>
            </a:r>
            <a:endParaRPr lang="en-US" sz="1650" dirty="0"/>
          </a:p>
        </p:txBody>
      </p:sp>
      <p:sp>
        <p:nvSpPr>
          <p:cNvPr id="12" name="Text 10"/>
          <p:cNvSpPr/>
          <p:nvPr/>
        </p:nvSpPr>
        <p:spPr>
          <a:xfrm>
            <a:off x="1457325" y="3181350"/>
            <a:ext cx="8025194" cy="466725"/>
          </a:xfrm>
          <a:prstGeom prst="rect">
            <a:avLst/>
          </a:prstGeom>
          <a:noFill/>
          <a:ln/>
        </p:spPr>
        <p:txBody>
          <a:bodyPr wrap="square" lIns="25400" tIns="25400" rIns="25400" bIns="25400" rtlCol="0" anchor="t">
            <a:normAutofit lnSpcReduction="10000"/>
          </a:bodyPr>
          <a:lstStyle/>
          <a:p>
            <a:pPr marL="0" indent="0" algn="l">
              <a:lnSpc>
                <a:spcPct val="108108"/>
              </a:lnSpc>
              <a:buNone/>
            </a:pPr>
            <a:r>
              <a:rPr lang="en-US" sz="2700" b="1" dirty="0">
                <a:solidFill>
                  <a:srgbClr val="1E2430"/>
                </a:solidFill>
                <a:latin typeface="Arial" pitchFamily="34" charset="0"/>
                <a:ea typeface="Arial" pitchFamily="34" charset="-122"/>
                <a:cs typeface="Arial" pitchFamily="34" charset="-120"/>
              </a:rPr>
              <a:t>Reading handwriting</a:t>
            </a:r>
            <a:endParaRPr lang="en-US" sz="2700" dirty="0"/>
          </a:p>
        </p:txBody>
      </p:sp>
      <p:sp>
        <p:nvSpPr>
          <p:cNvPr id="13" name="Text 11"/>
          <p:cNvSpPr/>
          <p:nvPr/>
        </p:nvSpPr>
        <p:spPr>
          <a:xfrm>
            <a:off x="1457325" y="3771900"/>
            <a:ext cx="7515035" cy="1073944"/>
          </a:xfrm>
          <a:prstGeom prst="rect">
            <a:avLst/>
          </a:prstGeom>
          <a:noFill/>
          <a:ln/>
        </p:spPr>
        <p:txBody>
          <a:bodyPr wrap="square" lIns="25400" tIns="25400" rIns="25400" bIns="25400" rtlCol="0" anchor="t">
            <a:normAutofit lnSpcReduction="10000"/>
          </a:bodyPr>
          <a:lstStyle/>
          <a:p>
            <a:pPr marL="0" indent="0" algn="l">
              <a:lnSpc>
                <a:spcPct val="125405"/>
              </a:lnSpc>
              <a:buNone/>
            </a:pPr>
            <a:r>
              <a:rPr lang="en-US" sz="1875" dirty="0">
                <a:solidFill>
                  <a:srgbClr val="45505D"/>
                </a:solidFill>
                <a:latin typeface="Arial" pitchFamily="34" charset="0"/>
                <a:ea typeface="Arial" pitchFamily="34" charset="-122"/>
                <a:cs typeface="Arial" pitchFamily="34" charset="-120"/>
              </a:rPr>
              <a:t>Gemini 2.5 Flash on Vertex AI turns each finished row into typed math. Temperature zero, output capped, answers normalized, an explicit flag when a line is unreadable.</a:t>
            </a:r>
            <a:endParaRPr lang="en-US" sz="1875" dirty="0"/>
          </a:p>
        </p:txBody>
      </p:sp>
      <p:sp>
        <p:nvSpPr>
          <p:cNvPr id="14" name="Shape 12"/>
          <p:cNvSpPr/>
          <p:nvPr/>
        </p:nvSpPr>
        <p:spPr>
          <a:xfrm>
            <a:off x="1457325" y="4991100"/>
            <a:ext cx="7086600" cy="9525"/>
          </a:xfrm>
          <a:prstGeom prst="rect">
            <a:avLst/>
          </a:prstGeom>
          <a:solidFill>
            <a:srgbClr val="D8D2C2"/>
          </a:solidFill>
          <a:ln/>
        </p:spPr>
        <p:txBody>
          <a:bodyPr/>
          <a:lstStyle/>
          <a:p>
            <a:endParaRPr lang="en-US"/>
          </a:p>
        </p:txBody>
      </p:sp>
      <p:sp>
        <p:nvSpPr>
          <p:cNvPr id="15" name="Text 13"/>
          <p:cNvSpPr/>
          <p:nvPr/>
        </p:nvSpPr>
        <p:spPr>
          <a:xfrm>
            <a:off x="1457325" y="5238750"/>
            <a:ext cx="7515035" cy="1073944"/>
          </a:xfrm>
          <a:prstGeom prst="rect">
            <a:avLst/>
          </a:prstGeom>
          <a:noFill/>
          <a:ln/>
        </p:spPr>
        <p:txBody>
          <a:bodyPr wrap="square" lIns="25400" tIns="25400" rIns="25400" bIns="25400" rtlCol="0" anchor="t">
            <a:normAutofit lnSpcReduction="10000"/>
          </a:bodyPr>
          <a:lstStyle/>
          <a:p>
            <a:pPr marL="0" indent="0" algn="l">
              <a:lnSpc>
                <a:spcPct val="125405"/>
              </a:lnSpc>
              <a:buNone/>
            </a:pPr>
            <a:r>
              <a:rPr lang="en-US" sz="1875" dirty="0">
                <a:solidFill>
                  <a:srgbClr val="1E2430"/>
                </a:solidFill>
                <a:latin typeface="Arial" pitchFamily="34" charset="0"/>
                <a:ea typeface="Arial" pitchFamily="34" charset="-122"/>
                <a:cs typeface="Arial" pitchFamily="34" charset="-120"/>
              </a:rPr>
              <a:t>If it misreads, the student retypes the line in one tap and the check re-runs for free. </a:t>
            </a:r>
            <a:r>
              <a:rPr lang="en-US" sz="1875" b="1" dirty="0">
                <a:solidFill>
                  <a:srgbClr val="1E2430"/>
                </a:solidFill>
                <a:latin typeface="Arial" pitchFamily="34" charset="0"/>
                <a:ea typeface="Arial" pitchFamily="34" charset="-122"/>
                <a:cs typeface="Arial" pitchFamily="34" charset="-120"/>
              </a:rPr>
              <a:t>Misreads are an inconvenience, never a wrong verdict.</a:t>
            </a:r>
            <a:endParaRPr lang="en-US" sz="1200" dirty="0"/>
          </a:p>
        </p:txBody>
      </p:sp>
      <p:sp>
        <p:nvSpPr>
          <p:cNvPr id="16" name="Shape 14"/>
          <p:cNvSpPr/>
          <p:nvPr/>
        </p:nvSpPr>
        <p:spPr>
          <a:xfrm>
            <a:off x="9334500" y="2324100"/>
            <a:ext cx="7905750" cy="6115050"/>
          </a:xfrm>
          <a:prstGeom prst="roundRect">
            <a:avLst>
              <a:gd name="adj" fmla="val 1246"/>
            </a:avLst>
          </a:prstGeom>
          <a:solidFill>
            <a:srgbClr val="1E2430"/>
          </a:solidFill>
          <a:ln/>
          <a:effectLst>
            <a:outerShdw blurRad="304800" dist="133350" dir="5400000" algn="bl" rotWithShape="0">
              <a:srgbClr val="1E2430">
                <a:alpha val="16000"/>
              </a:srgbClr>
            </a:outerShdw>
          </a:effectLst>
        </p:spPr>
        <p:txBody>
          <a:bodyPr/>
          <a:lstStyle/>
          <a:p>
            <a:endParaRPr lang="en-US"/>
          </a:p>
        </p:txBody>
      </p:sp>
      <p:sp>
        <p:nvSpPr>
          <p:cNvPr id="17" name="Shape 15"/>
          <p:cNvSpPr/>
          <p:nvPr/>
        </p:nvSpPr>
        <p:spPr>
          <a:xfrm>
            <a:off x="9334500" y="2324100"/>
            <a:ext cx="7905750" cy="47625"/>
          </a:xfrm>
          <a:custGeom>
            <a:avLst/>
            <a:gdLst/>
            <a:ahLst/>
            <a:cxnLst/>
            <a:rect l="l" t="t" r="r" b="b"/>
            <a:pathLst>
              <a:path w="7905750" h="47625">
                <a:moveTo>
                  <a:pt x="23813" y="0"/>
                </a:moveTo>
                <a:lnTo>
                  <a:pt x="7881938" y="0"/>
                </a:lnTo>
                <a:arcTo wR="23813" hR="23813" stAng="16200000" swAng="5400000"/>
                <a:lnTo>
                  <a:pt x="7905750" y="47625"/>
                </a:lnTo>
                <a:lnTo>
                  <a:pt x="0" y="47625"/>
                </a:lnTo>
                <a:lnTo>
                  <a:pt x="0" y="23813"/>
                </a:lnTo>
                <a:arcTo wR="23813" hR="23813" stAng="10800000" swAng="5400000"/>
                <a:close/>
              </a:path>
            </a:pathLst>
          </a:custGeom>
          <a:solidFill>
            <a:srgbClr val="C0432F"/>
          </a:solidFill>
          <a:ln/>
        </p:spPr>
        <p:txBody>
          <a:bodyPr/>
          <a:lstStyle/>
          <a:p>
            <a:endParaRPr lang="en-US"/>
          </a:p>
        </p:txBody>
      </p:sp>
      <p:sp>
        <p:nvSpPr>
          <p:cNvPr id="18" name="Text 16"/>
          <p:cNvSpPr/>
          <p:nvPr/>
        </p:nvSpPr>
        <p:spPr>
          <a:xfrm>
            <a:off x="9734550" y="2724150"/>
            <a:ext cx="8054626"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b="1" dirty="0">
                <a:solidFill>
                  <a:srgbClr val="E9A394"/>
                </a:solidFill>
                <a:latin typeface="Courier New" pitchFamily="34" charset="0"/>
                <a:ea typeface="Courier New" pitchFamily="34" charset="-122"/>
                <a:cs typeface="Courier New" pitchFamily="34" charset="-120"/>
              </a:rPr>
              <a:t>WHAT THE AI NEVER TOUCHES</a:t>
            </a:r>
            <a:endParaRPr lang="en-US" sz="1650" dirty="0"/>
          </a:p>
        </p:txBody>
      </p:sp>
      <p:sp>
        <p:nvSpPr>
          <p:cNvPr id="19" name="Text 17"/>
          <p:cNvSpPr/>
          <p:nvPr/>
        </p:nvSpPr>
        <p:spPr>
          <a:xfrm>
            <a:off x="9734550" y="3181350"/>
            <a:ext cx="8054626" cy="38100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250" b="1" dirty="0">
                <a:solidFill>
                  <a:srgbClr val="F7F4EE"/>
                </a:solidFill>
                <a:latin typeface="Arial" pitchFamily="34" charset="0"/>
                <a:ea typeface="Arial" pitchFamily="34" charset="-122"/>
                <a:cs typeface="Arial" pitchFamily="34" charset="-120"/>
              </a:rPr>
              <a:t>Deciding right or wrong</a:t>
            </a:r>
            <a:endParaRPr lang="en-US" sz="2250" dirty="0"/>
          </a:p>
        </p:txBody>
      </p:sp>
      <p:sp>
        <p:nvSpPr>
          <p:cNvPr id="20" name="Text 18"/>
          <p:cNvSpPr/>
          <p:nvPr/>
        </p:nvSpPr>
        <p:spPr>
          <a:xfrm>
            <a:off x="9734550" y="3619500"/>
            <a:ext cx="7534656" cy="678061"/>
          </a:xfrm>
          <a:prstGeom prst="rect">
            <a:avLst/>
          </a:prstGeom>
          <a:noFill/>
          <a:ln/>
        </p:spPr>
        <p:txBody>
          <a:bodyPr wrap="square" lIns="25400" tIns="25400" rIns="25400" bIns="25400" rtlCol="0" anchor="t">
            <a:normAutofit lnSpcReduction="10000"/>
          </a:bodyPr>
          <a:lstStyle/>
          <a:p>
            <a:pPr marL="0" indent="0" algn="l">
              <a:lnSpc>
                <a:spcPct val="121081"/>
              </a:lnSpc>
              <a:buNone/>
            </a:pPr>
            <a:r>
              <a:rPr lang="en-US" sz="1800" dirty="0">
                <a:solidFill>
                  <a:srgbClr val="B7BEC9"/>
                </a:solidFill>
                <a:latin typeface="Arial" pitchFamily="34" charset="0"/>
                <a:ea typeface="Arial" pitchFamily="34" charset="-122"/>
                <a:cs typeface="Arial" pitchFamily="34" charset="-120"/>
              </a:rPr>
              <a:t>SymPy proves it symbolically. Out-of-scope steps return "unsupported", not "wrong".</a:t>
            </a:r>
            <a:endParaRPr lang="en-US" sz="1800" dirty="0"/>
          </a:p>
        </p:txBody>
      </p:sp>
      <p:sp>
        <p:nvSpPr>
          <p:cNvPr id="21" name="Text 19"/>
          <p:cNvSpPr/>
          <p:nvPr/>
        </p:nvSpPr>
        <p:spPr>
          <a:xfrm>
            <a:off x="9734550" y="4476750"/>
            <a:ext cx="8054626" cy="38100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250" b="1" dirty="0">
                <a:solidFill>
                  <a:srgbClr val="F7F4EE"/>
                </a:solidFill>
                <a:latin typeface="Arial" pitchFamily="34" charset="0"/>
                <a:ea typeface="Arial" pitchFamily="34" charset="-122"/>
                <a:cs typeface="Arial" pitchFamily="34" charset="-120"/>
              </a:rPr>
              <a:t>Writing the hints</a:t>
            </a:r>
            <a:endParaRPr lang="en-US" sz="2250" dirty="0"/>
          </a:p>
        </p:txBody>
      </p:sp>
      <p:sp>
        <p:nvSpPr>
          <p:cNvPr id="22" name="Text 20"/>
          <p:cNvSpPr/>
          <p:nvPr/>
        </p:nvSpPr>
        <p:spPr>
          <a:xfrm>
            <a:off x="9734550" y="4914900"/>
            <a:ext cx="7534656" cy="678061"/>
          </a:xfrm>
          <a:prstGeom prst="rect">
            <a:avLst/>
          </a:prstGeom>
          <a:noFill/>
          <a:ln/>
        </p:spPr>
        <p:txBody>
          <a:bodyPr wrap="square" lIns="25400" tIns="25400" rIns="25400" bIns="25400" rtlCol="0" anchor="t">
            <a:normAutofit lnSpcReduction="10000"/>
          </a:bodyPr>
          <a:lstStyle/>
          <a:p>
            <a:pPr marL="0" indent="0" algn="l">
              <a:lnSpc>
                <a:spcPct val="121081"/>
              </a:lnSpc>
              <a:buNone/>
            </a:pPr>
            <a:r>
              <a:rPr lang="en-US" sz="1800" dirty="0">
                <a:solidFill>
                  <a:srgbClr val="B7BEC9"/>
                </a:solidFill>
                <a:latin typeface="Arial" pitchFamily="34" charset="0"/>
                <a:ea typeface="Arial" pitchFamily="34" charset="-122"/>
                <a:cs typeface="Arial" pitchFamily="34" charset="-120"/>
              </a:rPr>
              <a:t>Templates keyed to an error category, with automated tests asserting no answer leaks.</a:t>
            </a:r>
            <a:endParaRPr lang="en-US" sz="1800" dirty="0"/>
          </a:p>
        </p:txBody>
      </p:sp>
      <p:sp>
        <p:nvSpPr>
          <p:cNvPr id="23" name="Text 21"/>
          <p:cNvSpPr/>
          <p:nvPr/>
        </p:nvSpPr>
        <p:spPr>
          <a:xfrm>
            <a:off x="9734550" y="5772150"/>
            <a:ext cx="8054626" cy="38100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250" b="1" dirty="0">
                <a:solidFill>
                  <a:srgbClr val="F7F4EE"/>
                </a:solidFill>
                <a:latin typeface="Arial" pitchFamily="34" charset="0"/>
                <a:ea typeface="Arial" pitchFamily="34" charset="-122"/>
                <a:cs typeface="Arial" pitchFamily="34" charset="-120"/>
              </a:rPr>
              <a:t>Seeing the solution</a:t>
            </a:r>
            <a:endParaRPr lang="en-US" sz="2250" dirty="0"/>
          </a:p>
        </p:txBody>
      </p:sp>
      <p:sp>
        <p:nvSpPr>
          <p:cNvPr id="24" name="Text 22"/>
          <p:cNvSpPr/>
          <p:nvPr/>
        </p:nvSpPr>
        <p:spPr>
          <a:xfrm>
            <a:off x="9734550" y="6210300"/>
            <a:ext cx="7534656" cy="678061"/>
          </a:xfrm>
          <a:prstGeom prst="rect">
            <a:avLst/>
          </a:prstGeom>
          <a:noFill/>
          <a:ln/>
        </p:spPr>
        <p:txBody>
          <a:bodyPr wrap="square" lIns="25400" tIns="25400" rIns="25400" bIns="25400" rtlCol="0" anchor="t">
            <a:normAutofit lnSpcReduction="10000"/>
          </a:bodyPr>
          <a:lstStyle/>
          <a:p>
            <a:pPr marL="0" indent="0" algn="l">
              <a:lnSpc>
                <a:spcPct val="121081"/>
              </a:lnSpc>
              <a:buNone/>
            </a:pPr>
            <a:r>
              <a:rPr lang="en-US" sz="1800" dirty="0">
                <a:solidFill>
                  <a:srgbClr val="B7BEC9"/>
                </a:solidFill>
                <a:latin typeface="Arial" pitchFamily="34" charset="0"/>
                <a:ea typeface="Arial" pitchFamily="34" charset="-122"/>
                <a:cs typeface="Arial" pitchFamily="34" charset="-120"/>
              </a:rPr>
              <a:t>No model receives the problem or its answer, so there is nothing available to give away.</a:t>
            </a:r>
            <a:endParaRPr lang="en-US" sz="1800" dirty="0"/>
          </a:p>
        </p:txBody>
      </p:sp>
      <p:sp>
        <p:nvSpPr>
          <p:cNvPr id="25" name="Text 23"/>
          <p:cNvSpPr/>
          <p:nvPr/>
        </p:nvSpPr>
        <p:spPr>
          <a:xfrm>
            <a:off x="1047750" y="8743950"/>
            <a:ext cx="16678275" cy="894308"/>
          </a:xfrm>
          <a:prstGeom prst="rect">
            <a:avLst/>
          </a:prstGeom>
          <a:noFill/>
          <a:ln/>
        </p:spPr>
        <p:txBody>
          <a:bodyPr wrap="square" lIns="25400" tIns="25400" rIns="25400" bIns="25400" rtlCol="0" anchor="t">
            <a:normAutofit lnSpcReduction="10000"/>
          </a:bodyPr>
          <a:lstStyle/>
          <a:p>
            <a:pPr marL="0" indent="0" algn="l">
              <a:lnSpc>
                <a:spcPct val="125405"/>
              </a:lnSpc>
              <a:buNone/>
            </a:pPr>
            <a:r>
              <a:rPr lang="en-US" sz="2325" dirty="0">
                <a:solidFill>
                  <a:srgbClr val="1E2430"/>
                </a:solidFill>
                <a:latin typeface="Arial" pitchFamily="34" charset="0"/>
                <a:ea typeface="Arial" pitchFamily="34" charset="-122"/>
                <a:cs typeface="Arial" pitchFamily="34" charset="-120"/>
              </a:rPr>
              <a:t>Our position on revealing answers:</a:t>
            </a:r>
            <a:r>
              <a:rPr lang="en-US" sz="2325" b="1" dirty="0">
                <a:solidFill>
                  <a:srgbClr val="C0432F"/>
                </a:solidFill>
                <a:latin typeface="Arial" pitchFamily="34" charset="0"/>
                <a:ea typeface="Arial" pitchFamily="34" charset="-122"/>
                <a:cs typeface="Arial" pitchFamily="34" charset="-120"/>
              </a:rPr>
              <a:t>we don't, </a:t>
            </a:r>
            <a:r>
              <a:rPr lang="en-US" sz="2325" dirty="0">
                <a:solidFill>
                  <a:srgbClr val="1E2430"/>
                </a:solidFill>
                <a:latin typeface="Arial" pitchFamily="34" charset="0"/>
                <a:ea typeface="Arial" pitchFamily="34" charset="-122"/>
                <a:cs typeface="Arial" pitchFamily="34" charset="-120"/>
              </a:rPr>
              <a:t>at any hint level, under any phrasing. Anything that would get the app banned from a classroom is out of scope by definition.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1047750" y="533400"/>
            <a:ext cx="144780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verity.ai</a:t>
            </a:r>
            <a:endParaRPr lang="en-US" sz="1650" dirty="0"/>
          </a:p>
        </p:txBody>
      </p:sp>
      <p:sp>
        <p:nvSpPr>
          <p:cNvPr id="3" name="Text 1"/>
          <p:cNvSpPr/>
          <p:nvPr/>
        </p:nvSpPr>
        <p:spPr>
          <a:xfrm>
            <a:off x="16687800" y="533400"/>
            <a:ext cx="70485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SAIL</a:t>
            </a:r>
            <a:endParaRPr lang="en-US" sz="1650" dirty="0"/>
          </a:p>
        </p:txBody>
      </p:sp>
      <p:sp>
        <p:nvSpPr>
          <p:cNvPr id="4" name="Text 2"/>
          <p:cNvSpPr/>
          <p:nvPr/>
        </p:nvSpPr>
        <p:spPr>
          <a:xfrm>
            <a:off x="1047750" y="857250"/>
            <a:ext cx="19592925" cy="266700"/>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500" b="1" dirty="0">
                <a:solidFill>
                  <a:srgbClr val="2E5AAC"/>
                </a:solidFill>
                <a:latin typeface="Courier New" pitchFamily="34" charset="0"/>
                <a:ea typeface="Courier New" pitchFamily="34" charset="-122"/>
                <a:cs typeface="Courier New" pitchFamily="34" charset="-120"/>
              </a:rPr>
              <a:t>STATUS</a:t>
            </a:r>
            <a:endParaRPr lang="en-US" sz="1500" dirty="0"/>
          </a:p>
        </p:txBody>
      </p:sp>
      <p:sp>
        <p:nvSpPr>
          <p:cNvPr id="5" name="Text 3"/>
          <p:cNvSpPr/>
          <p:nvPr/>
        </p:nvSpPr>
        <p:spPr>
          <a:xfrm>
            <a:off x="1047750" y="1295400"/>
            <a:ext cx="18346103" cy="632445"/>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3900" b="1" dirty="0">
                <a:solidFill>
                  <a:srgbClr val="1E2430"/>
                </a:solidFill>
                <a:latin typeface="Arial" pitchFamily="34" charset="0"/>
                <a:ea typeface="Arial" pitchFamily="34" charset="-122"/>
                <a:cs typeface="Arial" pitchFamily="34" charset="-120"/>
              </a:rPr>
              <a:t>What runs today, and what does not yet</a:t>
            </a:r>
            <a:endParaRPr lang="en-US" sz="3900" dirty="0"/>
          </a:p>
        </p:txBody>
      </p:sp>
      <p:sp>
        <p:nvSpPr>
          <p:cNvPr id="6" name="Shape 4"/>
          <p:cNvSpPr/>
          <p:nvPr/>
        </p:nvSpPr>
        <p:spPr>
          <a:xfrm>
            <a:off x="1047750" y="2247900"/>
            <a:ext cx="5267325" cy="3162300"/>
          </a:xfrm>
          <a:prstGeom prst="roundRect">
            <a:avLst>
              <a:gd name="adj" fmla="val 1205"/>
            </a:avLst>
          </a:prstGeom>
          <a:ln w="9525">
            <a:solidFill>
              <a:srgbClr val="D8D2C2"/>
            </a:solidFill>
            <a:prstDash val="solid"/>
          </a:ln>
        </p:spPr>
        <p:txBody>
          <a:bodyPr/>
          <a:lstStyle/>
          <a:p>
            <a:endParaRPr lang="en-US"/>
          </a:p>
        </p:txBody>
      </p:sp>
      <p:sp>
        <p:nvSpPr>
          <p:cNvPr id="7" name="Shape 5"/>
          <p:cNvSpPr/>
          <p:nvPr/>
        </p:nvSpPr>
        <p:spPr>
          <a:xfrm>
            <a:off x="1057275" y="2257425"/>
            <a:ext cx="5229225" cy="3124200"/>
          </a:xfrm>
          <a:prstGeom prst="rect">
            <a:avLst/>
          </a:prstGeom>
          <a:solidFill>
            <a:srgbClr val="EFEADE"/>
          </a:solidFill>
          <a:ln/>
        </p:spPr>
        <p:txBody>
          <a:bodyPr/>
          <a:lstStyle/>
          <a:p>
            <a:endParaRPr lang="en-US"/>
          </a:p>
        </p:txBody>
      </p:sp>
      <p:sp>
        <p:nvSpPr>
          <p:cNvPr id="8" name="Text 6"/>
          <p:cNvSpPr/>
          <p:nvPr/>
        </p:nvSpPr>
        <p:spPr>
          <a:xfrm>
            <a:off x="1209675" y="5000625"/>
            <a:ext cx="4725353" cy="244748"/>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350" dirty="0">
                <a:solidFill>
                  <a:srgbClr val="5B6472"/>
                </a:solidFill>
                <a:latin typeface="Courier New" pitchFamily="34" charset="0"/>
                <a:ea typeface="Courier New" pitchFamily="34" charset="-122"/>
                <a:cs typeface="Courier New" pitchFamily="34" charset="-120"/>
              </a:rPr>
              <a:t>screenshot: stylus rows on ruled paper</a:t>
            </a:r>
            <a:endParaRPr lang="en-US" sz="1350" dirty="0"/>
          </a:p>
        </p:txBody>
      </p:sp>
      <p:sp>
        <p:nvSpPr>
          <p:cNvPr id="9" name="Shape 7"/>
          <p:cNvSpPr/>
          <p:nvPr/>
        </p:nvSpPr>
        <p:spPr>
          <a:xfrm>
            <a:off x="6524625" y="2247900"/>
            <a:ext cx="5267325" cy="3162300"/>
          </a:xfrm>
          <a:prstGeom prst="roundRect">
            <a:avLst>
              <a:gd name="adj" fmla="val 1205"/>
            </a:avLst>
          </a:prstGeom>
          <a:ln w="9525">
            <a:solidFill>
              <a:srgbClr val="D8D2C2"/>
            </a:solidFill>
            <a:prstDash val="solid"/>
          </a:ln>
        </p:spPr>
        <p:txBody>
          <a:bodyPr/>
          <a:lstStyle/>
          <a:p>
            <a:endParaRPr lang="en-US"/>
          </a:p>
        </p:txBody>
      </p:sp>
      <p:sp>
        <p:nvSpPr>
          <p:cNvPr id="10" name="Shape 8"/>
          <p:cNvSpPr/>
          <p:nvPr/>
        </p:nvSpPr>
        <p:spPr>
          <a:xfrm>
            <a:off x="6534150" y="2257425"/>
            <a:ext cx="5229225" cy="3124200"/>
          </a:xfrm>
          <a:prstGeom prst="rect">
            <a:avLst/>
          </a:prstGeom>
          <a:solidFill>
            <a:srgbClr val="EFEADE"/>
          </a:solidFill>
          <a:ln/>
        </p:spPr>
        <p:txBody>
          <a:bodyPr/>
          <a:lstStyle/>
          <a:p>
            <a:endParaRPr lang="en-US"/>
          </a:p>
        </p:txBody>
      </p:sp>
      <p:sp>
        <p:nvSpPr>
          <p:cNvPr id="11" name="Text 9"/>
          <p:cNvSpPr/>
          <p:nvPr/>
        </p:nvSpPr>
        <p:spPr>
          <a:xfrm>
            <a:off x="6686550" y="5000625"/>
            <a:ext cx="4976813" cy="244748"/>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350" dirty="0">
                <a:solidFill>
                  <a:srgbClr val="5B6472"/>
                </a:solidFill>
                <a:latin typeface="Courier New" pitchFamily="34" charset="0"/>
                <a:ea typeface="Courier New" pitchFamily="34" charset="-122"/>
                <a:cs typeface="Courier New" pitchFamily="34" charset="-120"/>
              </a:rPr>
              <a:t>screenshot: editable transcription panel</a:t>
            </a:r>
            <a:endParaRPr lang="en-US" sz="1350" dirty="0"/>
          </a:p>
        </p:txBody>
      </p:sp>
      <p:sp>
        <p:nvSpPr>
          <p:cNvPr id="12" name="Shape 10"/>
          <p:cNvSpPr/>
          <p:nvPr/>
        </p:nvSpPr>
        <p:spPr>
          <a:xfrm>
            <a:off x="11991975" y="2247900"/>
            <a:ext cx="5267325" cy="3162300"/>
          </a:xfrm>
          <a:prstGeom prst="roundRect">
            <a:avLst>
              <a:gd name="adj" fmla="val 1205"/>
            </a:avLst>
          </a:prstGeom>
          <a:ln w="9525">
            <a:solidFill>
              <a:srgbClr val="D8D2C2"/>
            </a:solidFill>
            <a:prstDash val="solid"/>
          </a:ln>
        </p:spPr>
        <p:txBody>
          <a:bodyPr/>
          <a:lstStyle/>
          <a:p>
            <a:endParaRPr lang="en-US"/>
          </a:p>
        </p:txBody>
      </p:sp>
      <p:sp>
        <p:nvSpPr>
          <p:cNvPr id="13" name="Shape 11"/>
          <p:cNvSpPr/>
          <p:nvPr/>
        </p:nvSpPr>
        <p:spPr>
          <a:xfrm>
            <a:off x="12001500" y="2257425"/>
            <a:ext cx="5229225" cy="3124200"/>
          </a:xfrm>
          <a:prstGeom prst="rect">
            <a:avLst/>
          </a:prstGeom>
          <a:solidFill>
            <a:srgbClr val="EFEADE"/>
          </a:solidFill>
          <a:ln/>
        </p:spPr>
        <p:txBody>
          <a:bodyPr/>
          <a:lstStyle/>
          <a:p>
            <a:endParaRPr lang="en-US"/>
          </a:p>
        </p:txBody>
      </p:sp>
      <p:sp>
        <p:nvSpPr>
          <p:cNvPr id="14" name="Text 12"/>
          <p:cNvSpPr/>
          <p:nvPr/>
        </p:nvSpPr>
        <p:spPr>
          <a:xfrm>
            <a:off x="12153900" y="5000625"/>
            <a:ext cx="4232910" cy="244748"/>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350" dirty="0">
                <a:solidFill>
                  <a:srgbClr val="5B6472"/>
                </a:solidFill>
                <a:latin typeface="Courier New" pitchFamily="34" charset="0"/>
                <a:ea typeface="Courier New" pitchFamily="34" charset="-122"/>
                <a:cs typeface="Courier New" pitchFamily="34" charset="-120"/>
              </a:rPr>
              <a:t>screenshot: flagged line with hint</a:t>
            </a:r>
            <a:endParaRPr lang="en-US" sz="1350" dirty="0"/>
          </a:p>
        </p:txBody>
      </p:sp>
      <p:sp>
        <p:nvSpPr>
          <p:cNvPr id="15" name="Text 13"/>
          <p:cNvSpPr/>
          <p:nvPr/>
        </p:nvSpPr>
        <p:spPr>
          <a:xfrm>
            <a:off x="1047750" y="5772150"/>
            <a:ext cx="10236518" cy="266700"/>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500" b="1" dirty="0">
                <a:solidFill>
                  <a:srgbClr val="3F7D53"/>
                </a:solidFill>
                <a:latin typeface="Courier New" pitchFamily="34" charset="0"/>
                <a:ea typeface="Courier New" pitchFamily="34" charset="-122"/>
                <a:cs typeface="Courier New" pitchFamily="34" charset="-120"/>
              </a:rPr>
              <a:t>RUNNING END TO END</a:t>
            </a:r>
            <a:endParaRPr lang="en-US" sz="1500" dirty="0"/>
          </a:p>
        </p:txBody>
      </p:sp>
      <p:sp>
        <p:nvSpPr>
          <p:cNvPr id="16" name="Text 14"/>
          <p:cNvSpPr/>
          <p:nvPr/>
        </p:nvSpPr>
        <p:spPr>
          <a:xfrm>
            <a:off x="1047750" y="6210300"/>
            <a:ext cx="4620863" cy="340370"/>
          </a:xfrm>
          <a:prstGeom prst="rect">
            <a:avLst/>
          </a:prstGeom>
          <a:noFill/>
          <a:ln/>
        </p:spPr>
        <p:txBody>
          <a:bodyPr wrap="square" lIns="25400" tIns="25400" rIns="25400" bIns="25400" rtlCol="0" anchor="t">
            <a:normAutofit lnSpcReduction="10000"/>
          </a:bodyPr>
          <a:lstStyle/>
          <a:p>
            <a:pPr marL="0" indent="0" algn="l">
              <a:lnSpc>
                <a:spcPct val="119351"/>
              </a:lnSpc>
              <a:buNone/>
            </a:pPr>
            <a:r>
              <a:rPr lang="en-US" sz="1725" dirty="0">
                <a:solidFill>
                  <a:srgbClr val="1E2430"/>
                </a:solidFill>
                <a:latin typeface="Arial" pitchFamily="34" charset="0"/>
                <a:ea typeface="Arial" pitchFamily="34" charset="-122"/>
                <a:cs typeface="Arial" pitchFamily="34" charset="-120"/>
              </a:rPr>
              <a:t>Stylus capture with palm rejection</a:t>
            </a:r>
            <a:endParaRPr lang="en-US" sz="1725" dirty="0"/>
          </a:p>
        </p:txBody>
      </p:sp>
      <p:sp>
        <p:nvSpPr>
          <p:cNvPr id="17" name="Text 15"/>
          <p:cNvSpPr/>
          <p:nvPr/>
        </p:nvSpPr>
        <p:spPr>
          <a:xfrm>
            <a:off x="5429250" y="6210300"/>
            <a:ext cx="4620863" cy="340370"/>
          </a:xfrm>
          <a:prstGeom prst="rect">
            <a:avLst/>
          </a:prstGeom>
          <a:noFill/>
          <a:ln/>
        </p:spPr>
        <p:txBody>
          <a:bodyPr wrap="square" lIns="25400" tIns="25400" rIns="25400" bIns="25400" rtlCol="0" anchor="t">
            <a:normAutofit lnSpcReduction="10000"/>
          </a:bodyPr>
          <a:lstStyle/>
          <a:p>
            <a:pPr marL="0" indent="0" algn="l">
              <a:lnSpc>
                <a:spcPct val="119351"/>
              </a:lnSpc>
              <a:buNone/>
            </a:pPr>
            <a:r>
              <a:rPr lang="en-US" sz="1725" dirty="0">
                <a:solidFill>
                  <a:srgbClr val="1E2430"/>
                </a:solidFill>
                <a:latin typeface="Arial" pitchFamily="34" charset="0"/>
                <a:ea typeface="Arial" pitchFamily="34" charset="-122"/>
                <a:cs typeface="Arial" pitchFamily="34" charset="-120"/>
              </a:rPr>
              <a:t>Row segmentation and per-line export</a:t>
            </a:r>
            <a:endParaRPr lang="en-US" sz="1725" dirty="0"/>
          </a:p>
        </p:txBody>
      </p:sp>
      <p:sp>
        <p:nvSpPr>
          <p:cNvPr id="18" name="Text 16"/>
          <p:cNvSpPr/>
          <p:nvPr/>
        </p:nvSpPr>
        <p:spPr>
          <a:xfrm>
            <a:off x="1047750" y="6638925"/>
            <a:ext cx="4620863" cy="340370"/>
          </a:xfrm>
          <a:prstGeom prst="rect">
            <a:avLst/>
          </a:prstGeom>
          <a:noFill/>
          <a:ln/>
        </p:spPr>
        <p:txBody>
          <a:bodyPr wrap="square" lIns="25400" tIns="25400" rIns="25400" bIns="25400" rtlCol="0" anchor="t">
            <a:normAutofit lnSpcReduction="10000"/>
          </a:bodyPr>
          <a:lstStyle/>
          <a:p>
            <a:pPr marL="0" indent="0" algn="l">
              <a:lnSpc>
                <a:spcPct val="119351"/>
              </a:lnSpc>
              <a:buNone/>
            </a:pPr>
            <a:r>
              <a:rPr lang="en-US" sz="1725" dirty="0">
                <a:solidFill>
                  <a:srgbClr val="1E2430"/>
                </a:solidFill>
                <a:latin typeface="Arial" pitchFamily="34" charset="0"/>
                <a:ea typeface="Arial" pitchFamily="34" charset="-122"/>
                <a:cs typeface="Arial" pitchFamily="34" charset="-120"/>
              </a:rPr>
              <a:t>Transcription with error handling</a:t>
            </a:r>
            <a:endParaRPr lang="en-US" sz="1725" dirty="0"/>
          </a:p>
        </p:txBody>
      </p:sp>
      <p:sp>
        <p:nvSpPr>
          <p:cNvPr id="19" name="Text 17"/>
          <p:cNvSpPr/>
          <p:nvPr/>
        </p:nvSpPr>
        <p:spPr>
          <a:xfrm>
            <a:off x="5429250" y="6638925"/>
            <a:ext cx="4620863" cy="340370"/>
          </a:xfrm>
          <a:prstGeom prst="rect">
            <a:avLst/>
          </a:prstGeom>
          <a:noFill/>
          <a:ln/>
        </p:spPr>
        <p:txBody>
          <a:bodyPr wrap="square" lIns="25400" tIns="25400" rIns="25400" bIns="25400" rtlCol="0" anchor="t">
            <a:normAutofit lnSpcReduction="10000"/>
          </a:bodyPr>
          <a:lstStyle/>
          <a:p>
            <a:pPr marL="0" indent="0" algn="l">
              <a:lnSpc>
                <a:spcPct val="119351"/>
              </a:lnSpc>
              <a:buNone/>
            </a:pPr>
            <a:r>
              <a:rPr lang="en-US" sz="1725" dirty="0">
                <a:solidFill>
                  <a:srgbClr val="1E2430"/>
                </a:solidFill>
                <a:latin typeface="Arial" pitchFamily="34" charset="0"/>
                <a:ea typeface="Arial" pitchFamily="34" charset="-122"/>
                <a:cs typeface="Arial" pitchFamily="34" charset="-120"/>
              </a:rPr>
              <a:t>SymPy checking with error categories</a:t>
            </a:r>
            <a:endParaRPr lang="en-US" sz="1725" dirty="0"/>
          </a:p>
        </p:txBody>
      </p:sp>
      <p:sp>
        <p:nvSpPr>
          <p:cNvPr id="20" name="Text 18"/>
          <p:cNvSpPr/>
          <p:nvPr/>
        </p:nvSpPr>
        <p:spPr>
          <a:xfrm>
            <a:off x="1047750" y="7067550"/>
            <a:ext cx="4620863" cy="340370"/>
          </a:xfrm>
          <a:prstGeom prst="rect">
            <a:avLst/>
          </a:prstGeom>
          <a:noFill/>
          <a:ln/>
        </p:spPr>
        <p:txBody>
          <a:bodyPr wrap="square" lIns="25400" tIns="25400" rIns="25400" bIns="25400" rtlCol="0" anchor="t">
            <a:normAutofit lnSpcReduction="10000"/>
          </a:bodyPr>
          <a:lstStyle/>
          <a:p>
            <a:pPr marL="0" indent="0" algn="l">
              <a:lnSpc>
                <a:spcPct val="119351"/>
              </a:lnSpc>
              <a:buNone/>
            </a:pPr>
            <a:r>
              <a:rPr lang="en-US" sz="1725" dirty="0">
                <a:solidFill>
                  <a:srgbClr val="1E2430"/>
                </a:solidFill>
                <a:latin typeface="Arial" pitchFamily="34" charset="0"/>
                <a:ea typeface="Arial" pitchFamily="34" charset="-122"/>
                <a:cs typeface="Arial" pitchFamily="34" charset="-120"/>
              </a:rPr>
              <a:t>Three-level hint ladder</a:t>
            </a:r>
            <a:endParaRPr lang="en-US" sz="1725" dirty="0"/>
          </a:p>
        </p:txBody>
      </p:sp>
      <p:sp>
        <p:nvSpPr>
          <p:cNvPr id="21" name="Text 19"/>
          <p:cNvSpPr/>
          <p:nvPr/>
        </p:nvSpPr>
        <p:spPr>
          <a:xfrm>
            <a:off x="5429250" y="7067550"/>
            <a:ext cx="4620863" cy="340370"/>
          </a:xfrm>
          <a:prstGeom prst="rect">
            <a:avLst/>
          </a:prstGeom>
          <a:noFill/>
          <a:ln/>
        </p:spPr>
        <p:txBody>
          <a:bodyPr wrap="square" lIns="25400" tIns="25400" rIns="25400" bIns="25400" rtlCol="0" anchor="t">
            <a:normAutofit lnSpcReduction="10000"/>
          </a:bodyPr>
          <a:lstStyle/>
          <a:p>
            <a:pPr marL="0" indent="0" algn="l">
              <a:lnSpc>
                <a:spcPct val="119351"/>
              </a:lnSpc>
              <a:buNone/>
            </a:pPr>
            <a:r>
              <a:rPr lang="en-US" sz="1725" dirty="0">
                <a:solidFill>
                  <a:srgbClr val="1E2430"/>
                </a:solidFill>
                <a:latin typeface="Arial" pitchFamily="34" charset="0"/>
                <a:ea typeface="Arial" pitchFamily="34" charset="-122"/>
                <a:cs typeface="Arial" pitchFamily="34" charset="-120"/>
              </a:rPr>
              <a:t>Editable transcription, free re-check</a:t>
            </a:r>
            <a:endParaRPr lang="en-US" sz="1725" dirty="0"/>
          </a:p>
        </p:txBody>
      </p:sp>
      <p:sp>
        <p:nvSpPr>
          <p:cNvPr id="22" name="Text 20"/>
          <p:cNvSpPr/>
          <p:nvPr/>
        </p:nvSpPr>
        <p:spPr>
          <a:xfrm>
            <a:off x="1047750" y="7591425"/>
            <a:ext cx="10236518" cy="278085"/>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575" dirty="0">
                <a:solidFill>
                  <a:srgbClr val="5B6472"/>
                </a:solidFill>
                <a:latin typeface="Courier New" pitchFamily="34" charset="0"/>
                <a:ea typeface="Courier New" pitchFamily="34" charset="-122"/>
                <a:cs typeface="Courier New" pitchFamily="34" charset="-120"/>
              </a:rPr>
              <a:t>89 backend tests in CI, including answer-leak tests</a:t>
            </a:r>
            <a:endParaRPr lang="en-US" sz="1575" dirty="0"/>
          </a:p>
        </p:txBody>
      </p:sp>
      <p:sp>
        <p:nvSpPr>
          <p:cNvPr id="23" name="Shape 21"/>
          <p:cNvSpPr/>
          <p:nvPr/>
        </p:nvSpPr>
        <p:spPr>
          <a:xfrm>
            <a:off x="9886950" y="5772150"/>
            <a:ext cx="7353300" cy="3762375"/>
          </a:xfrm>
          <a:prstGeom prst="roundRect">
            <a:avLst>
              <a:gd name="adj" fmla="val 1013"/>
            </a:avLst>
          </a:prstGeom>
          <a:solidFill>
            <a:srgbClr val="F6EEDA"/>
          </a:solidFill>
          <a:ln/>
        </p:spPr>
        <p:txBody>
          <a:bodyPr/>
          <a:lstStyle/>
          <a:p>
            <a:endParaRPr lang="en-US"/>
          </a:p>
        </p:txBody>
      </p:sp>
      <p:sp>
        <p:nvSpPr>
          <p:cNvPr id="24" name="Text 22"/>
          <p:cNvSpPr/>
          <p:nvPr/>
        </p:nvSpPr>
        <p:spPr>
          <a:xfrm>
            <a:off x="10210800" y="6057900"/>
            <a:ext cx="8109585" cy="266700"/>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500" b="1" dirty="0">
                <a:solidFill>
                  <a:srgbClr val="9A6B18"/>
                </a:solidFill>
                <a:latin typeface="Courier New" pitchFamily="34" charset="0"/>
                <a:ea typeface="Courier New" pitchFamily="34" charset="-122"/>
                <a:cs typeface="Courier New" pitchFamily="34" charset="-120"/>
              </a:rPr>
              <a:t>NOT YET</a:t>
            </a:r>
            <a:endParaRPr lang="en-US" sz="1500" dirty="0"/>
          </a:p>
        </p:txBody>
      </p:sp>
      <p:sp>
        <p:nvSpPr>
          <p:cNvPr id="25" name="Text 23"/>
          <p:cNvSpPr/>
          <p:nvPr/>
        </p:nvSpPr>
        <p:spPr>
          <a:xfrm>
            <a:off x="10210800" y="6477000"/>
            <a:ext cx="7593521" cy="337691"/>
          </a:xfrm>
          <a:prstGeom prst="rect">
            <a:avLst/>
          </a:prstGeom>
          <a:noFill/>
          <a:ln/>
        </p:spPr>
        <p:txBody>
          <a:bodyPr wrap="square" lIns="25400" tIns="25400" rIns="25400" bIns="25400" rtlCol="0" anchor="t">
            <a:normAutofit lnSpcReduction="10000"/>
          </a:bodyPr>
          <a:lstStyle/>
          <a:p>
            <a:pPr marL="0" indent="0" algn="l">
              <a:lnSpc>
                <a:spcPct val="123676"/>
              </a:lnSpc>
              <a:buNone/>
            </a:pPr>
            <a:r>
              <a:rPr lang="en-US" sz="1650" dirty="0">
                <a:solidFill>
                  <a:srgbClr val="1E2430"/>
                </a:solidFill>
                <a:latin typeface="Arial" pitchFamily="34" charset="0"/>
                <a:ea typeface="Arial" pitchFamily="34" charset="-122"/>
                <a:cs typeface="Arial" pitchFamily="34" charset="-120"/>
              </a:rPr>
              <a:t>Coverage beyond arithmetic and one-variable linear equations</a:t>
            </a:r>
            <a:endParaRPr lang="en-US" sz="1650" dirty="0"/>
          </a:p>
        </p:txBody>
      </p:sp>
      <p:sp>
        <p:nvSpPr>
          <p:cNvPr id="26" name="Text 24"/>
          <p:cNvSpPr/>
          <p:nvPr/>
        </p:nvSpPr>
        <p:spPr>
          <a:xfrm>
            <a:off x="10210800" y="6867525"/>
            <a:ext cx="7593521" cy="337691"/>
          </a:xfrm>
          <a:prstGeom prst="rect">
            <a:avLst/>
          </a:prstGeom>
          <a:noFill/>
          <a:ln/>
        </p:spPr>
        <p:txBody>
          <a:bodyPr wrap="square" lIns="25400" tIns="25400" rIns="25400" bIns="25400" rtlCol="0" anchor="t">
            <a:normAutofit lnSpcReduction="10000"/>
          </a:bodyPr>
          <a:lstStyle/>
          <a:p>
            <a:pPr marL="0" indent="0" algn="l">
              <a:lnSpc>
                <a:spcPct val="123676"/>
              </a:lnSpc>
              <a:buNone/>
            </a:pPr>
            <a:r>
              <a:rPr lang="en-US" sz="1650" dirty="0">
                <a:solidFill>
                  <a:srgbClr val="1E2430"/>
                </a:solidFill>
                <a:latin typeface="Arial" pitchFamily="34" charset="0"/>
                <a:ea typeface="Arial" pitchFamily="34" charset="-122"/>
                <a:cs typeface="Arial" pitchFamily="34" charset="-120"/>
              </a:rPr>
              <a:t>Chemistry recognition and judging</a:t>
            </a:r>
            <a:endParaRPr lang="en-US" sz="1650" dirty="0"/>
          </a:p>
        </p:txBody>
      </p:sp>
      <p:sp>
        <p:nvSpPr>
          <p:cNvPr id="27" name="Text 25"/>
          <p:cNvSpPr/>
          <p:nvPr/>
        </p:nvSpPr>
        <p:spPr>
          <a:xfrm>
            <a:off x="10210800" y="7267575"/>
            <a:ext cx="7593521" cy="337691"/>
          </a:xfrm>
          <a:prstGeom prst="rect">
            <a:avLst/>
          </a:prstGeom>
          <a:noFill/>
          <a:ln/>
        </p:spPr>
        <p:txBody>
          <a:bodyPr wrap="square" lIns="25400" tIns="25400" rIns="25400" bIns="25400" rtlCol="0" anchor="t">
            <a:normAutofit lnSpcReduction="10000"/>
          </a:bodyPr>
          <a:lstStyle/>
          <a:p>
            <a:pPr marL="0" indent="0" algn="l">
              <a:lnSpc>
                <a:spcPct val="123676"/>
              </a:lnSpc>
              <a:buNone/>
            </a:pPr>
            <a:r>
              <a:rPr lang="en-US" sz="1650" dirty="0">
                <a:solidFill>
                  <a:srgbClr val="1E2430"/>
                </a:solidFill>
                <a:latin typeface="Arial" pitchFamily="34" charset="0"/>
                <a:ea typeface="Arial" pitchFamily="34" charset="-122"/>
                <a:cs typeface="Arial" pitchFamily="34" charset="-120"/>
              </a:rPr>
              <a:t>Segmentation for handwriting that drifts across rows</a:t>
            </a:r>
            <a:endParaRPr lang="en-US" sz="1650" dirty="0"/>
          </a:p>
        </p:txBody>
      </p:sp>
      <p:sp>
        <p:nvSpPr>
          <p:cNvPr id="28" name="Text 26"/>
          <p:cNvSpPr/>
          <p:nvPr/>
        </p:nvSpPr>
        <p:spPr>
          <a:xfrm>
            <a:off x="10210800" y="7667625"/>
            <a:ext cx="7593521" cy="337691"/>
          </a:xfrm>
          <a:prstGeom prst="rect">
            <a:avLst/>
          </a:prstGeom>
          <a:noFill/>
          <a:ln/>
        </p:spPr>
        <p:txBody>
          <a:bodyPr wrap="square" lIns="25400" tIns="25400" rIns="25400" bIns="25400" rtlCol="0" anchor="t">
            <a:normAutofit lnSpcReduction="10000"/>
          </a:bodyPr>
          <a:lstStyle/>
          <a:p>
            <a:pPr marL="0" indent="0" algn="l">
              <a:lnSpc>
                <a:spcPct val="123676"/>
              </a:lnSpc>
              <a:buNone/>
            </a:pPr>
            <a:r>
              <a:rPr lang="en-US" sz="1650" dirty="0">
                <a:solidFill>
                  <a:srgbClr val="1E2430"/>
                </a:solidFill>
                <a:latin typeface="Arial" pitchFamily="34" charset="0"/>
                <a:ea typeface="Arial" pitchFamily="34" charset="-122"/>
                <a:cs typeface="Arial" pitchFamily="34" charset="-120"/>
              </a:rPr>
              <a:t>Testing with real students, and deployment</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1047750" y="533400"/>
            <a:ext cx="144780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verity.ai</a:t>
            </a:r>
            <a:endParaRPr lang="en-US" sz="1650" dirty="0"/>
          </a:p>
        </p:txBody>
      </p:sp>
      <p:sp>
        <p:nvSpPr>
          <p:cNvPr id="3" name="Text 1"/>
          <p:cNvSpPr/>
          <p:nvPr/>
        </p:nvSpPr>
        <p:spPr>
          <a:xfrm>
            <a:off x="16687800" y="533400"/>
            <a:ext cx="70485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SAIL</a:t>
            </a:r>
            <a:endParaRPr lang="en-US" sz="1650" dirty="0"/>
          </a:p>
        </p:txBody>
      </p:sp>
      <p:sp>
        <p:nvSpPr>
          <p:cNvPr id="4" name="Text 2"/>
          <p:cNvSpPr/>
          <p:nvPr/>
        </p:nvSpPr>
        <p:spPr>
          <a:xfrm>
            <a:off x="1047750" y="857250"/>
            <a:ext cx="19592925" cy="266700"/>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500" b="1" dirty="0">
                <a:solidFill>
                  <a:srgbClr val="2E5AAC"/>
                </a:solidFill>
                <a:latin typeface="Courier New" pitchFamily="34" charset="0"/>
                <a:ea typeface="Courier New" pitchFamily="34" charset="-122"/>
                <a:cs typeface="Courier New" pitchFamily="34" charset="-120"/>
              </a:rPr>
              <a:t>ROADMAP</a:t>
            </a:r>
            <a:endParaRPr lang="en-US" sz="1500" dirty="0"/>
          </a:p>
        </p:txBody>
      </p:sp>
      <p:sp>
        <p:nvSpPr>
          <p:cNvPr id="5" name="Text 3"/>
          <p:cNvSpPr/>
          <p:nvPr/>
        </p:nvSpPr>
        <p:spPr>
          <a:xfrm>
            <a:off x="1047750" y="1295400"/>
            <a:ext cx="18346103" cy="632445"/>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3900" b="1" dirty="0">
                <a:solidFill>
                  <a:srgbClr val="1E2430"/>
                </a:solidFill>
                <a:latin typeface="Arial" pitchFamily="34" charset="0"/>
                <a:ea typeface="Arial" pitchFamily="34" charset="-122"/>
                <a:cs typeface="Arial" pitchFamily="34" charset="-120"/>
              </a:rPr>
              <a:t>Where we take it next</a:t>
            </a:r>
            <a:endParaRPr lang="en-US" sz="3900" dirty="0"/>
          </a:p>
        </p:txBody>
      </p:sp>
      <p:sp>
        <p:nvSpPr>
          <p:cNvPr id="6" name="Shape 4"/>
          <p:cNvSpPr/>
          <p:nvPr/>
        </p:nvSpPr>
        <p:spPr>
          <a:xfrm>
            <a:off x="1047750" y="2324100"/>
            <a:ext cx="3895725" cy="5657850"/>
          </a:xfrm>
          <a:prstGeom prst="roundRect">
            <a:avLst>
              <a:gd name="adj" fmla="val 978"/>
            </a:avLst>
          </a:prstGeom>
          <a:solidFill>
            <a:srgbClr val="FFFFFF"/>
          </a:solidFill>
          <a:ln w="9525">
            <a:solidFill>
              <a:srgbClr val="D8D2C2"/>
            </a:solidFill>
            <a:prstDash val="solid"/>
          </a:ln>
        </p:spPr>
        <p:txBody>
          <a:bodyPr/>
          <a:lstStyle/>
          <a:p>
            <a:endParaRPr lang="en-US"/>
          </a:p>
        </p:txBody>
      </p:sp>
      <p:sp>
        <p:nvSpPr>
          <p:cNvPr id="7" name="Text 5"/>
          <p:cNvSpPr/>
          <p:nvPr/>
        </p:nvSpPr>
        <p:spPr>
          <a:xfrm>
            <a:off x="1381125" y="2638425"/>
            <a:ext cx="3887153" cy="255240"/>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425" b="1" dirty="0">
                <a:solidFill>
                  <a:srgbClr val="2E5AAC"/>
                </a:solidFill>
                <a:latin typeface="Courier New" pitchFamily="34" charset="0"/>
                <a:ea typeface="Courier New" pitchFamily="34" charset="-122"/>
                <a:cs typeface="Courier New" pitchFamily="34" charset="-120"/>
              </a:rPr>
              <a:t>MILESTONE A</a:t>
            </a:r>
            <a:endParaRPr lang="en-US" sz="1425" dirty="0"/>
          </a:p>
        </p:txBody>
      </p:sp>
      <p:sp>
        <p:nvSpPr>
          <p:cNvPr id="8" name="Text 6"/>
          <p:cNvSpPr/>
          <p:nvPr/>
        </p:nvSpPr>
        <p:spPr>
          <a:xfrm>
            <a:off x="1381125" y="3000375"/>
            <a:ext cx="3404330" cy="681038"/>
          </a:xfrm>
          <a:prstGeom prst="rect">
            <a:avLst/>
          </a:prstGeom>
          <a:noFill/>
          <a:ln/>
        </p:spPr>
        <p:txBody>
          <a:bodyPr wrap="square" lIns="25400" tIns="25400" rIns="25400" bIns="25400" rtlCol="0" anchor="t">
            <a:normAutofit lnSpcReduction="10000"/>
          </a:bodyPr>
          <a:lstStyle/>
          <a:p>
            <a:pPr marL="0" indent="0" algn="l">
              <a:lnSpc>
                <a:spcPct val="108108"/>
              </a:lnSpc>
              <a:buNone/>
            </a:pPr>
            <a:r>
              <a:rPr lang="en-US" sz="2025" b="1" dirty="0">
                <a:solidFill>
                  <a:srgbClr val="1E2430"/>
                </a:solidFill>
                <a:latin typeface="Arial" pitchFamily="34" charset="0"/>
                <a:ea typeface="Arial" pitchFamily="34" charset="-122"/>
                <a:cs typeface="Arial" pitchFamily="34" charset="-120"/>
              </a:rPr>
              <a:t>Every mistake gets a precise hint</a:t>
            </a:r>
            <a:endParaRPr lang="en-US" sz="2025" dirty="0"/>
          </a:p>
        </p:txBody>
      </p:sp>
      <p:sp>
        <p:nvSpPr>
          <p:cNvPr id="9" name="Text 7"/>
          <p:cNvSpPr/>
          <p:nvPr/>
        </p:nvSpPr>
        <p:spPr>
          <a:xfrm>
            <a:off x="1381125" y="3733800"/>
            <a:ext cx="3404330" cy="920130"/>
          </a:xfrm>
          <a:prstGeom prst="rect">
            <a:avLst/>
          </a:prstGeom>
          <a:noFill/>
          <a:ln/>
        </p:spPr>
        <p:txBody>
          <a:bodyPr wrap="square" lIns="25400" tIns="25400" rIns="25400" bIns="25400" rtlCol="0" anchor="t">
            <a:normAutofit lnSpcReduction="10000"/>
          </a:bodyPr>
          <a:lstStyle/>
          <a:p>
            <a:pPr marL="0" indent="0" algn="l">
              <a:lnSpc>
                <a:spcPct val="127135"/>
              </a:lnSpc>
              <a:buNone/>
            </a:pPr>
            <a:r>
              <a:rPr lang="en-US" sz="1575" dirty="0">
                <a:solidFill>
                  <a:srgbClr val="5B6472"/>
                </a:solidFill>
                <a:latin typeface="Arial" pitchFamily="34" charset="0"/>
                <a:ea typeface="Arial" pitchFamily="34" charset="-122"/>
                <a:cs typeface="Arial" pitchFamily="34" charset="-120"/>
              </a:rPr>
              <a:t>More provable error categories, fractions and decimals, then linear systems.</a:t>
            </a:r>
            <a:endParaRPr lang="en-US" sz="1575" dirty="0"/>
          </a:p>
        </p:txBody>
      </p:sp>
      <p:sp>
        <p:nvSpPr>
          <p:cNvPr id="10" name="Shape 8"/>
          <p:cNvSpPr/>
          <p:nvPr/>
        </p:nvSpPr>
        <p:spPr>
          <a:xfrm>
            <a:off x="5153025" y="2324100"/>
            <a:ext cx="3895725" cy="5657850"/>
          </a:xfrm>
          <a:prstGeom prst="roundRect">
            <a:avLst>
              <a:gd name="adj" fmla="val 978"/>
            </a:avLst>
          </a:prstGeom>
          <a:solidFill>
            <a:srgbClr val="FFFFFF"/>
          </a:solidFill>
          <a:ln w="9525">
            <a:solidFill>
              <a:srgbClr val="D8D2C2"/>
            </a:solidFill>
            <a:prstDash val="solid"/>
          </a:ln>
        </p:spPr>
        <p:txBody>
          <a:bodyPr/>
          <a:lstStyle/>
          <a:p>
            <a:endParaRPr lang="en-US"/>
          </a:p>
        </p:txBody>
      </p:sp>
      <p:sp>
        <p:nvSpPr>
          <p:cNvPr id="11" name="Text 9"/>
          <p:cNvSpPr/>
          <p:nvPr/>
        </p:nvSpPr>
        <p:spPr>
          <a:xfrm>
            <a:off x="5486400" y="2638425"/>
            <a:ext cx="3887153" cy="255240"/>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425" b="1" dirty="0">
                <a:solidFill>
                  <a:srgbClr val="2E5AAC"/>
                </a:solidFill>
                <a:latin typeface="Courier New" pitchFamily="34" charset="0"/>
                <a:ea typeface="Courier New" pitchFamily="34" charset="-122"/>
                <a:cs typeface="Courier New" pitchFamily="34" charset="-120"/>
              </a:rPr>
              <a:t>MILESTONE B</a:t>
            </a:r>
            <a:endParaRPr lang="en-US" sz="1425" dirty="0"/>
          </a:p>
        </p:txBody>
      </p:sp>
      <p:sp>
        <p:nvSpPr>
          <p:cNvPr id="12" name="Text 10"/>
          <p:cNvSpPr/>
          <p:nvPr/>
        </p:nvSpPr>
        <p:spPr>
          <a:xfrm>
            <a:off x="5486400" y="3000375"/>
            <a:ext cx="3404330" cy="681038"/>
          </a:xfrm>
          <a:prstGeom prst="rect">
            <a:avLst/>
          </a:prstGeom>
          <a:noFill/>
          <a:ln/>
        </p:spPr>
        <p:txBody>
          <a:bodyPr wrap="square" lIns="25400" tIns="25400" rIns="25400" bIns="25400" rtlCol="0" anchor="t">
            <a:normAutofit/>
          </a:bodyPr>
          <a:lstStyle/>
          <a:p>
            <a:pPr marL="0" indent="0" algn="l">
              <a:lnSpc>
                <a:spcPct val="108108"/>
              </a:lnSpc>
              <a:buNone/>
            </a:pPr>
            <a:r>
              <a:rPr lang="en-US" sz="2025" b="1" dirty="0">
                <a:solidFill>
                  <a:srgbClr val="1E2430"/>
                </a:solidFill>
                <a:latin typeface="Arial" pitchFamily="34" charset="0"/>
                <a:ea typeface="Arial" pitchFamily="34" charset="-122"/>
                <a:cs typeface="Arial" pitchFamily="34" charset="-120"/>
              </a:rPr>
              <a:t>The canvas feels like paper</a:t>
            </a:r>
            <a:endParaRPr lang="en-US" sz="2025" dirty="0"/>
          </a:p>
        </p:txBody>
      </p:sp>
      <p:sp>
        <p:nvSpPr>
          <p:cNvPr id="13" name="Text 11"/>
          <p:cNvSpPr/>
          <p:nvPr/>
        </p:nvSpPr>
        <p:spPr>
          <a:xfrm>
            <a:off x="5486400" y="3733800"/>
            <a:ext cx="3404330" cy="920130"/>
          </a:xfrm>
          <a:prstGeom prst="rect">
            <a:avLst/>
          </a:prstGeom>
          <a:noFill/>
          <a:ln/>
        </p:spPr>
        <p:txBody>
          <a:bodyPr wrap="square" lIns="25400" tIns="25400" rIns="25400" bIns="25400" rtlCol="0" anchor="t">
            <a:normAutofit lnSpcReduction="10000"/>
          </a:bodyPr>
          <a:lstStyle/>
          <a:p>
            <a:pPr marL="0" indent="0" algn="l">
              <a:lnSpc>
                <a:spcPct val="127135"/>
              </a:lnSpc>
              <a:buNone/>
            </a:pPr>
            <a:r>
              <a:rPr lang="en-US" sz="1575" dirty="0">
                <a:solidFill>
                  <a:srgbClr val="5B6472"/>
                </a:solidFill>
                <a:latin typeface="Arial" pitchFamily="34" charset="0"/>
                <a:ea typeface="Arial" pitchFamily="34" charset="-122"/>
                <a:cs typeface="Arial" pitchFamily="34" charset="-120"/>
              </a:rPr>
              <a:t>Pen-lift segmentation, checking without a button, undo, eraser, smoother ink.</a:t>
            </a:r>
            <a:endParaRPr lang="en-US" sz="1575" dirty="0"/>
          </a:p>
        </p:txBody>
      </p:sp>
      <p:sp>
        <p:nvSpPr>
          <p:cNvPr id="14" name="Shape 12"/>
          <p:cNvSpPr/>
          <p:nvPr/>
        </p:nvSpPr>
        <p:spPr>
          <a:xfrm>
            <a:off x="9258300" y="2324100"/>
            <a:ext cx="3895725" cy="5657850"/>
          </a:xfrm>
          <a:prstGeom prst="roundRect">
            <a:avLst>
              <a:gd name="adj" fmla="val 978"/>
            </a:avLst>
          </a:prstGeom>
          <a:solidFill>
            <a:srgbClr val="FFFFFF"/>
          </a:solidFill>
          <a:ln w="9525">
            <a:solidFill>
              <a:srgbClr val="D8D2C2"/>
            </a:solidFill>
            <a:prstDash val="solid"/>
          </a:ln>
        </p:spPr>
        <p:txBody>
          <a:bodyPr/>
          <a:lstStyle/>
          <a:p>
            <a:endParaRPr lang="en-US"/>
          </a:p>
        </p:txBody>
      </p:sp>
      <p:sp>
        <p:nvSpPr>
          <p:cNvPr id="15" name="Text 13"/>
          <p:cNvSpPr/>
          <p:nvPr/>
        </p:nvSpPr>
        <p:spPr>
          <a:xfrm>
            <a:off x="9591675" y="2638425"/>
            <a:ext cx="3887153" cy="255240"/>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425" b="1" dirty="0">
                <a:solidFill>
                  <a:srgbClr val="2E5AAC"/>
                </a:solidFill>
                <a:latin typeface="Courier New" pitchFamily="34" charset="0"/>
                <a:ea typeface="Courier New" pitchFamily="34" charset="-122"/>
                <a:cs typeface="Courier New" pitchFamily="34" charset="-120"/>
              </a:rPr>
              <a:t>MILESTONE C</a:t>
            </a:r>
            <a:endParaRPr lang="en-US" sz="1425" dirty="0"/>
          </a:p>
        </p:txBody>
      </p:sp>
      <p:sp>
        <p:nvSpPr>
          <p:cNvPr id="16" name="Text 14"/>
          <p:cNvSpPr/>
          <p:nvPr/>
        </p:nvSpPr>
        <p:spPr>
          <a:xfrm>
            <a:off x="9591675" y="3000375"/>
            <a:ext cx="3639788" cy="359569"/>
          </a:xfrm>
          <a:prstGeom prst="rect">
            <a:avLst/>
          </a:prstGeom>
          <a:noFill/>
          <a:ln/>
        </p:spPr>
        <p:txBody>
          <a:bodyPr wrap="square" lIns="25400" tIns="25400" rIns="25400" bIns="25400" rtlCol="0" anchor="t">
            <a:normAutofit lnSpcReduction="10000"/>
          </a:bodyPr>
          <a:lstStyle/>
          <a:p>
            <a:pPr marL="0" indent="0" algn="l">
              <a:lnSpc>
                <a:spcPct val="108108"/>
              </a:lnSpc>
              <a:buNone/>
            </a:pPr>
            <a:r>
              <a:rPr lang="en-US" sz="2025" b="1" dirty="0">
                <a:solidFill>
                  <a:srgbClr val="1E2430"/>
                </a:solidFill>
                <a:latin typeface="Arial" pitchFamily="34" charset="0"/>
                <a:ea typeface="Arial" pitchFamily="34" charset="-122"/>
                <a:cs typeface="Arial" pitchFamily="34" charset="-120"/>
              </a:rPr>
              <a:t>Transcription we can trust</a:t>
            </a:r>
            <a:endParaRPr lang="en-US" sz="2025" dirty="0"/>
          </a:p>
        </p:txBody>
      </p:sp>
      <p:sp>
        <p:nvSpPr>
          <p:cNvPr id="17" name="Text 15"/>
          <p:cNvSpPr/>
          <p:nvPr/>
        </p:nvSpPr>
        <p:spPr>
          <a:xfrm>
            <a:off x="9591675" y="3419475"/>
            <a:ext cx="3404330" cy="920130"/>
          </a:xfrm>
          <a:prstGeom prst="rect">
            <a:avLst/>
          </a:prstGeom>
          <a:noFill/>
          <a:ln/>
        </p:spPr>
        <p:txBody>
          <a:bodyPr wrap="square" lIns="25400" tIns="25400" rIns="25400" bIns="25400" rtlCol="0" anchor="t">
            <a:normAutofit lnSpcReduction="10000"/>
          </a:bodyPr>
          <a:lstStyle/>
          <a:p>
            <a:pPr marL="0" indent="0" algn="l">
              <a:lnSpc>
                <a:spcPct val="127135"/>
              </a:lnSpc>
              <a:buNone/>
            </a:pPr>
            <a:r>
              <a:rPr lang="en-US" sz="1575" dirty="0">
                <a:solidFill>
                  <a:srgbClr val="5B6472"/>
                </a:solidFill>
                <a:latin typeface="Arial" pitchFamily="34" charset="0"/>
                <a:ea typeface="Arial" pitchFamily="34" charset="-122"/>
                <a:cs typeface="Arial" pitchFamily="34" charset="-120"/>
              </a:rPr>
              <a:t>Per-line confidence, a failure log driving prompt changes, automatic typed fallback.</a:t>
            </a:r>
            <a:endParaRPr lang="en-US" sz="1575" dirty="0"/>
          </a:p>
        </p:txBody>
      </p:sp>
      <p:sp>
        <p:nvSpPr>
          <p:cNvPr id="18" name="Shape 16"/>
          <p:cNvSpPr/>
          <p:nvPr/>
        </p:nvSpPr>
        <p:spPr>
          <a:xfrm>
            <a:off x="13363575" y="2324100"/>
            <a:ext cx="3876675" cy="5638800"/>
          </a:xfrm>
          <a:prstGeom prst="roundRect">
            <a:avLst>
              <a:gd name="adj" fmla="val 983"/>
            </a:avLst>
          </a:prstGeom>
          <a:solidFill>
            <a:srgbClr val="1E2430"/>
          </a:solidFill>
          <a:ln/>
        </p:spPr>
        <p:txBody>
          <a:bodyPr/>
          <a:lstStyle/>
          <a:p>
            <a:endParaRPr lang="en-US"/>
          </a:p>
        </p:txBody>
      </p:sp>
      <p:sp>
        <p:nvSpPr>
          <p:cNvPr id="19" name="Text 17"/>
          <p:cNvSpPr/>
          <p:nvPr/>
        </p:nvSpPr>
        <p:spPr>
          <a:xfrm>
            <a:off x="13687425" y="2628900"/>
            <a:ext cx="3908107" cy="255240"/>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425" b="1" dirty="0">
                <a:solidFill>
                  <a:srgbClr val="8FB0E6"/>
                </a:solidFill>
                <a:latin typeface="Courier New" pitchFamily="34" charset="0"/>
                <a:ea typeface="Courier New" pitchFamily="34" charset="-122"/>
                <a:cs typeface="Courier New" pitchFamily="34" charset="-120"/>
              </a:rPr>
              <a:t>MILESTONE D</a:t>
            </a:r>
            <a:endParaRPr lang="en-US" sz="1425" dirty="0"/>
          </a:p>
        </p:txBody>
      </p:sp>
      <p:sp>
        <p:nvSpPr>
          <p:cNvPr id="20" name="Text 18"/>
          <p:cNvSpPr/>
          <p:nvPr/>
        </p:nvSpPr>
        <p:spPr>
          <a:xfrm>
            <a:off x="13687425" y="2990850"/>
            <a:ext cx="3659410" cy="359569"/>
          </a:xfrm>
          <a:prstGeom prst="rect">
            <a:avLst/>
          </a:prstGeom>
          <a:noFill/>
          <a:ln/>
        </p:spPr>
        <p:txBody>
          <a:bodyPr wrap="square" lIns="25400" tIns="25400" rIns="25400" bIns="25400" rtlCol="0" anchor="t">
            <a:normAutofit lnSpcReduction="10000"/>
          </a:bodyPr>
          <a:lstStyle/>
          <a:p>
            <a:pPr marL="0" indent="0" algn="l">
              <a:lnSpc>
                <a:spcPct val="108108"/>
              </a:lnSpc>
              <a:buNone/>
            </a:pPr>
            <a:r>
              <a:rPr lang="en-US" sz="2025" b="1" dirty="0">
                <a:solidFill>
                  <a:srgbClr val="F7F4EE"/>
                </a:solidFill>
                <a:latin typeface="Arial" pitchFamily="34" charset="0"/>
                <a:ea typeface="Arial" pitchFamily="34" charset="-122"/>
                <a:cs typeface="Arial" pitchFamily="34" charset="-120"/>
              </a:rPr>
              <a:t>Chemistry structures</a:t>
            </a:r>
            <a:endParaRPr lang="en-US" sz="2025" dirty="0"/>
          </a:p>
        </p:txBody>
      </p:sp>
      <p:sp>
        <p:nvSpPr>
          <p:cNvPr id="21" name="Text 19"/>
          <p:cNvSpPr/>
          <p:nvPr/>
        </p:nvSpPr>
        <p:spPr>
          <a:xfrm>
            <a:off x="13687425" y="3409950"/>
            <a:ext cx="3423952" cy="920130"/>
          </a:xfrm>
          <a:prstGeom prst="rect">
            <a:avLst/>
          </a:prstGeom>
          <a:noFill/>
          <a:ln/>
        </p:spPr>
        <p:txBody>
          <a:bodyPr wrap="square" lIns="25400" tIns="25400" rIns="25400" bIns="25400" rtlCol="0" anchor="t">
            <a:normAutofit lnSpcReduction="10000"/>
          </a:bodyPr>
          <a:lstStyle/>
          <a:p>
            <a:pPr marL="0" indent="0" algn="l">
              <a:lnSpc>
                <a:spcPct val="127135"/>
              </a:lnSpc>
              <a:buNone/>
            </a:pPr>
            <a:r>
              <a:rPr lang="en-US" sz="1575" dirty="0">
                <a:solidFill>
                  <a:srgbClr val="B7BEC9"/>
                </a:solidFill>
                <a:latin typeface="Arial" pitchFamily="34" charset="0"/>
                <a:ea typeface="Arial" pitchFamily="34" charset="-122"/>
                <a:cs typeface="Arial" pitchFamily="34" charset="-120"/>
              </a:rPr>
              <a:t>An RDKit judge behind the same interface, on a narrow rehearsed set of structures.</a:t>
            </a:r>
            <a:endParaRPr lang="en-US" sz="1575" dirty="0"/>
          </a:p>
        </p:txBody>
      </p:sp>
      <p:sp>
        <p:nvSpPr>
          <p:cNvPr id="22" name="Shape 20"/>
          <p:cNvSpPr/>
          <p:nvPr/>
        </p:nvSpPr>
        <p:spPr>
          <a:xfrm>
            <a:off x="1047750" y="7953375"/>
            <a:ext cx="16192500" cy="9525"/>
          </a:xfrm>
          <a:prstGeom prst="rect">
            <a:avLst/>
          </a:prstGeom>
          <a:solidFill>
            <a:srgbClr val="D8D2C2"/>
          </a:solidFill>
          <a:ln/>
        </p:spPr>
        <p:txBody>
          <a:bodyPr/>
          <a:lstStyle/>
          <a:p>
            <a:endParaRPr lang="en-US"/>
          </a:p>
        </p:txBody>
      </p:sp>
      <p:sp>
        <p:nvSpPr>
          <p:cNvPr id="23" name="Text 21"/>
          <p:cNvSpPr/>
          <p:nvPr/>
        </p:nvSpPr>
        <p:spPr>
          <a:xfrm>
            <a:off x="1047750" y="8305800"/>
            <a:ext cx="19592925" cy="266700"/>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500" b="1" dirty="0">
                <a:solidFill>
                  <a:srgbClr val="2E5AAC"/>
                </a:solidFill>
                <a:latin typeface="Courier New" pitchFamily="34" charset="0"/>
                <a:ea typeface="Courier New" pitchFamily="34" charset="-122"/>
                <a:cs typeface="Courier New" pitchFamily="34" charset="-120"/>
              </a:rPr>
              <a:t>THE BIGGER IDEA</a:t>
            </a:r>
            <a:endParaRPr lang="en-US" sz="1500" dirty="0"/>
          </a:p>
        </p:txBody>
      </p:sp>
      <p:sp>
        <p:nvSpPr>
          <p:cNvPr id="24" name="Text 22"/>
          <p:cNvSpPr/>
          <p:nvPr/>
        </p:nvSpPr>
        <p:spPr>
          <a:xfrm>
            <a:off x="1047750" y="8667750"/>
            <a:ext cx="16168116" cy="921990"/>
          </a:xfrm>
          <a:prstGeom prst="rect">
            <a:avLst/>
          </a:prstGeom>
          <a:noFill/>
          <a:ln/>
        </p:spPr>
        <p:txBody>
          <a:bodyPr wrap="square" lIns="25400" tIns="25400" rIns="25400" bIns="25400" rtlCol="0" anchor="t">
            <a:normAutofit lnSpcReduction="10000"/>
          </a:bodyPr>
          <a:lstStyle/>
          <a:p>
            <a:pPr marL="0" indent="0" algn="l">
              <a:lnSpc>
                <a:spcPct val="125405"/>
              </a:lnSpc>
              <a:buNone/>
            </a:pPr>
            <a:r>
              <a:rPr lang="en-US" sz="2400" dirty="0">
                <a:solidFill>
                  <a:srgbClr val="1E2430"/>
                </a:solidFill>
                <a:latin typeface="Arial" pitchFamily="34" charset="0"/>
                <a:ea typeface="Arial" pitchFamily="34" charset="-122"/>
                <a:cs typeface="Arial" pitchFamily="34" charset="-120"/>
              </a:rPr>
              <a:t>Because we keep the strokes, we can show a teacher which lines a student rewrote, where they slowed down, and which hints they needed. A picture of how a student reasons, not just what they scored.</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1047750" y="533400"/>
            <a:ext cx="144780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verity.ai</a:t>
            </a:r>
            <a:endParaRPr lang="en-US" sz="1650" dirty="0"/>
          </a:p>
        </p:txBody>
      </p:sp>
      <p:sp>
        <p:nvSpPr>
          <p:cNvPr id="3" name="Text 1"/>
          <p:cNvSpPr/>
          <p:nvPr/>
        </p:nvSpPr>
        <p:spPr>
          <a:xfrm>
            <a:off x="16687800" y="533400"/>
            <a:ext cx="70485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SAIL</a:t>
            </a:r>
            <a:endParaRPr lang="en-US" sz="1650" dirty="0"/>
          </a:p>
        </p:txBody>
      </p:sp>
      <p:sp>
        <p:nvSpPr>
          <p:cNvPr id="4" name="Text 2"/>
          <p:cNvSpPr/>
          <p:nvPr/>
        </p:nvSpPr>
        <p:spPr>
          <a:xfrm>
            <a:off x="1047750" y="857250"/>
            <a:ext cx="19592925" cy="266700"/>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500" b="1" dirty="0">
                <a:solidFill>
                  <a:srgbClr val="2E5AAC"/>
                </a:solidFill>
                <a:latin typeface="Courier New" pitchFamily="34" charset="0"/>
                <a:ea typeface="Courier New" pitchFamily="34" charset="-122"/>
                <a:cs typeface="Courier New" pitchFamily="34" charset="-120"/>
              </a:rPr>
              <a:t>THE PRODUCT</a:t>
            </a:r>
            <a:endParaRPr lang="en-US" sz="1500" dirty="0"/>
          </a:p>
        </p:txBody>
      </p:sp>
      <p:sp>
        <p:nvSpPr>
          <p:cNvPr id="5" name="Text 3"/>
          <p:cNvSpPr/>
          <p:nvPr/>
        </p:nvSpPr>
        <p:spPr>
          <a:xfrm>
            <a:off x="1047750" y="1295400"/>
            <a:ext cx="15108555" cy="617562"/>
          </a:xfrm>
          <a:prstGeom prst="rect">
            <a:avLst/>
          </a:prstGeom>
          <a:noFill/>
          <a:ln/>
        </p:spPr>
        <p:txBody>
          <a:bodyPr wrap="square" lIns="25400" tIns="25400" rIns="25400" bIns="25400" rtlCol="0" anchor="t">
            <a:normAutofit lnSpcReduction="10000"/>
          </a:bodyPr>
          <a:lstStyle/>
          <a:p>
            <a:pPr marL="0" indent="0" algn="l">
              <a:lnSpc>
                <a:spcPct val="101189"/>
              </a:lnSpc>
              <a:buNone/>
            </a:pPr>
            <a:r>
              <a:rPr lang="en-US" sz="3900" b="1" dirty="0">
                <a:solidFill>
                  <a:srgbClr val="1E2430"/>
                </a:solidFill>
                <a:latin typeface="Arial" pitchFamily="34" charset="0"/>
                <a:ea typeface="Arial" pitchFamily="34" charset="-122"/>
                <a:cs typeface="Arial" pitchFamily="34" charset="-120"/>
              </a:rPr>
              <a:t>A notebook that checks the work as it is written</a:t>
            </a:r>
            <a:endParaRPr lang="en-US" sz="3900" dirty="0"/>
          </a:p>
        </p:txBody>
      </p:sp>
      <p:sp>
        <p:nvSpPr>
          <p:cNvPr id="6" name="Text 4"/>
          <p:cNvSpPr/>
          <p:nvPr/>
        </p:nvSpPr>
        <p:spPr>
          <a:xfrm>
            <a:off x="1047750" y="2057400"/>
            <a:ext cx="12636246" cy="872430"/>
          </a:xfrm>
          <a:prstGeom prst="rect">
            <a:avLst/>
          </a:prstGeom>
          <a:noFill/>
          <a:ln/>
        </p:spPr>
        <p:txBody>
          <a:bodyPr wrap="square" lIns="25400" tIns="25400" rIns="25400" bIns="25400" rtlCol="0" anchor="t">
            <a:normAutofit lnSpcReduction="10000"/>
          </a:bodyPr>
          <a:lstStyle/>
          <a:p>
            <a:pPr marL="0" indent="0" algn="l">
              <a:lnSpc>
                <a:spcPct val="126270"/>
              </a:lnSpc>
              <a:buNone/>
            </a:pPr>
            <a:r>
              <a:rPr lang="en-US" sz="2250" dirty="0">
                <a:solidFill>
                  <a:srgbClr val="5B6472"/>
                </a:solidFill>
                <a:latin typeface="Arial" pitchFamily="34" charset="0"/>
                <a:ea typeface="Arial" pitchFamily="34" charset="-122"/>
                <a:cs typeface="Arial" pitchFamily="34" charset="-120"/>
              </a:rPr>
              <a:t>A browser app for iOS and Android tablets. The student writes with a stylus on ruled rows, and every finished line is read and checked against the line above it.</a:t>
            </a:r>
            <a:endParaRPr lang="en-US" sz="2250" dirty="0"/>
          </a:p>
        </p:txBody>
      </p:sp>
      <p:sp>
        <p:nvSpPr>
          <p:cNvPr id="7" name="Shape 5"/>
          <p:cNvSpPr/>
          <p:nvPr/>
        </p:nvSpPr>
        <p:spPr>
          <a:xfrm>
            <a:off x="1047750" y="3314700"/>
            <a:ext cx="3876675" cy="5305425"/>
          </a:xfrm>
          <a:prstGeom prst="roundRect">
            <a:avLst>
              <a:gd name="adj" fmla="val 983"/>
            </a:avLst>
          </a:prstGeom>
          <a:solidFill>
            <a:srgbClr val="FFFFFF"/>
          </a:solidFill>
          <a:ln w="9525">
            <a:solidFill>
              <a:srgbClr val="D8D2C2"/>
            </a:solidFill>
            <a:prstDash val="solid"/>
          </a:ln>
        </p:spPr>
        <p:txBody>
          <a:bodyPr/>
          <a:lstStyle/>
          <a:p>
            <a:endParaRPr lang="en-US"/>
          </a:p>
        </p:txBody>
      </p:sp>
      <p:sp>
        <p:nvSpPr>
          <p:cNvPr id="8" name="Text 6"/>
          <p:cNvSpPr/>
          <p:nvPr/>
        </p:nvSpPr>
        <p:spPr>
          <a:xfrm>
            <a:off x="1400175" y="3648075"/>
            <a:ext cx="3580924" cy="35808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100" b="1" dirty="0">
                <a:solidFill>
                  <a:srgbClr val="2E5AAC"/>
                </a:solidFill>
                <a:latin typeface="Courier New" pitchFamily="34" charset="0"/>
                <a:ea typeface="Courier New" pitchFamily="34" charset="-122"/>
                <a:cs typeface="Courier New" pitchFamily="34" charset="-120"/>
              </a:rPr>
              <a:t>01</a:t>
            </a:r>
            <a:endParaRPr lang="en-US" sz="2100" dirty="0"/>
          </a:p>
        </p:txBody>
      </p:sp>
      <p:sp>
        <p:nvSpPr>
          <p:cNvPr id="9" name="Text 7"/>
          <p:cNvSpPr/>
          <p:nvPr/>
        </p:nvSpPr>
        <p:spPr>
          <a:xfrm>
            <a:off x="1400175" y="4124325"/>
            <a:ext cx="3580924" cy="418951"/>
          </a:xfrm>
          <a:prstGeom prst="rect">
            <a:avLst/>
          </a:prstGeom>
          <a:noFill/>
          <a:ln/>
        </p:spPr>
        <p:txBody>
          <a:bodyPr wrap="square" lIns="25400" tIns="25400" rIns="25400" bIns="25400" rtlCol="0" anchor="t">
            <a:normAutofit lnSpcReduction="10000"/>
          </a:bodyPr>
          <a:lstStyle/>
          <a:p>
            <a:pPr marL="0" indent="0" algn="l">
              <a:lnSpc>
                <a:spcPct val="111568"/>
              </a:lnSpc>
              <a:buNone/>
            </a:pPr>
            <a:r>
              <a:rPr lang="en-US" sz="2325" b="1" dirty="0">
                <a:solidFill>
                  <a:srgbClr val="1E2430"/>
                </a:solidFill>
                <a:latin typeface="Arial" pitchFamily="34" charset="0"/>
                <a:ea typeface="Arial" pitchFamily="34" charset="-122"/>
                <a:cs typeface="Arial" pitchFamily="34" charset="-120"/>
              </a:rPr>
              <a:t>Live ink, not a photo</a:t>
            </a:r>
            <a:endParaRPr lang="en-US" sz="2325" dirty="0"/>
          </a:p>
        </p:txBody>
      </p:sp>
      <p:sp>
        <p:nvSpPr>
          <p:cNvPr id="10" name="Text 8"/>
          <p:cNvSpPr/>
          <p:nvPr/>
        </p:nvSpPr>
        <p:spPr>
          <a:xfrm>
            <a:off x="1400175" y="4572000"/>
            <a:ext cx="3345466" cy="3062139"/>
          </a:xfrm>
          <a:prstGeom prst="rect">
            <a:avLst/>
          </a:prstGeom>
          <a:noFill/>
          <a:ln/>
        </p:spPr>
        <p:txBody>
          <a:bodyPr wrap="square" lIns="25400" tIns="25400" rIns="25400" bIns="25400" rtlCol="0" anchor="t">
            <a:normAutofit/>
          </a:bodyPr>
          <a:lstStyle/>
          <a:p>
            <a:pPr marL="0" indent="0" algn="l">
              <a:lnSpc>
                <a:spcPct val="127135"/>
              </a:lnSpc>
              <a:buNone/>
            </a:pPr>
            <a:r>
              <a:rPr lang="en-US" sz="2700" dirty="0">
                <a:solidFill>
                  <a:srgbClr val="5B6472"/>
                </a:solidFill>
                <a:latin typeface="Arial" pitchFamily="34" charset="0"/>
                <a:ea typeface="Arial" pitchFamily="34" charset="-122"/>
                <a:cs typeface="Arial" pitchFamily="34" charset="-120"/>
              </a:rPr>
              <a:t>Stylus strokes stream in as the student writes, so feedback arrives while they are still working.</a:t>
            </a:r>
            <a:endParaRPr lang="en-US" sz="2700" dirty="0"/>
          </a:p>
        </p:txBody>
      </p:sp>
      <p:sp>
        <p:nvSpPr>
          <p:cNvPr id="11" name="Shape 9"/>
          <p:cNvSpPr/>
          <p:nvPr/>
        </p:nvSpPr>
        <p:spPr>
          <a:xfrm>
            <a:off x="5162550" y="3314700"/>
            <a:ext cx="3876675" cy="5305425"/>
          </a:xfrm>
          <a:prstGeom prst="roundRect">
            <a:avLst>
              <a:gd name="adj" fmla="val 983"/>
            </a:avLst>
          </a:prstGeom>
          <a:solidFill>
            <a:srgbClr val="FFFFFF"/>
          </a:solidFill>
          <a:ln w="9525">
            <a:solidFill>
              <a:srgbClr val="D8D2C2"/>
            </a:solidFill>
            <a:prstDash val="solid"/>
          </a:ln>
        </p:spPr>
        <p:txBody>
          <a:bodyPr/>
          <a:lstStyle/>
          <a:p>
            <a:endParaRPr lang="en-US"/>
          </a:p>
        </p:txBody>
      </p:sp>
      <p:sp>
        <p:nvSpPr>
          <p:cNvPr id="12" name="Text 10"/>
          <p:cNvSpPr/>
          <p:nvPr/>
        </p:nvSpPr>
        <p:spPr>
          <a:xfrm>
            <a:off x="5514975" y="3648075"/>
            <a:ext cx="3580924" cy="35808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100" b="1" dirty="0">
                <a:solidFill>
                  <a:srgbClr val="2E5AAC"/>
                </a:solidFill>
                <a:latin typeface="Courier New" pitchFamily="34" charset="0"/>
                <a:ea typeface="Courier New" pitchFamily="34" charset="-122"/>
                <a:cs typeface="Courier New" pitchFamily="34" charset="-120"/>
              </a:rPr>
              <a:t>02</a:t>
            </a:r>
            <a:endParaRPr lang="en-US" sz="2100" dirty="0"/>
          </a:p>
        </p:txBody>
      </p:sp>
      <p:sp>
        <p:nvSpPr>
          <p:cNvPr id="13" name="Text 11"/>
          <p:cNvSpPr/>
          <p:nvPr/>
        </p:nvSpPr>
        <p:spPr>
          <a:xfrm>
            <a:off x="5514975" y="4124325"/>
            <a:ext cx="3580924" cy="418951"/>
          </a:xfrm>
          <a:prstGeom prst="rect">
            <a:avLst/>
          </a:prstGeom>
          <a:noFill/>
          <a:ln/>
        </p:spPr>
        <p:txBody>
          <a:bodyPr wrap="square" lIns="25400" tIns="25400" rIns="25400" bIns="25400" rtlCol="0" anchor="t">
            <a:normAutofit lnSpcReduction="10000"/>
          </a:bodyPr>
          <a:lstStyle/>
          <a:p>
            <a:pPr marL="0" indent="0" algn="l">
              <a:lnSpc>
                <a:spcPct val="111568"/>
              </a:lnSpc>
              <a:buNone/>
            </a:pPr>
            <a:r>
              <a:rPr lang="en-US" sz="2325" b="1" dirty="0">
                <a:solidFill>
                  <a:srgbClr val="1E2430"/>
                </a:solidFill>
                <a:latin typeface="Arial" pitchFamily="34" charset="0"/>
                <a:ea typeface="Arial" pitchFamily="34" charset="-122"/>
                <a:cs typeface="Arial" pitchFamily="34" charset="-120"/>
              </a:rPr>
              <a:t>Line-by-line verdicts</a:t>
            </a:r>
            <a:endParaRPr lang="en-US" sz="2325" dirty="0"/>
          </a:p>
        </p:txBody>
      </p:sp>
      <p:sp>
        <p:nvSpPr>
          <p:cNvPr id="14" name="Text 12"/>
          <p:cNvSpPr/>
          <p:nvPr/>
        </p:nvSpPr>
        <p:spPr>
          <a:xfrm>
            <a:off x="5514975" y="4572000"/>
            <a:ext cx="3345466" cy="3062139"/>
          </a:xfrm>
          <a:prstGeom prst="rect">
            <a:avLst/>
          </a:prstGeom>
          <a:noFill/>
          <a:ln/>
        </p:spPr>
        <p:txBody>
          <a:bodyPr wrap="square" lIns="25400" tIns="25400" rIns="25400" bIns="25400" rtlCol="0" anchor="t">
            <a:normAutofit/>
          </a:bodyPr>
          <a:lstStyle/>
          <a:p>
            <a:pPr marL="0" indent="0" algn="l">
              <a:lnSpc>
                <a:spcPct val="127135"/>
              </a:lnSpc>
              <a:buNone/>
            </a:pPr>
            <a:r>
              <a:rPr lang="en-US" sz="2700" dirty="0">
                <a:solidFill>
                  <a:srgbClr val="5B6472"/>
                </a:solidFill>
                <a:latin typeface="Arial" pitchFamily="34" charset="0"/>
                <a:ea typeface="Arial" pitchFamily="34" charset="-122"/>
                <a:cs typeface="Arial" pitchFamily="34" charset="-120"/>
              </a:rPr>
              <a:t>Green for a valid step, red for a proven mistake, amber when a step falls outside what we can verify.</a:t>
            </a:r>
            <a:endParaRPr lang="en-US" sz="2700" dirty="0"/>
          </a:p>
        </p:txBody>
      </p:sp>
      <p:sp>
        <p:nvSpPr>
          <p:cNvPr id="15" name="Shape 13"/>
          <p:cNvSpPr/>
          <p:nvPr/>
        </p:nvSpPr>
        <p:spPr>
          <a:xfrm>
            <a:off x="9267825" y="3314700"/>
            <a:ext cx="3876675" cy="5305425"/>
          </a:xfrm>
          <a:prstGeom prst="roundRect">
            <a:avLst>
              <a:gd name="adj" fmla="val 983"/>
            </a:avLst>
          </a:prstGeom>
          <a:solidFill>
            <a:srgbClr val="FFFFFF"/>
          </a:solidFill>
          <a:ln w="9525">
            <a:solidFill>
              <a:srgbClr val="D8D2C2"/>
            </a:solidFill>
            <a:prstDash val="solid"/>
          </a:ln>
        </p:spPr>
        <p:txBody>
          <a:bodyPr/>
          <a:lstStyle/>
          <a:p>
            <a:endParaRPr lang="en-US"/>
          </a:p>
        </p:txBody>
      </p:sp>
      <p:sp>
        <p:nvSpPr>
          <p:cNvPr id="16" name="Text 14"/>
          <p:cNvSpPr/>
          <p:nvPr/>
        </p:nvSpPr>
        <p:spPr>
          <a:xfrm>
            <a:off x="9620250" y="3648075"/>
            <a:ext cx="3580924" cy="35808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100" b="1" dirty="0">
                <a:solidFill>
                  <a:srgbClr val="2E5AAC"/>
                </a:solidFill>
                <a:latin typeface="Courier New" pitchFamily="34" charset="0"/>
                <a:ea typeface="Courier New" pitchFamily="34" charset="-122"/>
                <a:cs typeface="Courier New" pitchFamily="34" charset="-120"/>
              </a:rPr>
              <a:t>03</a:t>
            </a:r>
            <a:endParaRPr lang="en-US" sz="2100" dirty="0"/>
          </a:p>
        </p:txBody>
      </p:sp>
      <p:sp>
        <p:nvSpPr>
          <p:cNvPr id="17" name="Text 15"/>
          <p:cNvSpPr/>
          <p:nvPr/>
        </p:nvSpPr>
        <p:spPr>
          <a:xfrm>
            <a:off x="9620250" y="4124325"/>
            <a:ext cx="3580924" cy="418951"/>
          </a:xfrm>
          <a:prstGeom prst="rect">
            <a:avLst/>
          </a:prstGeom>
          <a:noFill/>
          <a:ln/>
        </p:spPr>
        <p:txBody>
          <a:bodyPr wrap="square" lIns="25400" tIns="25400" rIns="25400" bIns="25400" rtlCol="0" anchor="t">
            <a:normAutofit lnSpcReduction="10000"/>
          </a:bodyPr>
          <a:lstStyle/>
          <a:p>
            <a:pPr marL="0" indent="0" algn="l">
              <a:lnSpc>
                <a:spcPct val="111568"/>
              </a:lnSpc>
              <a:buNone/>
            </a:pPr>
            <a:r>
              <a:rPr lang="en-US" sz="2325" b="1" dirty="0">
                <a:solidFill>
                  <a:srgbClr val="1E2430"/>
                </a:solidFill>
                <a:latin typeface="Arial" pitchFamily="34" charset="0"/>
                <a:ea typeface="Arial" pitchFamily="34" charset="-122"/>
                <a:cs typeface="Arial" pitchFamily="34" charset="-120"/>
              </a:rPr>
              <a:t>A hint ladder on request</a:t>
            </a:r>
            <a:endParaRPr lang="en-US" sz="2325" dirty="0"/>
          </a:p>
        </p:txBody>
      </p:sp>
      <p:sp>
        <p:nvSpPr>
          <p:cNvPr id="18" name="Text 16"/>
          <p:cNvSpPr/>
          <p:nvPr/>
        </p:nvSpPr>
        <p:spPr>
          <a:xfrm>
            <a:off x="9620250" y="4610100"/>
            <a:ext cx="3345466" cy="2558132"/>
          </a:xfrm>
          <a:prstGeom prst="rect">
            <a:avLst/>
          </a:prstGeom>
          <a:noFill/>
          <a:ln/>
        </p:spPr>
        <p:txBody>
          <a:bodyPr wrap="square" lIns="25400" tIns="25400" rIns="25400" bIns="25400" rtlCol="0" anchor="t">
            <a:normAutofit lnSpcReduction="10000"/>
          </a:bodyPr>
          <a:lstStyle/>
          <a:p>
            <a:pPr marL="0" indent="0" algn="l">
              <a:lnSpc>
                <a:spcPct val="127135"/>
              </a:lnSpc>
              <a:buNone/>
            </a:pPr>
            <a:r>
              <a:rPr lang="en-US" sz="2700" dirty="0">
                <a:solidFill>
                  <a:srgbClr val="5B6472"/>
                </a:solidFill>
                <a:latin typeface="Arial" pitchFamily="34" charset="0"/>
                <a:ea typeface="Arial" pitchFamily="34" charset="-122"/>
                <a:cs typeface="Arial" pitchFamily="34" charset="-120"/>
              </a:rPr>
              <a:t>Three levels: where to look, what kind of mistake, then the concept. Nothing is volunteered.</a:t>
            </a:r>
            <a:endParaRPr lang="en-US" sz="2700" dirty="0"/>
          </a:p>
        </p:txBody>
      </p:sp>
      <p:sp>
        <p:nvSpPr>
          <p:cNvPr id="19" name="Shape 17"/>
          <p:cNvSpPr/>
          <p:nvPr/>
        </p:nvSpPr>
        <p:spPr>
          <a:xfrm>
            <a:off x="13382625" y="3314700"/>
            <a:ext cx="3876675" cy="5305425"/>
          </a:xfrm>
          <a:prstGeom prst="roundRect">
            <a:avLst>
              <a:gd name="adj" fmla="val 983"/>
            </a:avLst>
          </a:prstGeom>
          <a:solidFill>
            <a:srgbClr val="FFFFFF"/>
          </a:solidFill>
          <a:ln w="9525">
            <a:solidFill>
              <a:srgbClr val="D8D2C2"/>
            </a:solidFill>
            <a:prstDash val="solid"/>
          </a:ln>
        </p:spPr>
        <p:txBody>
          <a:bodyPr/>
          <a:lstStyle/>
          <a:p>
            <a:endParaRPr lang="en-US"/>
          </a:p>
        </p:txBody>
      </p:sp>
      <p:sp>
        <p:nvSpPr>
          <p:cNvPr id="20" name="Text 18"/>
          <p:cNvSpPr/>
          <p:nvPr/>
        </p:nvSpPr>
        <p:spPr>
          <a:xfrm>
            <a:off x="13735050" y="3648075"/>
            <a:ext cx="3580924" cy="35808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100" b="1" dirty="0">
                <a:solidFill>
                  <a:srgbClr val="2E5AAC"/>
                </a:solidFill>
                <a:latin typeface="Courier New" pitchFamily="34" charset="0"/>
                <a:ea typeface="Courier New" pitchFamily="34" charset="-122"/>
                <a:cs typeface="Courier New" pitchFamily="34" charset="-120"/>
              </a:rPr>
              <a:t>04</a:t>
            </a:r>
            <a:endParaRPr lang="en-US" sz="2100" dirty="0"/>
          </a:p>
        </p:txBody>
      </p:sp>
      <p:sp>
        <p:nvSpPr>
          <p:cNvPr id="21" name="Text 19"/>
          <p:cNvSpPr/>
          <p:nvPr/>
        </p:nvSpPr>
        <p:spPr>
          <a:xfrm>
            <a:off x="13735050" y="4124325"/>
            <a:ext cx="3580924" cy="418951"/>
          </a:xfrm>
          <a:prstGeom prst="rect">
            <a:avLst/>
          </a:prstGeom>
          <a:noFill/>
          <a:ln/>
        </p:spPr>
        <p:txBody>
          <a:bodyPr wrap="square" lIns="25400" tIns="25400" rIns="25400" bIns="25400" rtlCol="0" anchor="t">
            <a:normAutofit lnSpcReduction="10000"/>
          </a:bodyPr>
          <a:lstStyle/>
          <a:p>
            <a:pPr marL="0" indent="0" algn="l">
              <a:lnSpc>
                <a:spcPct val="111568"/>
              </a:lnSpc>
              <a:buNone/>
            </a:pPr>
            <a:r>
              <a:rPr lang="en-US" sz="2325" b="1" dirty="0">
                <a:solidFill>
                  <a:srgbClr val="1E2430"/>
                </a:solidFill>
                <a:latin typeface="Arial" pitchFamily="34" charset="0"/>
                <a:ea typeface="Arial" pitchFamily="34" charset="-122"/>
                <a:cs typeface="Arial" pitchFamily="34" charset="-120"/>
              </a:rPr>
              <a:t>Never the answer</a:t>
            </a:r>
            <a:endParaRPr lang="en-US" sz="2325" dirty="0"/>
          </a:p>
        </p:txBody>
      </p:sp>
      <p:sp>
        <p:nvSpPr>
          <p:cNvPr id="22" name="Text 20"/>
          <p:cNvSpPr/>
          <p:nvPr/>
        </p:nvSpPr>
        <p:spPr>
          <a:xfrm>
            <a:off x="13735050" y="4572000"/>
            <a:ext cx="3345466" cy="2558132"/>
          </a:xfrm>
          <a:prstGeom prst="rect">
            <a:avLst/>
          </a:prstGeom>
          <a:noFill/>
          <a:ln/>
        </p:spPr>
        <p:txBody>
          <a:bodyPr wrap="square" lIns="25400" tIns="25400" rIns="25400" bIns="25400" rtlCol="0" anchor="t">
            <a:normAutofit lnSpcReduction="10000"/>
          </a:bodyPr>
          <a:lstStyle/>
          <a:p>
            <a:pPr marL="0" indent="0" algn="l">
              <a:lnSpc>
                <a:spcPct val="127135"/>
              </a:lnSpc>
              <a:buNone/>
            </a:pPr>
            <a:r>
              <a:rPr lang="en-US" sz="2700" dirty="0">
                <a:solidFill>
                  <a:srgbClr val="5B6472"/>
                </a:solidFill>
                <a:latin typeface="Arial" pitchFamily="34" charset="0"/>
                <a:ea typeface="Arial" pitchFamily="34" charset="-122"/>
                <a:cs typeface="Arial" pitchFamily="34" charset="-120"/>
              </a:rPr>
              <a:t>A product rule enforced in code. The hint generator never provides the solution.</a:t>
            </a:r>
            <a:endParaRPr lang="en-US" sz="2700" dirty="0"/>
          </a:p>
        </p:txBody>
      </p:sp>
      <p:sp>
        <p:nvSpPr>
          <p:cNvPr id="23" name="Shape 21"/>
          <p:cNvSpPr/>
          <p:nvPr/>
        </p:nvSpPr>
        <p:spPr>
          <a:xfrm>
            <a:off x="1047750" y="8601075"/>
            <a:ext cx="16192500" cy="9525"/>
          </a:xfrm>
          <a:prstGeom prst="rect">
            <a:avLst/>
          </a:prstGeom>
          <a:solidFill>
            <a:srgbClr val="D8D2C2"/>
          </a:solidFill>
          <a:ln/>
        </p:spPr>
        <p:txBody>
          <a:bodyPr/>
          <a:lstStyle/>
          <a:p>
            <a:endParaRPr lang="en-US"/>
          </a:p>
        </p:txBody>
      </p:sp>
      <p:sp>
        <p:nvSpPr>
          <p:cNvPr id="24" name="Text 22"/>
          <p:cNvSpPr/>
          <p:nvPr/>
        </p:nvSpPr>
        <p:spPr>
          <a:xfrm>
            <a:off x="1047750" y="8915400"/>
            <a:ext cx="5867400" cy="266700"/>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500" dirty="0">
                <a:solidFill>
                  <a:srgbClr val="5B6472"/>
                </a:solidFill>
                <a:latin typeface="Courier New" pitchFamily="34" charset="0"/>
                <a:ea typeface="Courier New" pitchFamily="34" charset="-122"/>
                <a:cs typeface="Courier New" pitchFamily="34" charset="-120"/>
              </a:rPr>
              <a:t>WHO IT IS FOR</a:t>
            </a:r>
            <a:endParaRPr lang="en-US" sz="1500" dirty="0"/>
          </a:p>
        </p:txBody>
      </p:sp>
      <p:sp>
        <p:nvSpPr>
          <p:cNvPr id="25" name="Text 23"/>
          <p:cNvSpPr/>
          <p:nvPr/>
        </p:nvSpPr>
        <p:spPr>
          <a:xfrm>
            <a:off x="1047750" y="9239250"/>
            <a:ext cx="5494020" cy="681038"/>
          </a:xfrm>
          <a:prstGeom prst="rect">
            <a:avLst/>
          </a:prstGeom>
          <a:noFill/>
          <a:ln/>
        </p:spPr>
        <p:txBody>
          <a:bodyPr wrap="square" lIns="25400" tIns="25400" rIns="25400" bIns="25400" rtlCol="0" anchor="t">
            <a:normAutofit lnSpcReduction="10000"/>
          </a:bodyPr>
          <a:lstStyle/>
          <a:p>
            <a:pPr marL="0" indent="0" algn="l">
              <a:lnSpc>
                <a:spcPct val="116757"/>
              </a:lnSpc>
              <a:buNone/>
            </a:pPr>
            <a:r>
              <a:rPr lang="en-US" sz="1875" dirty="0">
                <a:solidFill>
                  <a:srgbClr val="1E2430"/>
                </a:solidFill>
                <a:latin typeface="Arial" pitchFamily="34" charset="0"/>
                <a:ea typeface="Arial" pitchFamily="34" charset="-122"/>
                <a:cs typeface="Arial" pitchFamily="34" charset="-120"/>
              </a:rPr>
              <a:t>Built for middle and high school algebra today, expanding with coverage</a:t>
            </a:r>
            <a:endParaRPr lang="en-US" sz="1875" dirty="0"/>
          </a:p>
        </p:txBody>
      </p:sp>
      <p:sp>
        <p:nvSpPr>
          <p:cNvPr id="26" name="Text 24"/>
          <p:cNvSpPr/>
          <p:nvPr/>
        </p:nvSpPr>
        <p:spPr>
          <a:xfrm>
            <a:off x="6762750" y="8915400"/>
            <a:ext cx="5867400" cy="266700"/>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500" dirty="0">
                <a:solidFill>
                  <a:srgbClr val="5B6472"/>
                </a:solidFill>
                <a:latin typeface="Courier New" pitchFamily="34" charset="0"/>
                <a:ea typeface="Courier New" pitchFamily="34" charset="-122"/>
                <a:cs typeface="Courier New" pitchFamily="34" charset="-120"/>
              </a:rPr>
              <a:t>SUBJECTS</a:t>
            </a:r>
            <a:endParaRPr lang="en-US" sz="1500" dirty="0"/>
          </a:p>
        </p:txBody>
      </p:sp>
      <p:sp>
        <p:nvSpPr>
          <p:cNvPr id="27" name="Text 25"/>
          <p:cNvSpPr/>
          <p:nvPr/>
        </p:nvSpPr>
        <p:spPr>
          <a:xfrm>
            <a:off x="6762750" y="9239250"/>
            <a:ext cx="5494020" cy="359569"/>
          </a:xfrm>
          <a:prstGeom prst="rect">
            <a:avLst/>
          </a:prstGeom>
          <a:noFill/>
          <a:ln/>
        </p:spPr>
        <p:txBody>
          <a:bodyPr wrap="square" lIns="25400" tIns="25400" rIns="25400" bIns="25400" rtlCol="0" anchor="t">
            <a:normAutofit lnSpcReduction="10000"/>
          </a:bodyPr>
          <a:lstStyle/>
          <a:p>
            <a:pPr marL="0" indent="0" algn="l">
              <a:lnSpc>
                <a:spcPct val="116757"/>
              </a:lnSpc>
              <a:buNone/>
            </a:pPr>
            <a:r>
              <a:rPr lang="en-US" sz="1875" dirty="0">
                <a:solidFill>
                  <a:srgbClr val="1E2430"/>
                </a:solidFill>
                <a:latin typeface="Arial" pitchFamily="34" charset="0"/>
                <a:ea typeface="Arial" pitchFamily="34" charset="-122"/>
                <a:cs typeface="Arial" pitchFamily="34" charset="-120"/>
              </a:rPr>
              <a:t>Math now, chemistry next</a:t>
            </a:r>
            <a:endParaRPr lang="en-US" sz="1875" dirty="0"/>
          </a:p>
        </p:txBody>
      </p:sp>
      <p:sp>
        <p:nvSpPr>
          <p:cNvPr id="28" name="Text 26"/>
          <p:cNvSpPr/>
          <p:nvPr/>
        </p:nvSpPr>
        <p:spPr>
          <a:xfrm>
            <a:off x="12477750" y="8915400"/>
            <a:ext cx="5867400" cy="266700"/>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500" dirty="0">
                <a:solidFill>
                  <a:srgbClr val="5B6472"/>
                </a:solidFill>
                <a:latin typeface="Courier New" pitchFamily="34" charset="0"/>
                <a:ea typeface="Courier New" pitchFamily="34" charset="-122"/>
                <a:cs typeface="Courier New" pitchFamily="34" charset="-120"/>
              </a:rPr>
              <a:t>DEVICE</a:t>
            </a:r>
            <a:endParaRPr lang="en-US" sz="1500" dirty="0"/>
          </a:p>
        </p:txBody>
      </p:sp>
      <p:sp>
        <p:nvSpPr>
          <p:cNvPr id="29" name="Text 27"/>
          <p:cNvSpPr/>
          <p:nvPr/>
        </p:nvSpPr>
        <p:spPr>
          <a:xfrm>
            <a:off x="12477750" y="9239250"/>
            <a:ext cx="5494020" cy="681038"/>
          </a:xfrm>
          <a:prstGeom prst="rect">
            <a:avLst/>
          </a:prstGeom>
          <a:noFill/>
          <a:ln/>
        </p:spPr>
        <p:txBody>
          <a:bodyPr wrap="square" lIns="25400" tIns="25400" rIns="25400" bIns="25400" rtlCol="0" anchor="t">
            <a:normAutofit lnSpcReduction="10000"/>
          </a:bodyPr>
          <a:lstStyle/>
          <a:p>
            <a:pPr marL="0" indent="0" algn="l">
              <a:lnSpc>
                <a:spcPct val="116757"/>
              </a:lnSpc>
              <a:buNone/>
            </a:pPr>
            <a:r>
              <a:rPr lang="en-US" sz="1875" dirty="0">
                <a:solidFill>
                  <a:srgbClr val="1E2430"/>
                </a:solidFill>
                <a:latin typeface="Arial" pitchFamily="34" charset="0"/>
                <a:ea typeface="Arial" pitchFamily="34" charset="-122"/>
                <a:cs typeface="Arial" pitchFamily="34" charset="-120"/>
              </a:rPr>
              <a:t>Any modern tablet with stylus support, tested on iPad and Samsung</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4">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1047750" y="533400"/>
            <a:ext cx="144780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verity.ai</a:t>
            </a:r>
            <a:endParaRPr lang="en-US" sz="1650" dirty="0"/>
          </a:p>
        </p:txBody>
      </p:sp>
      <p:sp>
        <p:nvSpPr>
          <p:cNvPr id="3" name="Text 1"/>
          <p:cNvSpPr/>
          <p:nvPr/>
        </p:nvSpPr>
        <p:spPr>
          <a:xfrm>
            <a:off x="16687800" y="533400"/>
            <a:ext cx="70485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SAIL</a:t>
            </a:r>
            <a:endParaRPr lang="en-US" sz="1650" dirty="0"/>
          </a:p>
        </p:txBody>
      </p:sp>
      <p:sp>
        <p:nvSpPr>
          <p:cNvPr id="4" name="Text 2"/>
          <p:cNvSpPr/>
          <p:nvPr/>
        </p:nvSpPr>
        <p:spPr>
          <a:xfrm>
            <a:off x="1047750" y="857250"/>
            <a:ext cx="18346103"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b="1" dirty="0">
                <a:solidFill>
                  <a:srgbClr val="2E5AAC"/>
                </a:solidFill>
                <a:latin typeface="Courier New" pitchFamily="34" charset="0"/>
                <a:ea typeface="Courier New" pitchFamily="34" charset="-122"/>
                <a:cs typeface="Courier New" pitchFamily="34" charset="-120"/>
              </a:rPr>
              <a:t>IN MATH</a:t>
            </a:r>
            <a:endParaRPr lang="en-US" sz="1650" dirty="0"/>
          </a:p>
        </p:txBody>
      </p:sp>
      <p:sp>
        <p:nvSpPr>
          <p:cNvPr id="5" name="Text 3"/>
          <p:cNvSpPr/>
          <p:nvPr/>
        </p:nvSpPr>
        <p:spPr>
          <a:xfrm>
            <a:off x="1047750" y="1295400"/>
            <a:ext cx="18346103" cy="632445"/>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3900" b="1" dirty="0">
                <a:solidFill>
                  <a:srgbClr val="1E2430"/>
                </a:solidFill>
                <a:latin typeface="Arial" pitchFamily="34" charset="0"/>
                <a:ea typeface="Arial" pitchFamily="34" charset="-122"/>
                <a:cs typeface="Arial" pitchFamily="34" charset="-120"/>
              </a:rPr>
              <a:t>One wrong line, three levels of help</a:t>
            </a:r>
            <a:endParaRPr lang="en-US" sz="3900" dirty="0"/>
          </a:p>
        </p:txBody>
      </p:sp>
      <p:sp>
        <p:nvSpPr>
          <p:cNvPr id="6" name="Shape 4"/>
          <p:cNvSpPr/>
          <p:nvPr/>
        </p:nvSpPr>
        <p:spPr>
          <a:xfrm>
            <a:off x="1047750" y="2286000"/>
            <a:ext cx="8258175" cy="7267575"/>
          </a:xfrm>
          <a:prstGeom prst="roundRect">
            <a:avLst>
              <a:gd name="adj" fmla="val 1048"/>
            </a:avLst>
          </a:prstGeom>
          <a:solidFill>
            <a:srgbClr val="FFFFFF"/>
          </a:solidFill>
          <a:ln w="9525">
            <a:solidFill>
              <a:srgbClr val="D8D2C2"/>
            </a:solidFill>
            <a:prstDash val="solid"/>
          </a:ln>
          <a:effectLst>
            <a:outerShdw blurRad="342900" dist="152400" dir="5400000" algn="bl" rotWithShape="0">
              <a:srgbClr val="1E2430">
                <a:alpha val="10000"/>
              </a:srgbClr>
            </a:outerShdw>
          </a:effectLst>
        </p:spPr>
        <p:txBody>
          <a:bodyPr/>
          <a:lstStyle/>
          <a:p>
            <a:endParaRPr lang="en-US"/>
          </a:p>
        </p:txBody>
      </p:sp>
      <p:sp>
        <p:nvSpPr>
          <p:cNvPr id="7" name="Text 5"/>
          <p:cNvSpPr/>
          <p:nvPr/>
        </p:nvSpPr>
        <p:spPr>
          <a:xfrm>
            <a:off x="1466850" y="2671763"/>
            <a:ext cx="2146169" cy="252413"/>
          </a:xfrm>
          <a:prstGeom prst="rect">
            <a:avLst/>
          </a:prstGeom>
          <a:noFill/>
          <a:ln/>
        </p:spPr>
        <p:txBody>
          <a:bodyPr wrap="square" lIns="25400" tIns="25400" rIns="25400" bIns="25400" rtlCol="0" anchor="t">
            <a:normAutofit fontScale="92500" lnSpcReduction="20000"/>
          </a:bodyPr>
          <a:lstStyle/>
          <a:p>
            <a:pPr marL="0" indent="0" algn="l">
              <a:lnSpc>
                <a:spcPct val="106667"/>
              </a:lnSpc>
              <a:buNone/>
            </a:pPr>
            <a:r>
              <a:rPr lang="en-US" sz="1500" b="1" kern="0" spc="60" dirty="0">
                <a:solidFill>
                  <a:srgbClr val="2E5AAC"/>
                </a:solidFill>
                <a:latin typeface="Courier New" pitchFamily="34" charset="0"/>
                <a:ea typeface="Courier New" pitchFamily="34" charset="-122"/>
                <a:cs typeface="Courier New" pitchFamily="34" charset="-120"/>
              </a:rPr>
              <a:t>HANDWRITTEN WORK</a:t>
            </a:r>
            <a:endParaRPr lang="en-US" sz="1500" dirty="0"/>
          </a:p>
        </p:txBody>
      </p:sp>
      <p:sp>
        <p:nvSpPr>
          <p:cNvPr id="8" name="Text 6"/>
          <p:cNvSpPr/>
          <p:nvPr/>
        </p:nvSpPr>
        <p:spPr>
          <a:xfrm>
            <a:off x="1466850" y="3162300"/>
            <a:ext cx="2562225" cy="47238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850" b="1" dirty="0">
                <a:solidFill>
                  <a:srgbClr val="1E2430"/>
                </a:solidFill>
                <a:latin typeface="Courier New" pitchFamily="34" charset="0"/>
                <a:ea typeface="Courier New" pitchFamily="34" charset="-122"/>
                <a:cs typeface="Courier New" pitchFamily="34" charset="-120"/>
              </a:rPr>
              <a:t>2x + 3 = 11</a:t>
            </a:r>
            <a:endParaRPr lang="en-US" sz="2850" dirty="0"/>
          </a:p>
        </p:txBody>
      </p:sp>
      <p:sp>
        <p:nvSpPr>
          <p:cNvPr id="9" name="Text 7"/>
          <p:cNvSpPr/>
          <p:nvPr/>
        </p:nvSpPr>
        <p:spPr>
          <a:xfrm>
            <a:off x="7877175" y="3267075"/>
            <a:ext cx="876300" cy="243780"/>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350" b="1" dirty="0">
                <a:solidFill>
                  <a:srgbClr val="5B6472"/>
                </a:solidFill>
                <a:latin typeface="Courier New" pitchFamily="34" charset="0"/>
                <a:ea typeface="Courier New" pitchFamily="34" charset="-122"/>
                <a:cs typeface="Courier New" pitchFamily="34" charset="-120"/>
              </a:rPr>
              <a:t>PROBLEM</a:t>
            </a:r>
            <a:endParaRPr lang="en-US" sz="1350" dirty="0"/>
          </a:p>
        </p:txBody>
      </p:sp>
      <p:sp>
        <p:nvSpPr>
          <p:cNvPr id="10" name="Shape 8"/>
          <p:cNvSpPr/>
          <p:nvPr/>
        </p:nvSpPr>
        <p:spPr>
          <a:xfrm>
            <a:off x="1314450" y="3733800"/>
            <a:ext cx="7724775" cy="9525"/>
          </a:xfrm>
          <a:prstGeom prst="rect">
            <a:avLst/>
          </a:prstGeom>
          <a:solidFill>
            <a:srgbClr val="D8D2C2"/>
          </a:solidFill>
          <a:ln/>
        </p:spPr>
        <p:txBody>
          <a:bodyPr/>
          <a:lstStyle/>
          <a:p>
            <a:endParaRPr lang="en-US"/>
          </a:p>
        </p:txBody>
      </p:sp>
      <p:sp>
        <p:nvSpPr>
          <p:cNvPr id="11" name="Shape 9"/>
          <p:cNvSpPr/>
          <p:nvPr/>
        </p:nvSpPr>
        <p:spPr>
          <a:xfrm>
            <a:off x="1057275" y="3924300"/>
            <a:ext cx="7772400" cy="666750"/>
          </a:xfrm>
          <a:prstGeom prst="roundRect">
            <a:avLst>
              <a:gd name="adj" fmla="val 5714"/>
            </a:avLst>
          </a:prstGeom>
          <a:solidFill>
            <a:srgbClr val="E6F0E8"/>
          </a:solidFill>
          <a:ln/>
        </p:spPr>
        <p:txBody>
          <a:bodyPr/>
          <a:lstStyle/>
          <a:p>
            <a:endParaRPr lang="en-US"/>
          </a:p>
        </p:txBody>
      </p:sp>
      <p:sp>
        <p:nvSpPr>
          <p:cNvPr id="12" name="Shape 10"/>
          <p:cNvSpPr/>
          <p:nvPr/>
        </p:nvSpPr>
        <p:spPr>
          <a:xfrm>
            <a:off x="1057275" y="3924300"/>
            <a:ext cx="47625" cy="666750"/>
          </a:xfrm>
          <a:prstGeom prst="rect">
            <a:avLst/>
          </a:prstGeom>
          <a:solidFill>
            <a:srgbClr val="3F7D53"/>
          </a:solidFill>
          <a:ln/>
        </p:spPr>
        <p:txBody>
          <a:bodyPr/>
          <a:lstStyle/>
          <a:p>
            <a:endParaRPr lang="en-US"/>
          </a:p>
        </p:txBody>
      </p:sp>
      <p:sp>
        <p:nvSpPr>
          <p:cNvPr id="13" name="Text 11"/>
          <p:cNvSpPr/>
          <p:nvPr/>
        </p:nvSpPr>
        <p:spPr>
          <a:xfrm>
            <a:off x="1314450" y="4019550"/>
            <a:ext cx="1438275" cy="47238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850" b="1" dirty="0">
                <a:solidFill>
                  <a:srgbClr val="1E2430"/>
                </a:solidFill>
                <a:latin typeface="Courier New" pitchFamily="34" charset="0"/>
                <a:ea typeface="Courier New" pitchFamily="34" charset="-122"/>
                <a:cs typeface="Courier New" pitchFamily="34" charset="-120"/>
              </a:rPr>
              <a:t>2x = 8</a:t>
            </a:r>
            <a:endParaRPr lang="en-US" sz="2850" dirty="0"/>
          </a:p>
        </p:txBody>
      </p:sp>
      <p:sp>
        <p:nvSpPr>
          <p:cNvPr id="14" name="Text 12"/>
          <p:cNvSpPr/>
          <p:nvPr/>
        </p:nvSpPr>
        <p:spPr>
          <a:xfrm>
            <a:off x="8086725" y="4143375"/>
            <a:ext cx="666750" cy="255240"/>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425" b="1" dirty="0">
                <a:solidFill>
                  <a:srgbClr val="3F7D53"/>
                </a:solidFill>
                <a:latin typeface="Courier New" pitchFamily="34" charset="0"/>
                <a:ea typeface="Courier New" pitchFamily="34" charset="-122"/>
                <a:cs typeface="Courier New" pitchFamily="34" charset="-120"/>
              </a:rPr>
              <a:t>VALID</a:t>
            </a:r>
            <a:endParaRPr lang="en-US" sz="1425" dirty="0"/>
          </a:p>
        </p:txBody>
      </p:sp>
      <p:sp>
        <p:nvSpPr>
          <p:cNvPr id="15" name="Shape 13"/>
          <p:cNvSpPr/>
          <p:nvPr/>
        </p:nvSpPr>
        <p:spPr>
          <a:xfrm>
            <a:off x="1057275" y="4743450"/>
            <a:ext cx="7772400" cy="723900"/>
          </a:xfrm>
          <a:prstGeom prst="roundRect">
            <a:avLst>
              <a:gd name="adj" fmla="val 5263"/>
            </a:avLst>
          </a:prstGeom>
          <a:solidFill>
            <a:srgbClr val="F7E6E2"/>
          </a:solidFill>
          <a:ln/>
        </p:spPr>
        <p:txBody>
          <a:bodyPr/>
          <a:lstStyle/>
          <a:p>
            <a:endParaRPr lang="en-US"/>
          </a:p>
        </p:txBody>
      </p:sp>
      <p:sp>
        <p:nvSpPr>
          <p:cNvPr id="16" name="Shape 14"/>
          <p:cNvSpPr/>
          <p:nvPr/>
        </p:nvSpPr>
        <p:spPr>
          <a:xfrm>
            <a:off x="1057275" y="4743450"/>
            <a:ext cx="47625" cy="723900"/>
          </a:xfrm>
          <a:prstGeom prst="rect">
            <a:avLst/>
          </a:prstGeom>
          <a:solidFill>
            <a:srgbClr val="C0432F"/>
          </a:solidFill>
          <a:ln/>
        </p:spPr>
        <p:txBody>
          <a:bodyPr/>
          <a:lstStyle/>
          <a:p>
            <a:endParaRPr lang="en-US"/>
          </a:p>
        </p:txBody>
      </p:sp>
      <p:sp>
        <p:nvSpPr>
          <p:cNvPr id="17" name="Text 15"/>
          <p:cNvSpPr/>
          <p:nvPr/>
        </p:nvSpPr>
        <p:spPr>
          <a:xfrm>
            <a:off x="1314450" y="4876800"/>
            <a:ext cx="1181100" cy="47238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850" b="1" dirty="0">
                <a:solidFill>
                  <a:srgbClr val="1E2430"/>
                </a:solidFill>
                <a:latin typeface="Courier New" pitchFamily="34" charset="0"/>
                <a:ea typeface="Courier New" pitchFamily="34" charset="-122"/>
                <a:cs typeface="Courier New" pitchFamily="34" charset="-120"/>
              </a:rPr>
              <a:t>x = 5</a:t>
            </a:r>
            <a:endParaRPr lang="en-US" sz="2850" dirty="0"/>
          </a:p>
        </p:txBody>
      </p:sp>
      <p:sp>
        <p:nvSpPr>
          <p:cNvPr id="18" name="Text 16"/>
          <p:cNvSpPr/>
          <p:nvPr/>
        </p:nvSpPr>
        <p:spPr>
          <a:xfrm>
            <a:off x="6838950" y="5000625"/>
            <a:ext cx="2116455" cy="255240"/>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425" b="1" dirty="0">
                <a:solidFill>
                  <a:srgbClr val="C0432F"/>
                </a:solidFill>
                <a:latin typeface="Courier New" pitchFamily="34" charset="0"/>
                <a:ea typeface="Courier New" pitchFamily="34" charset="-122"/>
                <a:cs typeface="Courier New" pitchFamily="34" charset="-120"/>
              </a:rPr>
              <a:t>LINE 3, DIVISION</a:t>
            </a:r>
            <a:endParaRPr lang="en-US" sz="1425" dirty="0"/>
          </a:p>
        </p:txBody>
      </p:sp>
      <p:sp>
        <p:nvSpPr>
          <p:cNvPr id="19" name="Shape 17"/>
          <p:cNvSpPr/>
          <p:nvPr/>
        </p:nvSpPr>
        <p:spPr>
          <a:xfrm>
            <a:off x="1314450" y="5734050"/>
            <a:ext cx="7419975" cy="9525"/>
          </a:xfrm>
          <a:prstGeom prst="rect">
            <a:avLst/>
          </a:prstGeom>
          <a:solidFill>
            <a:srgbClr val="D8D2C2"/>
          </a:solidFill>
          <a:ln/>
        </p:spPr>
        <p:txBody>
          <a:bodyPr/>
          <a:lstStyle/>
          <a:p>
            <a:endParaRPr lang="en-US"/>
          </a:p>
        </p:txBody>
      </p:sp>
      <p:sp>
        <p:nvSpPr>
          <p:cNvPr id="20" name="Text 18"/>
          <p:cNvSpPr/>
          <p:nvPr/>
        </p:nvSpPr>
        <p:spPr>
          <a:xfrm>
            <a:off x="1314450" y="5972175"/>
            <a:ext cx="7868221" cy="717203"/>
          </a:xfrm>
          <a:prstGeom prst="rect">
            <a:avLst/>
          </a:prstGeom>
          <a:noFill/>
          <a:ln/>
        </p:spPr>
        <p:txBody>
          <a:bodyPr wrap="square" lIns="25400" tIns="25400" rIns="25400" bIns="25400" rtlCol="0" anchor="t">
            <a:normAutofit lnSpcReduction="10000"/>
          </a:bodyPr>
          <a:lstStyle/>
          <a:p>
            <a:pPr marL="0" indent="0" algn="l">
              <a:lnSpc>
                <a:spcPct val="134054"/>
              </a:lnSpc>
              <a:buNone/>
            </a:pPr>
            <a:r>
              <a:rPr lang="en-US" sz="1725" dirty="0">
                <a:solidFill>
                  <a:srgbClr val="45505D"/>
                </a:solidFill>
                <a:latin typeface="Arial" pitchFamily="34" charset="0"/>
                <a:ea typeface="Arial" pitchFamily="34" charset="-122"/>
                <a:cs typeface="Arial" pitchFamily="34" charset="-120"/>
              </a:rPr>
              <a:t>The checker proves 2x = 8 follows from the problem, and that x = 5 does not follow from 2x = 8. </a:t>
            </a:r>
            <a:r>
              <a:rPr lang="en-US" sz="1725" b="1" dirty="0">
                <a:solidFill>
                  <a:srgbClr val="1E2430"/>
                </a:solidFill>
                <a:latin typeface="Arial" pitchFamily="34" charset="0"/>
                <a:ea typeface="Arial" pitchFamily="34" charset="-122"/>
                <a:cs typeface="Arial" pitchFamily="34" charset="-120"/>
              </a:rPr>
              <a:t>The flag lands on the first line that breaks.</a:t>
            </a:r>
            <a:endParaRPr lang="en-US" sz="1200" dirty="0"/>
          </a:p>
        </p:txBody>
      </p:sp>
      <p:sp>
        <p:nvSpPr>
          <p:cNvPr id="21" name="Shape 19"/>
          <p:cNvSpPr/>
          <p:nvPr/>
        </p:nvSpPr>
        <p:spPr>
          <a:xfrm>
            <a:off x="9820275" y="2286491"/>
            <a:ext cx="7467600" cy="1209675"/>
          </a:xfrm>
          <a:prstGeom prst="roundRect">
            <a:avLst>
              <a:gd name="adj" fmla="val 6299"/>
            </a:avLst>
          </a:prstGeom>
          <a:solidFill>
            <a:srgbClr val="E7EDF8"/>
          </a:solidFill>
          <a:ln/>
        </p:spPr>
        <p:txBody>
          <a:bodyPr/>
          <a:lstStyle/>
          <a:p>
            <a:endParaRPr lang="en-US"/>
          </a:p>
        </p:txBody>
      </p:sp>
      <p:sp>
        <p:nvSpPr>
          <p:cNvPr id="22" name="Shape 20"/>
          <p:cNvSpPr/>
          <p:nvPr/>
        </p:nvSpPr>
        <p:spPr>
          <a:xfrm>
            <a:off x="9820275" y="2286491"/>
            <a:ext cx="47625" cy="1209675"/>
          </a:xfrm>
          <a:prstGeom prst="rect">
            <a:avLst/>
          </a:prstGeom>
          <a:solidFill>
            <a:srgbClr val="2E5AAC"/>
          </a:solidFill>
          <a:ln/>
        </p:spPr>
        <p:txBody>
          <a:bodyPr/>
          <a:lstStyle/>
          <a:p>
            <a:endParaRPr lang="en-US"/>
          </a:p>
        </p:txBody>
      </p:sp>
      <p:sp>
        <p:nvSpPr>
          <p:cNvPr id="23" name="Text 21"/>
          <p:cNvSpPr/>
          <p:nvPr/>
        </p:nvSpPr>
        <p:spPr>
          <a:xfrm>
            <a:off x="10172700" y="2557953"/>
            <a:ext cx="1656591" cy="242888"/>
          </a:xfrm>
          <a:prstGeom prst="rect">
            <a:avLst/>
          </a:prstGeom>
          <a:noFill/>
          <a:ln/>
        </p:spPr>
        <p:txBody>
          <a:bodyPr wrap="square" lIns="25400" tIns="25400" rIns="25400" bIns="25400" rtlCol="0" anchor="t">
            <a:normAutofit fontScale="92500" lnSpcReduction="20000"/>
          </a:bodyPr>
          <a:lstStyle/>
          <a:p>
            <a:pPr marL="0" indent="0" algn="l">
              <a:lnSpc>
                <a:spcPct val="106047"/>
              </a:lnSpc>
              <a:buNone/>
            </a:pPr>
            <a:r>
              <a:rPr lang="en-US" sz="1425" b="1" kern="0" spc="57" dirty="0">
                <a:solidFill>
                  <a:srgbClr val="2E5AAC"/>
                </a:solidFill>
                <a:latin typeface="Courier New" pitchFamily="34" charset="0"/>
                <a:ea typeface="Courier New" pitchFamily="34" charset="-122"/>
                <a:cs typeface="Courier New" pitchFamily="34" charset="-120"/>
              </a:rPr>
              <a:t>HINT 1, WHERE</a:t>
            </a:r>
            <a:endParaRPr lang="en-US" sz="1425" dirty="0"/>
          </a:p>
        </p:txBody>
      </p:sp>
      <p:sp>
        <p:nvSpPr>
          <p:cNvPr id="24" name="Text 22"/>
          <p:cNvSpPr/>
          <p:nvPr/>
        </p:nvSpPr>
        <p:spPr>
          <a:xfrm>
            <a:off x="10172700" y="2877041"/>
            <a:ext cx="7328630" cy="414114"/>
          </a:xfrm>
          <a:prstGeom prst="rect">
            <a:avLst/>
          </a:prstGeom>
          <a:noFill/>
          <a:ln/>
        </p:spPr>
        <p:txBody>
          <a:bodyPr wrap="square" lIns="25400" tIns="25400" rIns="25400" bIns="25400" rtlCol="0" anchor="t">
            <a:normAutofit/>
          </a:bodyPr>
          <a:lstStyle/>
          <a:p>
            <a:pPr marL="0" indent="0" algn="l">
              <a:lnSpc>
                <a:spcPct val="121946"/>
              </a:lnSpc>
              <a:buNone/>
            </a:pPr>
            <a:r>
              <a:rPr lang="en-US" sz="2100" dirty="0">
                <a:solidFill>
                  <a:srgbClr val="1E2430"/>
                </a:solidFill>
                <a:latin typeface="Arial" pitchFamily="34" charset="0"/>
                <a:ea typeface="Arial" pitchFamily="34" charset="-122"/>
                <a:cs typeface="Arial" pitchFamily="34" charset="-120"/>
              </a:rPr>
              <a:t>Look again at line 3.</a:t>
            </a:r>
            <a:endParaRPr lang="en-US" sz="2100" dirty="0"/>
          </a:p>
        </p:txBody>
      </p:sp>
      <p:sp>
        <p:nvSpPr>
          <p:cNvPr id="25" name="Shape 23"/>
          <p:cNvSpPr/>
          <p:nvPr/>
        </p:nvSpPr>
        <p:spPr>
          <a:xfrm>
            <a:off x="9820275" y="3679962"/>
            <a:ext cx="7467600" cy="1209675"/>
          </a:xfrm>
          <a:prstGeom prst="roundRect">
            <a:avLst>
              <a:gd name="adj" fmla="val 6299"/>
            </a:avLst>
          </a:prstGeom>
          <a:solidFill>
            <a:srgbClr val="E7EDF8">
              <a:alpha val="98000"/>
            </a:srgbClr>
          </a:solidFill>
          <a:ln/>
        </p:spPr>
        <p:txBody>
          <a:bodyPr/>
          <a:lstStyle/>
          <a:p>
            <a:endParaRPr lang="en-US"/>
          </a:p>
        </p:txBody>
      </p:sp>
      <p:sp>
        <p:nvSpPr>
          <p:cNvPr id="26" name="Shape 24"/>
          <p:cNvSpPr/>
          <p:nvPr/>
        </p:nvSpPr>
        <p:spPr>
          <a:xfrm>
            <a:off x="9820275" y="3679962"/>
            <a:ext cx="47625" cy="1209675"/>
          </a:xfrm>
          <a:prstGeom prst="rect">
            <a:avLst/>
          </a:prstGeom>
          <a:solidFill>
            <a:srgbClr val="2E5AAC">
              <a:alpha val="98000"/>
            </a:srgbClr>
          </a:solidFill>
          <a:ln/>
        </p:spPr>
        <p:txBody>
          <a:bodyPr/>
          <a:lstStyle/>
          <a:p>
            <a:endParaRPr lang="en-US"/>
          </a:p>
        </p:txBody>
      </p:sp>
      <p:sp>
        <p:nvSpPr>
          <p:cNvPr id="27" name="Text 25"/>
          <p:cNvSpPr/>
          <p:nvPr/>
        </p:nvSpPr>
        <p:spPr>
          <a:xfrm>
            <a:off x="10172700" y="3951425"/>
            <a:ext cx="1529142" cy="242888"/>
          </a:xfrm>
          <a:prstGeom prst="rect">
            <a:avLst/>
          </a:prstGeom>
          <a:noFill/>
          <a:ln/>
        </p:spPr>
        <p:txBody>
          <a:bodyPr wrap="square" lIns="25400" tIns="25400" rIns="25400" bIns="25400" rtlCol="0" anchor="t">
            <a:normAutofit fontScale="92500" lnSpcReduction="20000"/>
          </a:bodyPr>
          <a:lstStyle/>
          <a:p>
            <a:pPr marL="0" indent="0" algn="l">
              <a:lnSpc>
                <a:spcPct val="106047"/>
              </a:lnSpc>
              <a:buNone/>
            </a:pPr>
            <a:r>
              <a:rPr lang="en-US" sz="1425" b="1" kern="0" spc="57" dirty="0">
                <a:solidFill>
                  <a:srgbClr val="2E5AAC">
                    <a:alpha val="98000"/>
                  </a:srgbClr>
                </a:solidFill>
                <a:latin typeface="Courier New" pitchFamily="34" charset="0"/>
                <a:ea typeface="Courier New" pitchFamily="34" charset="-122"/>
                <a:cs typeface="Courier New" pitchFamily="34" charset="-120"/>
              </a:rPr>
              <a:t>HINT 2, WHAT</a:t>
            </a:r>
            <a:endParaRPr lang="en-US" sz="1425" dirty="0"/>
          </a:p>
        </p:txBody>
      </p:sp>
      <p:sp>
        <p:nvSpPr>
          <p:cNvPr id="28" name="Text 26"/>
          <p:cNvSpPr/>
          <p:nvPr/>
        </p:nvSpPr>
        <p:spPr>
          <a:xfrm>
            <a:off x="10172700" y="4270512"/>
            <a:ext cx="7328630" cy="414114"/>
          </a:xfrm>
          <a:prstGeom prst="rect">
            <a:avLst/>
          </a:prstGeom>
          <a:noFill/>
          <a:ln/>
        </p:spPr>
        <p:txBody>
          <a:bodyPr wrap="square" lIns="25400" tIns="25400" rIns="25400" bIns="25400" rtlCol="0" anchor="t">
            <a:normAutofit/>
          </a:bodyPr>
          <a:lstStyle/>
          <a:p>
            <a:pPr marL="0" indent="0" algn="l">
              <a:lnSpc>
                <a:spcPct val="121946"/>
              </a:lnSpc>
              <a:buNone/>
            </a:pPr>
            <a:r>
              <a:rPr lang="en-US" sz="2100" dirty="0">
                <a:solidFill>
                  <a:srgbClr val="1E2430">
                    <a:alpha val="98000"/>
                  </a:srgbClr>
                </a:solidFill>
                <a:latin typeface="Arial" pitchFamily="34" charset="0"/>
                <a:ea typeface="Arial" pitchFamily="34" charset="-122"/>
                <a:cs typeface="Arial" pitchFamily="34" charset="-120"/>
              </a:rPr>
              <a:t>Something went wrong when you divided both sides.</a:t>
            </a:r>
            <a:endParaRPr lang="en-US" sz="2100" dirty="0"/>
          </a:p>
        </p:txBody>
      </p:sp>
      <p:sp>
        <p:nvSpPr>
          <p:cNvPr id="29" name="Shape 27"/>
          <p:cNvSpPr/>
          <p:nvPr/>
        </p:nvSpPr>
        <p:spPr>
          <a:xfrm>
            <a:off x="9820275" y="5088507"/>
            <a:ext cx="7467600" cy="1552575"/>
          </a:xfrm>
          <a:prstGeom prst="roundRect">
            <a:avLst>
              <a:gd name="adj" fmla="val 4908"/>
            </a:avLst>
          </a:prstGeom>
          <a:solidFill>
            <a:srgbClr val="E7EDF8">
              <a:alpha val="92000"/>
            </a:srgbClr>
          </a:solidFill>
          <a:ln/>
        </p:spPr>
        <p:txBody>
          <a:bodyPr/>
          <a:lstStyle/>
          <a:p>
            <a:endParaRPr lang="en-US"/>
          </a:p>
        </p:txBody>
      </p:sp>
      <p:sp>
        <p:nvSpPr>
          <p:cNvPr id="30" name="Shape 28"/>
          <p:cNvSpPr/>
          <p:nvPr/>
        </p:nvSpPr>
        <p:spPr>
          <a:xfrm>
            <a:off x="9820275" y="5088507"/>
            <a:ext cx="47625" cy="1552575"/>
          </a:xfrm>
          <a:prstGeom prst="rect">
            <a:avLst/>
          </a:prstGeom>
          <a:solidFill>
            <a:srgbClr val="2E5AAC">
              <a:alpha val="92000"/>
            </a:srgbClr>
          </a:solidFill>
          <a:ln/>
        </p:spPr>
        <p:txBody>
          <a:bodyPr/>
          <a:lstStyle/>
          <a:p>
            <a:endParaRPr lang="en-US"/>
          </a:p>
        </p:txBody>
      </p:sp>
      <p:sp>
        <p:nvSpPr>
          <p:cNvPr id="31" name="Text 29"/>
          <p:cNvSpPr/>
          <p:nvPr/>
        </p:nvSpPr>
        <p:spPr>
          <a:xfrm>
            <a:off x="10172700" y="5359969"/>
            <a:ext cx="1401693" cy="242888"/>
          </a:xfrm>
          <a:prstGeom prst="rect">
            <a:avLst/>
          </a:prstGeom>
          <a:noFill/>
          <a:ln/>
        </p:spPr>
        <p:txBody>
          <a:bodyPr wrap="square" lIns="25400" tIns="25400" rIns="25400" bIns="25400" rtlCol="0" anchor="t">
            <a:normAutofit fontScale="92500" lnSpcReduction="20000"/>
          </a:bodyPr>
          <a:lstStyle/>
          <a:p>
            <a:pPr marL="0" indent="0" algn="l">
              <a:lnSpc>
                <a:spcPct val="106047"/>
              </a:lnSpc>
              <a:buNone/>
            </a:pPr>
            <a:r>
              <a:rPr lang="en-US" sz="1425" b="1" kern="0" spc="57" dirty="0">
                <a:solidFill>
                  <a:srgbClr val="2E5AAC">
                    <a:alpha val="92000"/>
                  </a:srgbClr>
                </a:solidFill>
                <a:latin typeface="Courier New" pitchFamily="34" charset="0"/>
                <a:ea typeface="Courier New" pitchFamily="34" charset="-122"/>
                <a:cs typeface="Courier New" pitchFamily="34" charset="-120"/>
              </a:rPr>
              <a:t>HINT 3, WHY</a:t>
            </a:r>
            <a:endParaRPr lang="en-US" sz="1425" dirty="0"/>
          </a:p>
        </p:txBody>
      </p:sp>
      <p:sp>
        <p:nvSpPr>
          <p:cNvPr id="32" name="Text 30"/>
          <p:cNvSpPr/>
          <p:nvPr/>
        </p:nvSpPr>
        <p:spPr>
          <a:xfrm>
            <a:off x="10172700" y="5679057"/>
            <a:ext cx="6916579" cy="790129"/>
          </a:xfrm>
          <a:prstGeom prst="rect">
            <a:avLst/>
          </a:prstGeom>
          <a:noFill/>
          <a:ln/>
        </p:spPr>
        <p:txBody>
          <a:bodyPr wrap="square" lIns="25400" tIns="25400" rIns="25400" bIns="25400" rtlCol="0" anchor="t">
            <a:normAutofit lnSpcReduction="10000"/>
          </a:bodyPr>
          <a:lstStyle/>
          <a:p>
            <a:pPr marL="0" indent="0" algn="l">
              <a:lnSpc>
                <a:spcPct val="121946"/>
              </a:lnSpc>
              <a:buNone/>
            </a:pPr>
            <a:r>
              <a:rPr lang="en-US" sz="2100" dirty="0">
                <a:solidFill>
                  <a:srgbClr val="1E2430">
                    <a:alpha val="92000"/>
                  </a:srgbClr>
                </a:solidFill>
                <a:latin typeface="Arial" pitchFamily="34" charset="0"/>
                <a:ea typeface="Arial" pitchFamily="34" charset="-122"/>
                <a:cs typeface="Arial" pitchFamily="34" charset="-120"/>
              </a:rPr>
              <a:t>Dividing an equation only holds if both sides are divided by the same amount.</a:t>
            </a:r>
            <a:endParaRPr lang="en-US" sz="2100" dirty="0"/>
          </a:p>
        </p:txBody>
      </p:sp>
      <p:sp>
        <p:nvSpPr>
          <p:cNvPr id="33" name="Shape 31"/>
          <p:cNvSpPr/>
          <p:nvPr/>
        </p:nvSpPr>
        <p:spPr>
          <a:xfrm>
            <a:off x="9921001" y="8116112"/>
            <a:ext cx="7419975" cy="1457325"/>
          </a:xfrm>
          <a:prstGeom prst="roundRect">
            <a:avLst>
              <a:gd name="adj" fmla="val 5229"/>
            </a:avLst>
          </a:prstGeom>
          <a:solidFill>
            <a:schemeClr val="tx1">
              <a:lumMod val="95000"/>
              <a:lumOff val="5000"/>
              <a:alpha val="68000"/>
            </a:schemeClr>
          </a:solidFill>
          <a:ln/>
          <a:effectLst>
            <a:outerShdw blurRad="342900" dist="152400" dir="5400000" algn="bl" rotWithShape="0">
              <a:srgbClr val="1E2430">
                <a:alpha val="12279"/>
              </a:srgbClr>
            </a:outerShdw>
          </a:effectLst>
        </p:spPr>
        <p:txBody>
          <a:bodyPr/>
          <a:lstStyle/>
          <a:p>
            <a:endParaRPr lang="en-US"/>
          </a:p>
        </p:txBody>
      </p:sp>
      <p:sp>
        <p:nvSpPr>
          <p:cNvPr id="34" name="Text 32"/>
          <p:cNvSpPr/>
          <p:nvPr/>
        </p:nvSpPr>
        <p:spPr>
          <a:xfrm>
            <a:off x="10125075" y="8363762"/>
            <a:ext cx="7240334" cy="1029816"/>
          </a:xfrm>
          <a:prstGeom prst="rect">
            <a:avLst/>
          </a:prstGeom>
          <a:noFill/>
          <a:ln/>
        </p:spPr>
        <p:txBody>
          <a:bodyPr wrap="square" lIns="25400" tIns="25400" rIns="25400" bIns="25400" rtlCol="0" anchor="t">
            <a:normAutofit lnSpcReduction="10000"/>
          </a:bodyPr>
          <a:lstStyle/>
          <a:p>
            <a:pPr marL="0" indent="0" algn="l">
              <a:lnSpc>
                <a:spcPct val="128000"/>
              </a:lnSpc>
              <a:buNone/>
            </a:pPr>
            <a:r>
              <a:rPr lang="en-US" sz="1725" dirty="0">
                <a:solidFill>
                  <a:schemeClr val="bg1">
                    <a:alpha val="68000"/>
                  </a:schemeClr>
                </a:solidFill>
                <a:latin typeface="Arial" pitchFamily="34" charset="0"/>
                <a:ea typeface="Arial" pitchFamily="34" charset="-122"/>
                <a:cs typeface="Arial" pitchFamily="34" charset="-120"/>
              </a:rPr>
              <a:t>The hint writer receives the error category and enough context to phrase a relevant hint. It never receives the answer, so it structurally cannot leak </a:t>
            </a:r>
            <a:r>
              <a:rPr lang="en-US" sz="1725" b="1" dirty="0">
                <a:solidFill>
                  <a:srgbClr val="8FB0E6">
                    <a:alpha val="68000"/>
                  </a:srgbClr>
                </a:solidFill>
                <a:latin typeface="Courier New" pitchFamily="34" charset="0"/>
                <a:ea typeface="Courier New" pitchFamily="34" charset="-122"/>
                <a:cs typeface="Courier New" pitchFamily="34" charset="-120"/>
              </a:rPr>
              <a:t>x = 4</a:t>
            </a:r>
            <a:r>
              <a:rPr lang="en-US" sz="1725" dirty="0">
                <a:solidFill>
                  <a:srgbClr val="F7F4EE">
                    <a:alpha val="68000"/>
                  </a:srgbClr>
                </a:solidFill>
                <a:latin typeface="Arial" pitchFamily="34" charset="0"/>
                <a:ea typeface="Arial" pitchFamily="34" charset="-122"/>
                <a:cs typeface="Arial" pitchFamily="34" charset="-120"/>
              </a:rPr>
              <a:t>.</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1047750" y="533400"/>
            <a:ext cx="144780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verity.ai</a:t>
            </a:r>
            <a:endParaRPr lang="en-US" sz="1650" dirty="0"/>
          </a:p>
        </p:txBody>
      </p:sp>
      <p:sp>
        <p:nvSpPr>
          <p:cNvPr id="3" name="Text 1"/>
          <p:cNvSpPr/>
          <p:nvPr/>
        </p:nvSpPr>
        <p:spPr>
          <a:xfrm>
            <a:off x="16687800" y="533400"/>
            <a:ext cx="70485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SAIL</a:t>
            </a:r>
            <a:endParaRPr lang="en-US" sz="1650" dirty="0"/>
          </a:p>
        </p:txBody>
      </p:sp>
      <p:sp>
        <p:nvSpPr>
          <p:cNvPr id="4" name="Text 2"/>
          <p:cNvSpPr/>
          <p:nvPr/>
        </p:nvSpPr>
        <p:spPr>
          <a:xfrm>
            <a:off x="1047750" y="857250"/>
            <a:ext cx="18346103"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b="1" dirty="0">
                <a:solidFill>
                  <a:srgbClr val="2E5AAC"/>
                </a:solidFill>
                <a:latin typeface="Courier New" pitchFamily="34" charset="0"/>
                <a:ea typeface="Courier New" pitchFamily="34" charset="-122"/>
                <a:cs typeface="Courier New" pitchFamily="34" charset="-120"/>
              </a:rPr>
              <a:t>CHEMISTRY, PLANNED</a:t>
            </a:r>
            <a:endParaRPr lang="en-US" sz="1650" dirty="0"/>
          </a:p>
        </p:txBody>
      </p:sp>
      <p:sp>
        <p:nvSpPr>
          <p:cNvPr id="5" name="Text 3"/>
          <p:cNvSpPr/>
          <p:nvPr/>
        </p:nvSpPr>
        <p:spPr>
          <a:xfrm>
            <a:off x="1047750" y="1295400"/>
            <a:ext cx="18346103" cy="632445"/>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3900" b="1" dirty="0">
                <a:solidFill>
                  <a:srgbClr val="1E2430"/>
                </a:solidFill>
                <a:latin typeface="Arial" pitchFamily="34" charset="0"/>
                <a:ea typeface="Arial" pitchFamily="34" charset="-122"/>
                <a:cs typeface="Arial" pitchFamily="34" charset="-120"/>
              </a:rPr>
              <a:t>The same check, applied to chemistry</a:t>
            </a:r>
            <a:endParaRPr lang="en-US" sz="3900" dirty="0"/>
          </a:p>
        </p:txBody>
      </p:sp>
      <p:sp>
        <p:nvSpPr>
          <p:cNvPr id="6" name="Text 4"/>
          <p:cNvSpPr/>
          <p:nvPr/>
        </p:nvSpPr>
        <p:spPr>
          <a:xfrm>
            <a:off x="1047750" y="2076450"/>
            <a:ext cx="13136594" cy="811411"/>
          </a:xfrm>
          <a:prstGeom prst="rect">
            <a:avLst/>
          </a:prstGeom>
          <a:noFill/>
          <a:ln/>
        </p:spPr>
        <p:txBody>
          <a:bodyPr wrap="square" lIns="25400" tIns="25400" rIns="25400" bIns="25400" rtlCol="0" anchor="t">
            <a:normAutofit lnSpcReduction="10000"/>
          </a:bodyPr>
          <a:lstStyle/>
          <a:p>
            <a:pPr marL="0" indent="0" algn="l">
              <a:lnSpc>
                <a:spcPct val="121081"/>
              </a:lnSpc>
              <a:buNone/>
            </a:pPr>
            <a:r>
              <a:rPr lang="en-US" sz="2175" dirty="0">
                <a:solidFill>
                  <a:srgbClr val="45505D"/>
                </a:solidFill>
                <a:latin typeface="Arial" pitchFamily="34" charset="0"/>
                <a:ea typeface="Arial" pitchFamily="34" charset="-122"/>
                <a:cs typeface="Arial" pitchFamily="34" charset="-120"/>
              </a:rPr>
              <a:t>Once a drawing is parsed into a structure, correctness becomes a deterministic question again. Nothing on the market checks hand-drawn chemistry as it is written.</a:t>
            </a:r>
            <a:endParaRPr lang="en-US" sz="2175" dirty="0"/>
          </a:p>
        </p:txBody>
      </p:sp>
      <p:sp>
        <p:nvSpPr>
          <p:cNvPr id="7" name="Text 5"/>
          <p:cNvSpPr/>
          <p:nvPr/>
        </p:nvSpPr>
        <p:spPr>
          <a:xfrm>
            <a:off x="1047750" y="2857500"/>
            <a:ext cx="17811750" cy="266700"/>
          </a:xfrm>
          <a:prstGeom prst="rect">
            <a:avLst/>
          </a:prstGeom>
          <a:noFill/>
          <a:ln/>
        </p:spPr>
        <p:txBody>
          <a:bodyPr wrap="square" lIns="25400" tIns="25400" rIns="25400" bIns="25400" rtlCol="0" anchor="t">
            <a:normAutofit lnSpcReduction="10000"/>
          </a:bodyPr>
          <a:lstStyle/>
          <a:p>
            <a:pPr marL="0" indent="0" algn="l">
              <a:lnSpc>
                <a:spcPct val="103784"/>
              </a:lnSpc>
              <a:buNone/>
            </a:pPr>
            <a:endParaRPr lang="en-US" sz="1500" dirty="0"/>
          </a:p>
        </p:txBody>
      </p:sp>
      <p:sp>
        <p:nvSpPr>
          <p:cNvPr id="8" name="Shape 6"/>
          <p:cNvSpPr/>
          <p:nvPr/>
        </p:nvSpPr>
        <p:spPr>
          <a:xfrm>
            <a:off x="1047750" y="3295650"/>
            <a:ext cx="7943850" cy="4781550"/>
          </a:xfrm>
          <a:prstGeom prst="roundRect">
            <a:avLst>
              <a:gd name="adj" fmla="val 1594"/>
            </a:avLst>
          </a:prstGeom>
          <a:solidFill>
            <a:srgbClr val="FFFFFF"/>
          </a:solidFill>
          <a:ln w="9525">
            <a:solidFill>
              <a:srgbClr val="D8D2C2"/>
            </a:solidFill>
            <a:prstDash val="solid"/>
          </a:ln>
          <a:effectLst>
            <a:outerShdw blurRad="304800" dist="133350" dir="5400000" algn="bl" rotWithShape="0">
              <a:srgbClr val="1E2430">
                <a:alpha val="10000"/>
              </a:srgbClr>
            </a:outerShdw>
          </a:effectLst>
        </p:spPr>
        <p:txBody>
          <a:bodyPr/>
          <a:lstStyle/>
          <a:p>
            <a:endParaRPr lang="en-US"/>
          </a:p>
        </p:txBody>
      </p:sp>
      <p:sp>
        <p:nvSpPr>
          <p:cNvPr id="9" name="Shape 7"/>
          <p:cNvSpPr/>
          <p:nvPr/>
        </p:nvSpPr>
        <p:spPr>
          <a:xfrm>
            <a:off x="7810500" y="3505200"/>
            <a:ext cx="942975" cy="285750"/>
          </a:xfrm>
          <a:prstGeom prst="roundRect">
            <a:avLst>
              <a:gd name="adj" fmla="val 50000"/>
            </a:avLst>
          </a:prstGeom>
          <a:solidFill>
            <a:srgbClr val="F6EEDA"/>
          </a:solidFill>
          <a:ln w="9525">
            <a:solidFill>
              <a:srgbClr val="C9A227"/>
            </a:solidFill>
            <a:prstDash val="solid"/>
          </a:ln>
        </p:spPr>
        <p:txBody>
          <a:bodyPr/>
          <a:lstStyle/>
          <a:p>
            <a:endParaRPr lang="en-US"/>
          </a:p>
        </p:txBody>
      </p:sp>
      <p:sp>
        <p:nvSpPr>
          <p:cNvPr id="10" name="Text 8"/>
          <p:cNvSpPr/>
          <p:nvPr/>
        </p:nvSpPr>
        <p:spPr>
          <a:xfrm>
            <a:off x="8021910" y="3574256"/>
            <a:ext cx="596354" cy="185738"/>
          </a:xfrm>
          <a:prstGeom prst="rect">
            <a:avLst/>
          </a:prstGeom>
          <a:noFill/>
          <a:ln/>
        </p:spPr>
        <p:txBody>
          <a:bodyPr wrap="square" lIns="25400" tIns="25400" rIns="25400" bIns="25400" rtlCol="0" anchor="t">
            <a:normAutofit fontScale="92500" lnSpcReduction="20000"/>
          </a:bodyPr>
          <a:lstStyle/>
          <a:p>
            <a:pPr marL="0" indent="0" algn="l">
              <a:buNone/>
            </a:pPr>
            <a:r>
              <a:rPr lang="en-US" sz="1050" b="1" kern="0" spc="52" dirty="0">
                <a:solidFill>
                  <a:srgbClr val="9A6B18"/>
                </a:solidFill>
                <a:latin typeface="Courier New" pitchFamily="34" charset="0"/>
                <a:ea typeface="Courier New" pitchFamily="34" charset="-122"/>
                <a:cs typeface="Courier New" pitchFamily="34" charset="-120"/>
              </a:rPr>
              <a:t>MOCKUP</a:t>
            </a:r>
            <a:endParaRPr lang="en-US" sz="1050" dirty="0"/>
          </a:p>
        </p:txBody>
      </p:sp>
      <p:sp>
        <p:nvSpPr>
          <p:cNvPr id="11" name="Text 9"/>
          <p:cNvSpPr/>
          <p:nvPr/>
        </p:nvSpPr>
        <p:spPr>
          <a:xfrm>
            <a:off x="1438275" y="3648075"/>
            <a:ext cx="6810375" cy="266700"/>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500" b="1" dirty="0">
                <a:solidFill>
                  <a:srgbClr val="5B6472"/>
                </a:solidFill>
                <a:latin typeface="Courier New" pitchFamily="34" charset="0"/>
                <a:ea typeface="Courier New" pitchFamily="34" charset="-122"/>
                <a:cs typeface="Courier New" pitchFamily="34" charset="-120"/>
              </a:rPr>
              <a:t>FUNCTIONAL GROUPS</a:t>
            </a:r>
            <a:endParaRPr lang="en-US" sz="1500" dirty="0"/>
          </a:p>
        </p:txBody>
      </p:sp>
      <p:sp>
        <p:nvSpPr>
          <p:cNvPr id="12" name="Text 10"/>
          <p:cNvSpPr/>
          <p:nvPr/>
        </p:nvSpPr>
        <p:spPr>
          <a:xfrm>
            <a:off x="1438275" y="4048125"/>
            <a:ext cx="8093869" cy="35808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100" b="1" dirty="0">
                <a:solidFill>
                  <a:srgbClr val="1E2430"/>
                </a:solidFill>
                <a:latin typeface="Arial" pitchFamily="34" charset="0"/>
                <a:ea typeface="Arial" pitchFamily="34" charset="-122"/>
                <a:cs typeface="Arial" pitchFamily="34" charset="-120"/>
              </a:rPr>
              <a:t>Asked for an ester, drew an ether</a:t>
            </a:r>
            <a:endParaRPr lang="en-US" sz="2100" dirty="0"/>
          </a:p>
        </p:txBody>
      </p:sp>
      <p:sp>
        <p:nvSpPr>
          <p:cNvPr id="13" name="Shape 11"/>
          <p:cNvSpPr/>
          <p:nvPr/>
        </p:nvSpPr>
        <p:spPr>
          <a:xfrm>
            <a:off x="1438275" y="4581525"/>
            <a:ext cx="7162800" cy="609600"/>
          </a:xfrm>
          <a:prstGeom prst="roundRect">
            <a:avLst>
              <a:gd name="adj" fmla="val 6250"/>
            </a:avLst>
          </a:prstGeom>
          <a:solidFill>
            <a:srgbClr val="F7E6E2"/>
          </a:solidFill>
          <a:ln w="9525">
            <a:solidFill>
              <a:srgbClr val="C0432F"/>
            </a:solidFill>
            <a:prstDash val="solid"/>
          </a:ln>
        </p:spPr>
        <p:txBody>
          <a:bodyPr/>
          <a:lstStyle/>
          <a:p>
            <a:endParaRPr lang="en-US"/>
          </a:p>
        </p:txBody>
      </p:sp>
      <p:sp>
        <p:nvSpPr>
          <p:cNvPr id="14" name="Text 12"/>
          <p:cNvSpPr/>
          <p:nvPr/>
        </p:nvSpPr>
        <p:spPr>
          <a:xfrm>
            <a:off x="1600200" y="4714875"/>
            <a:ext cx="2747010" cy="335235"/>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1950" b="1" dirty="0">
                <a:solidFill>
                  <a:srgbClr val="1E2430"/>
                </a:solidFill>
                <a:latin typeface="Courier New" pitchFamily="34" charset="0"/>
                <a:ea typeface="Courier New" pitchFamily="34" charset="-122"/>
                <a:cs typeface="Courier New" pitchFamily="34" charset="-120"/>
              </a:rPr>
              <a:t>CH₃–CH₂–O–CH₃</a:t>
            </a:r>
            <a:endParaRPr lang="en-US" sz="1950" dirty="0"/>
          </a:p>
        </p:txBody>
      </p:sp>
      <p:sp>
        <p:nvSpPr>
          <p:cNvPr id="15" name="Text 13"/>
          <p:cNvSpPr/>
          <p:nvPr/>
        </p:nvSpPr>
        <p:spPr>
          <a:xfrm>
            <a:off x="7686675" y="4714875"/>
            <a:ext cx="885825" cy="243780"/>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350" b="1" dirty="0">
                <a:solidFill>
                  <a:srgbClr val="C0432F"/>
                </a:solidFill>
                <a:latin typeface="Courier New" pitchFamily="34" charset="0"/>
                <a:ea typeface="Courier New" pitchFamily="34" charset="-122"/>
                <a:cs typeface="Courier New" pitchFamily="34" charset="-120"/>
              </a:rPr>
              <a:t>FLAGGED</a:t>
            </a:r>
            <a:endParaRPr lang="en-US" sz="1350" dirty="0"/>
          </a:p>
        </p:txBody>
      </p:sp>
      <p:sp>
        <p:nvSpPr>
          <p:cNvPr id="16" name="Shape 14"/>
          <p:cNvSpPr/>
          <p:nvPr/>
        </p:nvSpPr>
        <p:spPr>
          <a:xfrm>
            <a:off x="1438275" y="5305425"/>
            <a:ext cx="7143750" cy="571500"/>
          </a:xfrm>
          <a:prstGeom prst="roundRect">
            <a:avLst>
              <a:gd name="adj" fmla="val 6667"/>
            </a:avLst>
          </a:prstGeom>
          <a:solidFill>
            <a:srgbClr val="E6F0E8"/>
          </a:solidFill>
          <a:ln/>
        </p:spPr>
        <p:txBody>
          <a:bodyPr/>
          <a:lstStyle/>
          <a:p>
            <a:endParaRPr lang="en-US"/>
          </a:p>
        </p:txBody>
      </p:sp>
      <p:sp>
        <p:nvSpPr>
          <p:cNvPr id="17" name="Text 15"/>
          <p:cNvSpPr/>
          <p:nvPr/>
        </p:nvSpPr>
        <p:spPr>
          <a:xfrm>
            <a:off x="1590675" y="5438775"/>
            <a:ext cx="2457450" cy="335235"/>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1950" b="1" dirty="0">
                <a:solidFill>
                  <a:srgbClr val="1E2430"/>
                </a:solidFill>
                <a:latin typeface="Courier New" pitchFamily="34" charset="0"/>
                <a:ea typeface="Courier New" pitchFamily="34" charset="-122"/>
                <a:cs typeface="Courier New" pitchFamily="34" charset="-120"/>
              </a:rPr>
              <a:t>CH₃–CO–O–CH₃</a:t>
            </a:r>
            <a:endParaRPr lang="en-US" sz="1950" dirty="0"/>
          </a:p>
        </p:txBody>
      </p:sp>
      <p:sp>
        <p:nvSpPr>
          <p:cNvPr id="18" name="Text 16"/>
          <p:cNvSpPr/>
          <p:nvPr/>
        </p:nvSpPr>
        <p:spPr>
          <a:xfrm>
            <a:off x="7886700" y="5438775"/>
            <a:ext cx="695325" cy="243780"/>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350" b="1" dirty="0">
                <a:solidFill>
                  <a:srgbClr val="3F7D53"/>
                </a:solidFill>
                <a:latin typeface="Courier New" pitchFamily="34" charset="0"/>
                <a:ea typeface="Courier New" pitchFamily="34" charset="-122"/>
                <a:cs typeface="Courier New" pitchFamily="34" charset="-120"/>
              </a:rPr>
              <a:t>ESTER</a:t>
            </a:r>
            <a:endParaRPr lang="en-US" sz="1350" dirty="0"/>
          </a:p>
        </p:txBody>
      </p:sp>
      <p:sp>
        <p:nvSpPr>
          <p:cNvPr id="19" name="Text 17"/>
          <p:cNvSpPr/>
          <p:nvPr/>
        </p:nvSpPr>
        <p:spPr>
          <a:xfrm>
            <a:off x="1438275" y="6096000"/>
            <a:ext cx="7583710" cy="695325"/>
          </a:xfrm>
          <a:prstGeom prst="rect">
            <a:avLst/>
          </a:prstGeom>
          <a:noFill/>
          <a:ln/>
        </p:spPr>
        <p:txBody>
          <a:bodyPr wrap="square" lIns="25400" tIns="25400" rIns="25400" bIns="25400" rtlCol="0" anchor="t">
            <a:normAutofit lnSpcReduction="10000"/>
          </a:bodyPr>
          <a:lstStyle/>
          <a:p>
            <a:pPr marL="0" indent="0" algn="l">
              <a:lnSpc>
                <a:spcPct val="129730"/>
              </a:lnSpc>
              <a:buNone/>
            </a:pPr>
            <a:r>
              <a:rPr lang="en-US" sz="1725" dirty="0">
                <a:solidFill>
                  <a:srgbClr val="45505D"/>
                </a:solidFill>
                <a:latin typeface="Arial" pitchFamily="34" charset="0"/>
                <a:ea typeface="Arial" pitchFamily="34" charset="-122"/>
                <a:cs typeface="Arial" pitchFamily="34" charset="-120"/>
              </a:rPr>
              <a:t>Hint: the group you drew joins two carbons through oxygen alone. Check what a carbonyl adds.</a:t>
            </a:r>
            <a:endParaRPr lang="en-US" sz="1725" dirty="0"/>
          </a:p>
        </p:txBody>
      </p:sp>
      <p:sp>
        <p:nvSpPr>
          <p:cNvPr id="20" name="Shape 18"/>
          <p:cNvSpPr/>
          <p:nvPr/>
        </p:nvSpPr>
        <p:spPr>
          <a:xfrm>
            <a:off x="9315450" y="3295650"/>
            <a:ext cx="7943850" cy="4781550"/>
          </a:xfrm>
          <a:prstGeom prst="roundRect">
            <a:avLst>
              <a:gd name="adj" fmla="val 1594"/>
            </a:avLst>
          </a:prstGeom>
          <a:solidFill>
            <a:srgbClr val="FFFFFF"/>
          </a:solidFill>
          <a:ln w="9525">
            <a:solidFill>
              <a:srgbClr val="D8D2C2"/>
            </a:solidFill>
            <a:prstDash val="solid"/>
          </a:ln>
          <a:effectLst>
            <a:outerShdw blurRad="304800" dist="133350" dir="5400000" algn="bl" rotWithShape="0">
              <a:srgbClr val="1E2430">
                <a:alpha val="10000"/>
              </a:srgbClr>
            </a:outerShdw>
          </a:effectLst>
        </p:spPr>
        <p:txBody>
          <a:bodyPr/>
          <a:lstStyle/>
          <a:p>
            <a:endParaRPr lang="en-US"/>
          </a:p>
        </p:txBody>
      </p:sp>
      <p:sp>
        <p:nvSpPr>
          <p:cNvPr id="21" name="Shape 19"/>
          <p:cNvSpPr/>
          <p:nvPr/>
        </p:nvSpPr>
        <p:spPr>
          <a:xfrm>
            <a:off x="16115110" y="3490913"/>
            <a:ext cx="942975" cy="285750"/>
          </a:xfrm>
          <a:prstGeom prst="roundRect">
            <a:avLst>
              <a:gd name="adj" fmla="val 50000"/>
            </a:avLst>
          </a:prstGeom>
          <a:solidFill>
            <a:srgbClr val="F6EEDA"/>
          </a:solidFill>
          <a:ln w="9525">
            <a:solidFill>
              <a:srgbClr val="C9A227"/>
            </a:solidFill>
            <a:prstDash val="solid"/>
          </a:ln>
        </p:spPr>
        <p:txBody>
          <a:bodyPr/>
          <a:lstStyle/>
          <a:p>
            <a:endParaRPr lang="en-US"/>
          </a:p>
        </p:txBody>
      </p:sp>
      <p:sp>
        <p:nvSpPr>
          <p:cNvPr id="22" name="Text 20"/>
          <p:cNvSpPr/>
          <p:nvPr/>
        </p:nvSpPr>
        <p:spPr>
          <a:xfrm>
            <a:off x="16325850" y="3555206"/>
            <a:ext cx="596354" cy="185738"/>
          </a:xfrm>
          <a:prstGeom prst="rect">
            <a:avLst/>
          </a:prstGeom>
          <a:noFill/>
          <a:ln/>
        </p:spPr>
        <p:txBody>
          <a:bodyPr wrap="square" lIns="25400" tIns="25400" rIns="25400" bIns="25400" rtlCol="0" anchor="t">
            <a:normAutofit fontScale="92500" lnSpcReduction="20000"/>
          </a:bodyPr>
          <a:lstStyle/>
          <a:p>
            <a:pPr marL="0" indent="0" algn="l">
              <a:buNone/>
            </a:pPr>
            <a:r>
              <a:rPr lang="en-US" sz="1050" b="1" kern="0" spc="52" dirty="0">
                <a:solidFill>
                  <a:srgbClr val="9A6B18"/>
                </a:solidFill>
                <a:latin typeface="Courier New" pitchFamily="34" charset="0"/>
                <a:ea typeface="Courier New" pitchFamily="34" charset="-122"/>
                <a:cs typeface="Courier New" pitchFamily="34" charset="-120"/>
              </a:rPr>
              <a:t>MOCKUP</a:t>
            </a:r>
            <a:endParaRPr lang="en-US" sz="1050" dirty="0"/>
          </a:p>
        </p:txBody>
      </p:sp>
      <p:sp>
        <p:nvSpPr>
          <p:cNvPr id="23" name="Text 21"/>
          <p:cNvSpPr/>
          <p:nvPr/>
        </p:nvSpPr>
        <p:spPr>
          <a:xfrm>
            <a:off x="9705975" y="3648075"/>
            <a:ext cx="6810375" cy="266700"/>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500" b="1" dirty="0">
                <a:solidFill>
                  <a:srgbClr val="5B6472"/>
                </a:solidFill>
                <a:latin typeface="Courier New" pitchFamily="34" charset="0"/>
                <a:ea typeface="Courier New" pitchFamily="34" charset="-122"/>
                <a:cs typeface="Courier New" pitchFamily="34" charset="-120"/>
              </a:rPr>
              <a:t>REDOX BALANCING</a:t>
            </a:r>
            <a:endParaRPr lang="en-US" sz="1500" dirty="0"/>
          </a:p>
        </p:txBody>
      </p:sp>
      <p:sp>
        <p:nvSpPr>
          <p:cNvPr id="24" name="Text 22"/>
          <p:cNvSpPr/>
          <p:nvPr/>
        </p:nvSpPr>
        <p:spPr>
          <a:xfrm>
            <a:off x="9705975" y="4048125"/>
            <a:ext cx="8093869" cy="35808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100" b="1" dirty="0">
                <a:solidFill>
                  <a:srgbClr val="1E2430"/>
                </a:solidFill>
                <a:latin typeface="Arial" pitchFamily="34" charset="0"/>
                <a:ea typeface="Arial" pitchFamily="34" charset="-122"/>
                <a:cs typeface="Arial" pitchFamily="34" charset="-120"/>
              </a:rPr>
              <a:t>Half-equation, electrons short</a:t>
            </a:r>
            <a:endParaRPr lang="en-US" sz="2100" dirty="0"/>
          </a:p>
        </p:txBody>
      </p:sp>
      <p:sp>
        <p:nvSpPr>
          <p:cNvPr id="25" name="Shape 23"/>
          <p:cNvSpPr/>
          <p:nvPr/>
        </p:nvSpPr>
        <p:spPr>
          <a:xfrm>
            <a:off x="9705975" y="4581525"/>
            <a:ext cx="7162800" cy="609600"/>
          </a:xfrm>
          <a:prstGeom prst="roundRect">
            <a:avLst>
              <a:gd name="adj" fmla="val 6250"/>
            </a:avLst>
          </a:prstGeom>
          <a:solidFill>
            <a:srgbClr val="F7E6E2"/>
          </a:solidFill>
          <a:ln w="9525">
            <a:solidFill>
              <a:srgbClr val="C0432F"/>
            </a:solidFill>
            <a:prstDash val="solid"/>
          </a:ln>
        </p:spPr>
        <p:txBody>
          <a:bodyPr/>
          <a:lstStyle/>
          <a:p>
            <a:endParaRPr lang="en-US"/>
          </a:p>
        </p:txBody>
      </p:sp>
      <p:sp>
        <p:nvSpPr>
          <p:cNvPr id="26" name="Text 24"/>
          <p:cNvSpPr/>
          <p:nvPr/>
        </p:nvSpPr>
        <p:spPr>
          <a:xfrm>
            <a:off x="9867900" y="4714875"/>
            <a:ext cx="2943225" cy="335235"/>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1950" b="1" dirty="0">
                <a:solidFill>
                  <a:srgbClr val="1E2430"/>
                </a:solidFill>
                <a:latin typeface="Courier New" pitchFamily="34" charset="0"/>
                <a:ea typeface="Courier New" pitchFamily="34" charset="-122"/>
                <a:cs typeface="Courier New" pitchFamily="34" charset="-120"/>
              </a:rPr>
              <a:t>Fe³⁺ + e⁻ → Fe</a:t>
            </a:r>
            <a:endParaRPr lang="en-US" sz="1950" dirty="0"/>
          </a:p>
        </p:txBody>
      </p:sp>
      <p:sp>
        <p:nvSpPr>
          <p:cNvPr id="27" name="Text 25"/>
          <p:cNvSpPr/>
          <p:nvPr/>
        </p:nvSpPr>
        <p:spPr>
          <a:xfrm>
            <a:off x="15954375" y="4714875"/>
            <a:ext cx="885825" cy="243780"/>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350" b="1" dirty="0">
                <a:solidFill>
                  <a:srgbClr val="C0432F"/>
                </a:solidFill>
                <a:latin typeface="Courier New" pitchFamily="34" charset="0"/>
                <a:ea typeface="Courier New" pitchFamily="34" charset="-122"/>
                <a:cs typeface="Courier New" pitchFamily="34" charset="-120"/>
              </a:rPr>
              <a:t>FLAGGED</a:t>
            </a:r>
            <a:endParaRPr lang="en-US" sz="1350" dirty="0"/>
          </a:p>
        </p:txBody>
      </p:sp>
      <p:sp>
        <p:nvSpPr>
          <p:cNvPr id="28" name="Shape 26"/>
          <p:cNvSpPr/>
          <p:nvPr/>
        </p:nvSpPr>
        <p:spPr>
          <a:xfrm>
            <a:off x="9705975" y="5305425"/>
            <a:ext cx="7143750" cy="571500"/>
          </a:xfrm>
          <a:prstGeom prst="roundRect">
            <a:avLst>
              <a:gd name="adj" fmla="val 6667"/>
            </a:avLst>
          </a:prstGeom>
          <a:solidFill>
            <a:srgbClr val="E6F0E8"/>
          </a:solidFill>
          <a:ln/>
        </p:spPr>
        <p:txBody>
          <a:bodyPr/>
          <a:lstStyle/>
          <a:p>
            <a:endParaRPr lang="en-US"/>
          </a:p>
        </p:txBody>
      </p:sp>
      <p:sp>
        <p:nvSpPr>
          <p:cNvPr id="29" name="Text 27"/>
          <p:cNvSpPr/>
          <p:nvPr/>
        </p:nvSpPr>
        <p:spPr>
          <a:xfrm>
            <a:off x="9858375" y="5438775"/>
            <a:ext cx="3139440" cy="335235"/>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1950" b="1" dirty="0">
                <a:solidFill>
                  <a:srgbClr val="1E2430"/>
                </a:solidFill>
                <a:latin typeface="Courier New" pitchFamily="34" charset="0"/>
                <a:ea typeface="Courier New" pitchFamily="34" charset="-122"/>
                <a:cs typeface="Courier New" pitchFamily="34" charset="-120"/>
              </a:rPr>
              <a:t>Fe³⁺ + 3e⁻ → Fe</a:t>
            </a:r>
            <a:endParaRPr lang="en-US" sz="1950" dirty="0"/>
          </a:p>
        </p:txBody>
      </p:sp>
      <p:sp>
        <p:nvSpPr>
          <p:cNvPr id="30" name="Text 28"/>
          <p:cNvSpPr/>
          <p:nvPr/>
        </p:nvSpPr>
        <p:spPr>
          <a:xfrm>
            <a:off x="15811500" y="5438775"/>
            <a:ext cx="1028700" cy="243780"/>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350" b="1" dirty="0">
                <a:solidFill>
                  <a:srgbClr val="3F7D53"/>
                </a:solidFill>
                <a:latin typeface="Courier New" pitchFamily="34" charset="0"/>
                <a:ea typeface="Courier New" pitchFamily="34" charset="-122"/>
                <a:cs typeface="Courier New" pitchFamily="34" charset="-120"/>
              </a:rPr>
              <a:t>BALANCED</a:t>
            </a:r>
            <a:endParaRPr lang="en-US" sz="1350" dirty="0"/>
          </a:p>
        </p:txBody>
      </p:sp>
      <p:sp>
        <p:nvSpPr>
          <p:cNvPr id="31" name="Text 29"/>
          <p:cNvSpPr/>
          <p:nvPr/>
        </p:nvSpPr>
        <p:spPr>
          <a:xfrm>
            <a:off x="9705975" y="6096000"/>
            <a:ext cx="8093869" cy="366713"/>
          </a:xfrm>
          <a:prstGeom prst="rect">
            <a:avLst/>
          </a:prstGeom>
          <a:noFill/>
          <a:ln/>
        </p:spPr>
        <p:txBody>
          <a:bodyPr wrap="square" lIns="25400" tIns="25400" rIns="25400" bIns="25400" rtlCol="0" anchor="t">
            <a:normAutofit/>
          </a:bodyPr>
          <a:lstStyle/>
          <a:p>
            <a:pPr marL="0" indent="0" algn="l">
              <a:lnSpc>
                <a:spcPct val="129730"/>
              </a:lnSpc>
              <a:buNone/>
            </a:pPr>
            <a:r>
              <a:rPr lang="en-US" sz="1725" dirty="0">
                <a:solidFill>
                  <a:srgbClr val="45505D"/>
                </a:solidFill>
                <a:latin typeface="Arial" pitchFamily="34" charset="0"/>
                <a:ea typeface="Arial" pitchFamily="34" charset="-122"/>
                <a:cs typeface="Arial" pitchFamily="34" charset="-120"/>
              </a:rPr>
              <a:t>Hint: add up the charge on each side before you move on.</a:t>
            </a:r>
            <a:endParaRPr lang="en-US" sz="1725" dirty="0"/>
          </a:p>
        </p:txBody>
      </p:sp>
      <p:sp>
        <p:nvSpPr>
          <p:cNvPr id="32" name="Text 30"/>
          <p:cNvSpPr/>
          <p:nvPr/>
        </p:nvSpPr>
        <p:spPr>
          <a:xfrm>
            <a:off x="1047750" y="8334375"/>
            <a:ext cx="16678275" cy="758130"/>
          </a:xfrm>
          <a:prstGeom prst="rect">
            <a:avLst/>
          </a:prstGeom>
          <a:noFill/>
          <a:ln/>
        </p:spPr>
        <p:txBody>
          <a:bodyPr wrap="square" lIns="25400" tIns="25400" rIns="25400" bIns="25400" rtlCol="0" anchor="t">
            <a:normAutofit lnSpcReduction="10000"/>
          </a:bodyPr>
          <a:lstStyle/>
          <a:p>
            <a:pPr marL="0" indent="0" algn="l">
              <a:lnSpc>
                <a:spcPct val="121081"/>
              </a:lnSpc>
              <a:buNone/>
            </a:pPr>
            <a:r>
              <a:rPr lang="en-US" sz="2025" dirty="0">
                <a:solidFill>
                  <a:srgbClr val="1E2430"/>
                </a:solidFill>
                <a:latin typeface="Arial" pitchFamily="34" charset="0"/>
                <a:ea typeface="Arial" pitchFamily="34" charset="-122"/>
                <a:cs typeface="Arial" pitchFamily="34" charset="-120"/>
              </a:rPr>
              <a:t>Hand-drawn molecule recognition is an open research problem. Scope: a narrow, rehearsed set of structures. RDKit for the verdict, a vision model for recognition.</a:t>
            </a:r>
            <a:endParaRPr lang="en-US" sz="20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1047750" y="533400"/>
            <a:ext cx="144780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verity.ai</a:t>
            </a:r>
            <a:endParaRPr lang="en-US" sz="1650" dirty="0"/>
          </a:p>
        </p:txBody>
      </p:sp>
      <p:sp>
        <p:nvSpPr>
          <p:cNvPr id="3" name="Text 1"/>
          <p:cNvSpPr/>
          <p:nvPr/>
        </p:nvSpPr>
        <p:spPr>
          <a:xfrm>
            <a:off x="16687800" y="533400"/>
            <a:ext cx="70485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SAIL</a:t>
            </a:r>
            <a:endParaRPr lang="en-US" sz="1650" dirty="0"/>
          </a:p>
        </p:txBody>
      </p:sp>
      <p:sp>
        <p:nvSpPr>
          <p:cNvPr id="4" name="Text 2"/>
          <p:cNvSpPr/>
          <p:nvPr/>
        </p:nvSpPr>
        <p:spPr>
          <a:xfrm>
            <a:off x="1047750" y="857250"/>
            <a:ext cx="19592925" cy="266700"/>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500" b="1" dirty="0">
                <a:solidFill>
                  <a:srgbClr val="2E5AAC"/>
                </a:solidFill>
                <a:latin typeface="Courier New" pitchFamily="34" charset="0"/>
                <a:ea typeface="Courier New" pitchFamily="34" charset="-122"/>
                <a:cs typeface="Courier New" pitchFamily="34" charset="-120"/>
              </a:rPr>
              <a:t>DEMO</a:t>
            </a:r>
            <a:endParaRPr lang="en-US" sz="1500" dirty="0"/>
          </a:p>
        </p:txBody>
      </p:sp>
      <p:sp>
        <p:nvSpPr>
          <p:cNvPr id="5" name="Text 3"/>
          <p:cNvSpPr/>
          <p:nvPr/>
        </p:nvSpPr>
        <p:spPr>
          <a:xfrm>
            <a:off x="1047750" y="1295400"/>
            <a:ext cx="18346103" cy="632445"/>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3900" b="1" dirty="0">
                <a:solidFill>
                  <a:srgbClr val="1E2430"/>
                </a:solidFill>
                <a:latin typeface="Arial" pitchFamily="34" charset="0"/>
                <a:ea typeface="Arial" pitchFamily="34" charset="-122"/>
                <a:cs typeface="Arial" pitchFamily="34" charset="-120"/>
              </a:rPr>
              <a:t>The whole loop in under two minutes</a:t>
            </a:r>
            <a:endParaRPr lang="en-US" sz="3900" dirty="0"/>
          </a:p>
        </p:txBody>
      </p:sp>
      <p:sp>
        <p:nvSpPr>
          <p:cNvPr id="6" name="Shape 4"/>
          <p:cNvSpPr/>
          <p:nvPr/>
        </p:nvSpPr>
        <p:spPr>
          <a:xfrm>
            <a:off x="1047750" y="2286000"/>
            <a:ext cx="9353550" cy="9525"/>
          </a:xfrm>
          <a:prstGeom prst="rect">
            <a:avLst/>
          </a:prstGeom>
          <a:solidFill>
            <a:srgbClr val="D8D2C2"/>
          </a:solidFill>
          <a:ln/>
        </p:spPr>
        <p:txBody>
          <a:bodyPr/>
          <a:lstStyle/>
          <a:p>
            <a:endParaRPr lang="en-US"/>
          </a:p>
        </p:txBody>
      </p:sp>
      <p:sp>
        <p:nvSpPr>
          <p:cNvPr id="7" name="Text 5"/>
          <p:cNvSpPr/>
          <p:nvPr/>
        </p:nvSpPr>
        <p:spPr>
          <a:xfrm>
            <a:off x="1047750" y="2524125"/>
            <a:ext cx="314325" cy="35808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100" dirty="0">
                <a:solidFill>
                  <a:srgbClr val="2E5AAC"/>
                </a:solidFill>
                <a:latin typeface="Courier New" pitchFamily="34" charset="0"/>
                <a:ea typeface="Courier New" pitchFamily="34" charset="-122"/>
                <a:cs typeface="Courier New" pitchFamily="34" charset="-120"/>
              </a:rPr>
              <a:t>1</a:t>
            </a:r>
            <a:endParaRPr lang="en-US" sz="2100" dirty="0"/>
          </a:p>
        </p:txBody>
      </p:sp>
      <p:sp>
        <p:nvSpPr>
          <p:cNvPr id="8" name="Text 6"/>
          <p:cNvSpPr/>
          <p:nvPr/>
        </p:nvSpPr>
        <p:spPr>
          <a:xfrm>
            <a:off x="1438275" y="2543175"/>
            <a:ext cx="9506617" cy="620911"/>
          </a:xfrm>
          <a:prstGeom prst="rect">
            <a:avLst/>
          </a:prstGeom>
          <a:noFill/>
          <a:ln/>
        </p:spPr>
        <p:txBody>
          <a:bodyPr wrap="square" lIns="25400" tIns="25400" rIns="25400" bIns="25400" rtlCol="0" anchor="t">
            <a:normAutofit/>
          </a:bodyPr>
          <a:lstStyle/>
          <a:p>
            <a:pPr marL="0" indent="0" algn="l">
              <a:lnSpc>
                <a:spcPct val="103784"/>
              </a:lnSpc>
              <a:buNone/>
            </a:pPr>
            <a:r>
              <a:rPr lang="en-US" sz="2100" b="1" dirty="0">
                <a:solidFill>
                  <a:srgbClr val="1E2430"/>
                </a:solidFill>
                <a:latin typeface="Arial" pitchFamily="34" charset="0"/>
                <a:ea typeface="Arial" pitchFamily="34" charset="-122"/>
                <a:cs typeface="Arial" pitchFamily="34" charset="-120"/>
              </a:rPr>
              <a:t>Write the problem: </a:t>
            </a:r>
            <a:r>
              <a:rPr lang="en-US" sz="1725" dirty="0">
                <a:solidFill>
                  <a:srgbClr val="5B6472"/>
                </a:solidFill>
                <a:latin typeface="Arial" pitchFamily="34" charset="0"/>
                <a:ea typeface="Arial" pitchFamily="34" charset="-122"/>
                <a:cs typeface="Arial" pitchFamily="34" charset="-120"/>
              </a:rPr>
              <a:t>the first row on the sheet sets what everything else is checked against.</a:t>
            </a:r>
            <a:endParaRPr lang="en-US" sz="1200" dirty="0"/>
          </a:p>
        </p:txBody>
      </p:sp>
      <p:sp>
        <p:nvSpPr>
          <p:cNvPr id="9" name="Shape 7"/>
          <p:cNvSpPr/>
          <p:nvPr/>
        </p:nvSpPr>
        <p:spPr>
          <a:xfrm>
            <a:off x="1047750" y="3343275"/>
            <a:ext cx="9353550" cy="9525"/>
          </a:xfrm>
          <a:prstGeom prst="rect">
            <a:avLst/>
          </a:prstGeom>
          <a:solidFill>
            <a:srgbClr val="D8D2C2"/>
          </a:solidFill>
          <a:ln/>
        </p:spPr>
        <p:txBody>
          <a:bodyPr/>
          <a:lstStyle/>
          <a:p>
            <a:endParaRPr lang="en-US"/>
          </a:p>
        </p:txBody>
      </p:sp>
      <p:sp>
        <p:nvSpPr>
          <p:cNvPr id="10" name="Text 8"/>
          <p:cNvSpPr/>
          <p:nvPr/>
        </p:nvSpPr>
        <p:spPr>
          <a:xfrm>
            <a:off x="1047750" y="3581400"/>
            <a:ext cx="314325" cy="35808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100" dirty="0">
                <a:solidFill>
                  <a:srgbClr val="2E5AAC"/>
                </a:solidFill>
                <a:latin typeface="Courier New" pitchFamily="34" charset="0"/>
                <a:ea typeface="Courier New" pitchFamily="34" charset="-122"/>
                <a:cs typeface="Courier New" pitchFamily="34" charset="-120"/>
              </a:rPr>
              <a:t>2</a:t>
            </a:r>
            <a:endParaRPr lang="en-US" sz="2100" dirty="0"/>
          </a:p>
        </p:txBody>
      </p:sp>
      <p:sp>
        <p:nvSpPr>
          <p:cNvPr id="11" name="Text 9"/>
          <p:cNvSpPr/>
          <p:nvPr/>
        </p:nvSpPr>
        <p:spPr>
          <a:xfrm>
            <a:off x="1438275" y="3600450"/>
            <a:ext cx="7868221" cy="35808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100" b="1" dirty="0">
                <a:solidFill>
                  <a:srgbClr val="1E2430"/>
                </a:solidFill>
                <a:latin typeface="Arial" pitchFamily="34" charset="0"/>
                <a:ea typeface="Arial" pitchFamily="34" charset="-122"/>
                <a:cs typeface="Arial" pitchFamily="34" charset="-120"/>
              </a:rPr>
              <a:t>Write a correct step:</a:t>
            </a:r>
            <a:r>
              <a:rPr lang="en-US" sz="1725" dirty="0">
                <a:solidFill>
                  <a:srgbClr val="5B6472"/>
                </a:solidFill>
                <a:latin typeface="Arial" pitchFamily="34" charset="0"/>
                <a:ea typeface="Arial" pitchFamily="34" charset="-122"/>
                <a:cs typeface="Arial" pitchFamily="34" charset="-120"/>
              </a:rPr>
              <a:t>it transcribes on pen lift and comes back green.</a:t>
            </a:r>
            <a:endParaRPr lang="en-US" sz="1200" dirty="0"/>
          </a:p>
        </p:txBody>
      </p:sp>
      <p:sp>
        <p:nvSpPr>
          <p:cNvPr id="12" name="Shape 10"/>
          <p:cNvSpPr/>
          <p:nvPr/>
        </p:nvSpPr>
        <p:spPr>
          <a:xfrm>
            <a:off x="1047750" y="4143375"/>
            <a:ext cx="9353550" cy="9525"/>
          </a:xfrm>
          <a:prstGeom prst="rect">
            <a:avLst/>
          </a:prstGeom>
          <a:solidFill>
            <a:srgbClr val="D8D2C2"/>
          </a:solidFill>
          <a:ln/>
        </p:spPr>
        <p:txBody>
          <a:bodyPr/>
          <a:lstStyle/>
          <a:p>
            <a:endParaRPr lang="en-US"/>
          </a:p>
        </p:txBody>
      </p:sp>
      <p:sp>
        <p:nvSpPr>
          <p:cNvPr id="13" name="Text 11"/>
          <p:cNvSpPr/>
          <p:nvPr/>
        </p:nvSpPr>
        <p:spPr>
          <a:xfrm>
            <a:off x="1047750" y="4391025"/>
            <a:ext cx="314325" cy="35808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100" dirty="0">
                <a:solidFill>
                  <a:srgbClr val="2E5AAC"/>
                </a:solidFill>
                <a:latin typeface="Courier New" pitchFamily="34" charset="0"/>
                <a:ea typeface="Courier New" pitchFamily="34" charset="-122"/>
                <a:cs typeface="Courier New" pitchFamily="34" charset="-120"/>
              </a:rPr>
              <a:t>3</a:t>
            </a:r>
            <a:endParaRPr lang="en-US" sz="2100" dirty="0"/>
          </a:p>
        </p:txBody>
      </p:sp>
      <p:sp>
        <p:nvSpPr>
          <p:cNvPr id="14" name="Text 12"/>
          <p:cNvSpPr/>
          <p:nvPr/>
        </p:nvSpPr>
        <p:spPr>
          <a:xfrm>
            <a:off x="1438275" y="4410075"/>
            <a:ext cx="8770811" cy="35808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100" b="1" dirty="0">
                <a:solidFill>
                  <a:srgbClr val="1E2430"/>
                </a:solidFill>
                <a:latin typeface="Arial" pitchFamily="34" charset="0"/>
                <a:ea typeface="Arial" pitchFamily="34" charset="-122"/>
                <a:cs typeface="Arial" pitchFamily="34" charset="-120"/>
              </a:rPr>
              <a:t>Write one mistake:</a:t>
            </a:r>
            <a:r>
              <a:rPr lang="en-US" sz="1725" dirty="0">
                <a:solidFill>
                  <a:srgbClr val="5B6472"/>
                </a:solidFill>
                <a:latin typeface="Arial" pitchFamily="34" charset="0"/>
                <a:ea typeface="Arial" pitchFamily="34" charset="-122"/>
                <a:cs typeface="Arial" pitchFamily="34" charset="-120"/>
              </a:rPr>
              <a:t>that row underlines itself; nothing else on the page moves.</a:t>
            </a:r>
            <a:endParaRPr lang="en-US" sz="1200" dirty="0"/>
          </a:p>
        </p:txBody>
      </p:sp>
      <p:sp>
        <p:nvSpPr>
          <p:cNvPr id="15" name="Shape 13"/>
          <p:cNvSpPr/>
          <p:nvPr/>
        </p:nvSpPr>
        <p:spPr>
          <a:xfrm>
            <a:off x="1047750" y="5772150"/>
            <a:ext cx="9353550" cy="9525"/>
          </a:xfrm>
          <a:prstGeom prst="rect">
            <a:avLst/>
          </a:prstGeom>
          <a:solidFill>
            <a:srgbClr val="D8D2C2"/>
          </a:solidFill>
          <a:ln/>
        </p:spPr>
        <p:txBody>
          <a:bodyPr/>
          <a:lstStyle/>
          <a:p>
            <a:endParaRPr lang="en-US"/>
          </a:p>
        </p:txBody>
      </p:sp>
      <p:sp>
        <p:nvSpPr>
          <p:cNvPr id="16" name="Shape 14"/>
          <p:cNvSpPr/>
          <p:nvPr/>
        </p:nvSpPr>
        <p:spPr>
          <a:xfrm>
            <a:off x="1047750" y="4962525"/>
            <a:ext cx="9353550" cy="9525"/>
          </a:xfrm>
          <a:prstGeom prst="rect">
            <a:avLst/>
          </a:prstGeom>
          <a:solidFill>
            <a:srgbClr val="D8D2C2"/>
          </a:solidFill>
          <a:ln/>
        </p:spPr>
        <p:txBody>
          <a:bodyPr/>
          <a:lstStyle/>
          <a:p>
            <a:endParaRPr lang="en-US"/>
          </a:p>
        </p:txBody>
      </p:sp>
      <p:sp>
        <p:nvSpPr>
          <p:cNvPr id="17" name="Text 15"/>
          <p:cNvSpPr/>
          <p:nvPr/>
        </p:nvSpPr>
        <p:spPr>
          <a:xfrm>
            <a:off x="1047750" y="5200650"/>
            <a:ext cx="314325" cy="35808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100" dirty="0">
                <a:solidFill>
                  <a:srgbClr val="2E5AAC"/>
                </a:solidFill>
                <a:latin typeface="Courier New" pitchFamily="34" charset="0"/>
                <a:ea typeface="Courier New" pitchFamily="34" charset="-122"/>
                <a:cs typeface="Courier New" pitchFamily="34" charset="-120"/>
              </a:rPr>
              <a:t>4</a:t>
            </a:r>
            <a:endParaRPr lang="en-US" sz="2100" dirty="0"/>
          </a:p>
        </p:txBody>
      </p:sp>
      <p:sp>
        <p:nvSpPr>
          <p:cNvPr id="18" name="Text 16"/>
          <p:cNvSpPr/>
          <p:nvPr/>
        </p:nvSpPr>
        <p:spPr>
          <a:xfrm>
            <a:off x="1438275" y="5219700"/>
            <a:ext cx="7701439" cy="358080"/>
          </a:xfrm>
          <a:prstGeom prst="rect">
            <a:avLst/>
          </a:prstGeom>
          <a:noFill/>
          <a:ln/>
        </p:spPr>
        <p:txBody>
          <a:bodyPr wrap="square" lIns="25400" tIns="25400" rIns="25400" bIns="25400" rtlCol="0" anchor="t">
            <a:normAutofit lnSpcReduction="10000"/>
          </a:bodyPr>
          <a:lstStyle/>
          <a:p>
            <a:pPr marL="0" indent="0" algn="l">
              <a:lnSpc>
                <a:spcPct val="103784"/>
              </a:lnSpc>
              <a:buNone/>
            </a:pPr>
            <a:r>
              <a:rPr lang="en-US" sz="2100" b="1" dirty="0">
                <a:solidFill>
                  <a:srgbClr val="1E2430"/>
                </a:solidFill>
                <a:latin typeface="Arial" pitchFamily="34" charset="0"/>
                <a:ea typeface="Arial" pitchFamily="34" charset="-122"/>
                <a:cs typeface="Arial" pitchFamily="34" charset="-120"/>
              </a:rPr>
              <a:t>Climb the hint ladder:</a:t>
            </a:r>
            <a:r>
              <a:rPr lang="en-US" sz="1725" dirty="0">
                <a:solidFill>
                  <a:srgbClr val="5B6472"/>
                </a:solidFill>
                <a:latin typeface="Arial" pitchFamily="34" charset="0"/>
                <a:ea typeface="Arial" pitchFamily="34" charset="-122"/>
                <a:cs typeface="Arial" pitchFamily="34" charset="-120"/>
              </a:rPr>
              <a:t>three levels, and the answer never appears.</a:t>
            </a:r>
            <a:endParaRPr lang="en-US" sz="1200" dirty="0"/>
          </a:p>
        </p:txBody>
      </p:sp>
      <p:sp>
        <p:nvSpPr>
          <p:cNvPr id="19" name="Text 17"/>
          <p:cNvSpPr/>
          <p:nvPr/>
        </p:nvSpPr>
        <p:spPr>
          <a:xfrm>
            <a:off x="1047750" y="6048375"/>
            <a:ext cx="10595610" cy="289545"/>
          </a:xfrm>
          <a:prstGeom prst="rect">
            <a:avLst/>
          </a:prstGeom>
          <a:noFill/>
          <a:ln/>
        </p:spPr>
        <p:txBody>
          <a:bodyPr wrap="square" lIns="25400" tIns="25400" rIns="25400" bIns="25400" rtlCol="0" anchor="t">
            <a:normAutofit fontScale="92500"/>
          </a:bodyPr>
          <a:lstStyle/>
          <a:p>
            <a:pPr marL="0" indent="0" algn="l">
              <a:lnSpc>
                <a:spcPct val="103784"/>
              </a:lnSpc>
              <a:buNone/>
            </a:pPr>
            <a:r>
              <a:rPr lang="en-US" sz="1650" dirty="0">
                <a:solidFill>
                  <a:srgbClr val="5B6472"/>
                </a:solidFill>
                <a:latin typeface="Courier New" pitchFamily="34" charset="0"/>
                <a:ea typeface="Courier New" pitchFamily="34" charset="-122"/>
                <a:cs typeface="Courier New" pitchFamily="34" charset="-120"/>
              </a:rPr>
              <a:t>Rehearsed problem: 2x + 3 = 11 → 2x = 8 → x = 5</a:t>
            </a:r>
            <a:endParaRPr lang="en-US" sz="1650" dirty="0"/>
          </a:p>
        </p:txBody>
      </p:sp>
      <p:sp>
        <p:nvSpPr>
          <p:cNvPr id="20" name="Shape 18"/>
          <p:cNvSpPr/>
          <p:nvPr/>
        </p:nvSpPr>
        <p:spPr>
          <a:xfrm>
            <a:off x="11010900" y="2286000"/>
            <a:ext cx="6248400" cy="1609725"/>
          </a:xfrm>
          <a:prstGeom prst="roundRect">
            <a:avLst>
              <a:gd name="adj" fmla="val 2367"/>
            </a:avLst>
          </a:prstGeom>
          <a:solidFill>
            <a:srgbClr val="FFFFFF"/>
          </a:solidFill>
          <a:ln w="9525">
            <a:solidFill>
              <a:srgbClr val="D8D2C2"/>
            </a:solidFill>
            <a:prstDash val="solid"/>
          </a:ln>
        </p:spPr>
        <p:txBody>
          <a:bodyPr/>
          <a:lstStyle/>
          <a:p>
            <a:endParaRPr lang="en-US"/>
          </a:p>
        </p:txBody>
      </p:sp>
      <p:sp>
        <p:nvSpPr>
          <p:cNvPr id="21" name="Text 19"/>
          <p:cNvSpPr/>
          <p:nvPr/>
        </p:nvSpPr>
        <p:spPr>
          <a:xfrm>
            <a:off x="11344275" y="2581275"/>
            <a:ext cx="6737033" cy="266700"/>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500" dirty="0">
                <a:solidFill>
                  <a:srgbClr val="5B6472"/>
                </a:solidFill>
                <a:latin typeface="Courier New" pitchFamily="34" charset="0"/>
                <a:ea typeface="Courier New" pitchFamily="34" charset="-122"/>
                <a:cs typeface="Courier New" pitchFamily="34" charset="-120"/>
              </a:rPr>
              <a:t>IF TRANSCRIPTION MISREADS</a:t>
            </a:r>
            <a:endParaRPr lang="en-US" sz="1500" dirty="0"/>
          </a:p>
        </p:txBody>
      </p:sp>
      <p:sp>
        <p:nvSpPr>
          <p:cNvPr id="22" name="Text 20"/>
          <p:cNvSpPr/>
          <p:nvPr/>
        </p:nvSpPr>
        <p:spPr>
          <a:xfrm>
            <a:off x="11344275" y="2943225"/>
            <a:ext cx="5906072" cy="686544"/>
          </a:xfrm>
          <a:prstGeom prst="rect">
            <a:avLst/>
          </a:prstGeom>
          <a:noFill/>
          <a:ln/>
        </p:spPr>
        <p:txBody>
          <a:bodyPr wrap="square" lIns="25400" tIns="25400" rIns="25400" bIns="25400" rtlCol="0" anchor="t">
            <a:normAutofit lnSpcReduction="10000"/>
          </a:bodyPr>
          <a:lstStyle/>
          <a:p>
            <a:pPr marL="0" indent="0" algn="l">
              <a:lnSpc>
                <a:spcPct val="128000"/>
              </a:lnSpc>
              <a:buNone/>
            </a:pPr>
            <a:r>
              <a:rPr lang="en-US" sz="1725" dirty="0">
                <a:solidFill>
                  <a:srgbClr val="1E2430"/>
                </a:solidFill>
                <a:latin typeface="Arial" pitchFamily="34" charset="0"/>
                <a:ea typeface="Arial" pitchFamily="34" charset="-122"/>
                <a:cs typeface="Arial" pitchFamily="34" charset="-120"/>
              </a:rPr>
              <a:t>Type the correction in the side panel and keep talking. The checker re-runs instantly and costs nothing.</a:t>
            </a:r>
            <a:endParaRPr lang="en-US" sz="1725" dirty="0"/>
          </a:p>
        </p:txBody>
      </p:sp>
      <p:sp>
        <p:nvSpPr>
          <p:cNvPr id="23" name="Shape 21"/>
          <p:cNvSpPr/>
          <p:nvPr/>
        </p:nvSpPr>
        <p:spPr>
          <a:xfrm>
            <a:off x="11010900" y="4076700"/>
            <a:ext cx="6248400" cy="1609725"/>
          </a:xfrm>
          <a:prstGeom prst="roundRect">
            <a:avLst>
              <a:gd name="adj" fmla="val 2367"/>
            </a:avLst>
          </a:prstGeom>
          <a:solidFill>
            <a:srgbClr val="F7E6E2"/>
          </a:solidFill>
          <a:ln w="9525">
            <a:solidFill>
              <a:srgbClr val="C0432F"/>
            </a:solidFill>
            <a:prstDash val="solid"/>
          </a:ln>
        </p:spPr>
        <p:txBody>
          <a:bodyPr/>
          <a:lstStyle/>
          <a:p>
            <a:endParaRPr lang="en-US"/>
          </a:p>
        </p:txBody>
      </p:sp>
      <p:sp>
        <p:nvSpPr>
          <p:cNvPr id="24" name="Text 22"/>
          <p:cNvSpPr/>
          <p:nvPr/>
        </p:nvSpPr>
        <p:spPr>
          <a:xfrm>
            <a:off x="11344275" y="4371975"/>
            <a:ext cx="6737033" cy="266700"/>
          </a:xfrm>
          <a:prstGeom prst="rect">
            <a:avLst/>
          </a:prstGeom>
          <a:noFill/>
          <a:ln/>
        </p:spPr>
        <p:txBody>
          <a:bodyPr wrap="square" lIns="25400" tIns="25400" rIns="25400" bIns="25400" rtlCol="0" anchor="t">
            <a:normAutofit fontScale="92500" lnSpcReduction="10000"/>
          </a:bodyPr>
          <a:lstStyle/>
          <a:p>
            <a:pPr marL="0" indent="0" algn="l">
              <a:lnSpc>
                <a:spcPct val="103784"/>
              </a:lnSpc>
              <a:buNone/>
            </a:pPr>
            <a:r>
              <a:rPr lang="en-US" sz="1500" b="1" dirty="0">
                <a:solidFill>
                  <a:srgbClr val="C0432F"/>
                </a:solidFill>
                <a:latin typeface="Courier New" pitchFamily="34" charset="0"/>
                <a:ea typeface="Courier New" pitchFamily="34" charset="-122"/>
                <a:cs typeface="Courier New" pitchFamily="34" charset="-120"/>
              </a:rPr>
              <a:t>IF THE NETWORK FAILS</a:t>
            </a:r>
            <a:endParaRPr lang="en-US" sz="1500" dirty="0"/>
          </a:p>
        </p:txBody>
      </p:sp>
      <p:sp>
        <p:nvSpPr>
          <p:cNvPr id="25" name="Text 23"/>
          <p:cNvSpPr/>
          <p:nvPr/>
        </p:nvSpPr>
        <p:spPr>
          <a:xfrm>
            <a:off x="11344275" y="4733925"/>
            <a:ext cx="5906072" cy="686544"/>
          </a:xfrm>
          <a:prstGeom prst="rect">
            <a:avLst/>
          </a:prstGeom>
          <a:noFill/>
          <a:ln/>
        </p:spPr>
        <p:txBody>
          <a:bodyPr wrap="square" lIns="25400" tIns="25400" rIns="25400" bIns="25400" rtlCol="0" anchor="t">
            <a:normAutofit lnSpcReduction="10000"/>
          </a:bodyPr>
          <a:lstStyle/>
          <a:p>
            <a:pPr marL="0" indent="0" algn="l">
              <a:lnSpc>
                <a:spcPct val="128000"/>
              </a:lnSpc>
              <a:buNone/>
            </a:pPr>
            <a:r>
              <a:rPr lang="en-US" sz="1725" dirty="0">
                <a:solidFill>
                  <a:srgbClr val="1E2430"/>
                </a:solidFill>
                <a:latin typeface="Arial" pitchFamily="34" charset="0"/>
                <a:ea typeface="Arial" pitchFamily="34" charset="-122"/>
                <a:cs typeface="Arial" pitchFamily="34" charset="-120"/>
              </a:rPr>
              <a:t>Switch to the recorded clip and saved screenshots. Stay inside rehearsed algebra either way.</a:t>
            </a:r>
            <a:endParaRPr lang="en-US" sz="1725" dirty="0"/>
          </a:p>
        </p:txBody>
      </p:sp>
      <p:sp>
        <p:nvSpPr>
          <p:cNvPr id="26" name="Shape 24"/>
          <p:cNvSpPr/>
          <p:nvPr/>
        </p:nvSpPr>
        <p:spPr>
          <a:xfrm>
            <a:off x="11010900" y="8001000"/>
            <a:ext cx="6229350" cy="1524000"/>
          </a:xfrm>
          <a:prstGeom prst="roundRect">
            <a:avLst>
              <a:gd name="adj" fmla="val 2500"/>
            </a:avLst>
          </a:prstGeom>
          <a:solidFill>
            <a:srgbClr val="1E2430"/>
          </a:solidFill>
          <a:ln/>
        </p:spPr>
        <p:txBody>
          <a:bodyPr/>
          <a:lstStyle/>
          <a:p>
            <a:endParaRPr lang="en-US"/>
          </a:p>
        </p:txBody>
      </p:sp>
      <p:sp>
        <p:nvSpPr>
          <p:cNvPr id="27" name="Text 25"/>
          <p:cNvSpPr/>
          <p:nvPr/>
        </p:nvSpPr>
        <p:spPr>
          <a:xfrm>
            <a:off x="11334750" y="8286750"/>
            <a:ext cx="5945315" cy="1010766"/>
          </a:xfrm>
          <a:prstGeom prst="rect">
            <a:avLst/>
          </a:prstGeom>
          <a:noFill/>
          <a:ln/>
        </p:spPr>
        <p:txBody>
          <a:bodyPr wrap="square" lIns="25400" tIns="25400" rIns="25400" bIns="25400" rtlCol="0" anchor="t">
            <a:normAutofit lnSpcReduction="10000"/>
          </a:bodyPr>
          <a:lstStyle/>
          <a:p>
            <a:pPr marL="0" indent="0" algn="l">
              <a:lnSpc>
                <a:spcPct val="128000"/>
              </a:lnSpc>
              <a:buNone/>
            </a:pPr>
            <a:r>
              <a:rPr lang="en-US" sz="1725" dirty="0">
                <a:solidFill>
                  <a:srgbClr val="F7F4EE"/>
                </a:solidFill>
                <a:latin typeface="Arial" pitchFamily="34" charset="0"/>
                <a:ea typeface="Arial" pitchFamily="34" charset="-122"/>
                <a:cs typeface="Arial" pitchFamily="34" charset="-120"/>
              </a:rPr>
              <a:t>Editable transcription is a product decision, not a patch. Handwriting recognition will always miss sometimes, and a student should be able to fix it in one tap.</a:t>
            </a:r>
            <a:endParaRPr lang="en-US" sz="17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TotalTime>
  <Words>2079</Words>
  <Application>Microsoft Office PowerPoint</Application>
  <PresentationFormat>Custom</PresentationFormat>
  <Paragraphs>251</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Akshit GANESH KUMAR</cp:lastModifiedBy>
  <cp:revision>8</cp:revision>
  <dcterms:created xsi:type="dcterms:W3CDTF">2026-07-30T02:42:52Z</dcterms:created>
  <dcterms:modified xsi:type="dcterms:W3CDTF">2026-08-06T01:12:53Z</dcterms:modified>
</cp:coreProperties>
</file>